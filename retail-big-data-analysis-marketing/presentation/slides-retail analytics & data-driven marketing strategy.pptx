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10287000" cx="18288000"/>
  <p:notesSz cx="6858000" cy="9144000"/>
  <p:embeddedFontLs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g3CnbX2ITovv4mEjiP1Ayyf/AX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2B6DD9-06C9-47CB-A7B3-0F92CF147B39}">
  <a:tblStyle styleId="{4C2B6DD9-06C9-47CB-A7B3-0F92CF147B3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OpenSans-bold.fntdata"/><Relationship Id="rId21" Type="http://schemas.openxmlformats.org/officeDocument/2006/relationships/slide" Target="slides/slide15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8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5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Relationship Id="rId10" Type="http://schemas.openxmlformats.org/officeDocument/2006/relationships/image" Target="../media/image22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image" Target="../media/image4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Relationship Id="rId4" Type="http://schemas.openxmlformats.org/officeDocument/2006/relationships/image" Target="../media/image36.png"/><Relationship Id="rId5" Type="http://schemas.openxmlformats.org/officeDocument/2006/relationships/image" Target="../media/image40.png"/><Relationship Id="rId6" Type="http://schemas.openxmlformats.org/officeDocument/2006/relationships/image" Target="../media/image37.png"/><Relationship Id="rId7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028700" y="557804"/>
            <a:ext cx="2894104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TONY”S CO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4178001" y="557804"/>
            <a:ext cx="3762011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Analysis &amp; Marketing Strategies 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1275032" y="1028700"/>
            <a:ext cx="7283422" cy="6171470"/>
          </a:xfrm>
          <a:custGeom>
            <a:rect b="b" l="l" r="r" t="t"/>
            <a:pathLst>
              <a:path extrusionOk="0" h="6171470" w="7283422">
                <a:moveTo>
                  <a:pt x="0" y="0"/>
                </a:moveTo>
                <a:lnTo>
                  <a:pt x="7283422" y="0"/>
                </a:lnTo>
                <a:lnTo>
                  <a:pt x="7283422" y="6171470"/>
                </a:lnTo>
                <a:lnTo>
                  <a:pt x="0" y="6171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006" l="0" r="0" t="-9006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4552623" y="5581146"/>
            <a:ext cx="11217673" cy="1619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49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Q4 季度分析報告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111153" y="7439182"/>
            <a:ext cx="8766637" cy="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25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數據分析人員：周家弘、侯至恩、黃鈺詞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0" l="0" r="0" t="-9331"/>
            </a:stretch>
          </a:blipFill>
          <a:ln>
            <a:noFill/>
          </a:ln>
        </p:spPr>
      </p:sp>
      <p:grpSp>
        <p:nvGrpSpPr>
          <p:cNvPr id="94" name="Google Shape;94;p2"/>
          <p:cNvGrpSpPr/>
          <p:nvPr/>
        </p:nvGrpSpPr>
        <p:grpSpPr>
          <a:xfrm>
            <a:off x="-255207" y="920204"/>
            <a:ext cx="21580669" cy="8338096"/>
            <a:chOff x="0" y="-28575"/>
            <a:chExt cx="5683798" cy="2196042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5683798" cy="2167467"/>
            </a:xfrm>
            <a:custGeom>
              <a:rect b="b" l="l" r="r" t="t"/>
              <a:pathLst>
                <a:path extrusionOk="0" h="2167467" w="5683798">
                  <a:moveTo>
                    <a:pt x="0" y="0"/>
                  </a:moveTo>
                  <a:lnTo>
                    <a:pt x="5683798" y="0"/>
                  </a:lnTo>
                  <a:lnTo>
                    <a:pt x="5683798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28575"/>
              <a:ext cx="5683798" cy="21960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5094190" y="-190660"/>
            <a:ext cx="7283422" cy="6171470"/>
          </a:xfrm>
          <a:custGeom>
            <a:rect b="b" l="l" r="r" t="t"/>
            <a:pathLst>
              <a:path extrusionOk="0" h="6171470" w="7283422">
                <a:moveTo>
                  <a:pt x="0" y="0"/>
                </a:moveTo>
                <a:lnTo>
                  <a:pt x="7283422" y="0"/>
                </a:lnTo>
                <a:lnTo>
                  <a:pt x="7283422" y="6171470"/>
                </a:lnTo>
                <a:lnTo>
                  <a:pt x="0" y="6171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006" l="0" r="0" t="-9006"/>
            </a:stretch>
          </a:blip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>
            <a:off x="5564422" y="5673599"/>
            <a:ext cx="6342958" cy="1585740"/>
          </a:xfrm>
          <a:custGeom>
            <a:rect b="b" l="l" r="r" t="t"/>
            <a:pathLst>
              <a:path extrusionOk="0" h="1585740" w="6342958">
                <a:moveTo>
                  <a:pt x="0" y="0"/>
                </a:moveTo>
                <a:lnTo>
                  <a:pt x="6342958" y="0"/>
                </a:lnTo>
                <a:lnTo>
                  <a:pt x="6342958" y="1585740"/>
                </a:lnTo>
                <a:lnTo>
                  <a:pt x="0" y="1585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 txBox="1"/>
          <p:nvPr/>
        </p:nvSpPr>
        <p:spPr>
          <a:xfrm>
            <a:off x="1843087" y="4441825"/>
            <a:ext cx="1777841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基本資料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411496" y="5573140"/>
            <a:ext cx="3682694" cy="2318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成立時間：1997年</a:t>
            </a:r>
            <a:endParaRPr/>
          </a:p>
          <a:p>
            <a:pPr indent="0" lvl="0" marL="0" marR="0" rtl="0" algn="just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上市時間：2002年</a:t>
            </a:r>
            <a:endParaRPr/>
          </a:p>
          <a:p>
            <a:pPr indent="0" lvl="0" marL="0" marR="0" rtl="0" algn="just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營業額：800億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3020975" y="5656960"/>
            <a:ext cx="4759661" cy="2318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4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展店策略：布局人口密集、交通流量高據點</a:t>
            </a:r>
            <a:endParaRPr/>
          </a:p>
          <a:p>
            <a:pPr indent="0" lvl="0" marL="0" marR="0" rtl="0" algn="l">
              <a:lnSpc>
                <a:spcPct val="204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商品策略：多樣化 × 在地化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3853987" y="4471649"/>
            <a:ext cx="2328066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商業模式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7045246" y="4471649"/>
            <a:ext cx="338131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定位與客群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6657037" y="5629337"/>
            <a:ext cx="4973926" cy="2318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4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定位：一站式生活商店，</a:t>
            </a:r>
            <a:endParaRPr/>
          </a:p>
          <a:p>
            <a:pPr indent="0" lvl="0" marL="0" marR="0" rtl="0" algn="l">
              <a:lnSpc>
                <a:spcPct val="204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提供多元實惠商品</a:t>
            </a:r>
            <a:endParaRPr/>
          </a:p>
          <a:p>
            <a:pPr indent="0" lvl="0" marL="0" marR="0" rtl="0" algn="l">
              <a:lnSpc>
                <a:spcPct val="204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客群：汐止、南港地區居民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0" l="0" r="0" t="-9331"/>
            </a:stretch>
          </a:blipFill>
          <a:ln>
            <a:noFill/>
          </a:ln>
        </p:spPr>
      </p:sp>
      <p:grpSp>
        <p:nvGrpSpPr>
          <p:cNvPr id="110" name="Google Shape;110;p3"/>
          <p:cNvGrpSpPr/>
          <p:nvPr/>
        </p:nvGrpSpPr>
        <p:grpSpPr>
          <a:xfrm>
            <a:off x="-187498" y="935940"/>
            <a:ext cx="19956923" cy="8139399"/>
            <a:chOff x="0" y="-85725"/>
            <a:chExt cx="5256144" cy="2143710"/>
          </a:xfrm>
        </p:grpSpPr>
        <p:sp>
          <p:nvSpPr>
            <p:cNvPr id="111" name="Google Shape;111;p3"/>
            <p:cNvSpPr/>
            <p:nvPr/>
          </p:nvSpPr>
          <p:spPr>
            <a:xfrm>
              <a:off x="0" y="0"/>
              <a:ext cx="5256144" cy="2057985"/>
            </a:xfrm>
            <a:custGeom>
              <a:rect b="b" l="l" r="r" t="t"/>
              <a:pathLst>
                <a:path extrusionOk="0" h="2057985" w="5256144">
                  <a:moveTo>
                    <a:pt x="0" y="0"/>
                  </a:moveTo>
                  <a:lnTo>
                    <a:pt x="5256144" y="0"/>
                  </a:lnTo>
                  <a:lnTo>
                    <a:pt x="5256144" y="2057985"/>
                  </a:lnTo>
                  <a:lnTo>
                    <a:pt x="0" y="20579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3"/>
            <p:cNvSpPr txBox="1"/>
            <p:nvPr/>
          </p:nvSpPr>
          <p:spPr>
            <a:xfrm>
              <a:off x="0" y="-85725"/>
              <a:ext cx="5256144" cy="2143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1847870" y="2885892"/>
            <a:ext cx="5229688" cy="1631118"/>
            <a:chOff x="0" y="-378841"/>
            <a:chExt cx="6972918" cy="2174826"/>
          </a:xfrm>
        </p:grpSpPr>
        <p:grpSp>
          <p:nvGrpSpPr>
            <p:cNvPr id="114" name="Google Shape;114;p3"/>
            <p:cNvGrpSpPr/>
            <p:nvPr/>
          </p:nvGrpSpPr>
          <p:grpSpPr>
            <a:xfrm>
              <a:off x="0" y="-378841"/>
              <a:ext cx="6972918" cy="2174826"/>
              <a:chOff x="0" y="-85725"/>
              <a:chExt cx="1577850" cy="492125"/>
            </a:xfrm>
          </p:grpSpPr>
          <p:sp>
            <p:nvSpPr>
              <p:cNvPr id="115" name="Google Shape;115;p3"/>
              <p:cNvSpPr/>
              <p:nvPr/>
            </p:nvSpPr>
            <p:spPr>
              <a:xfrm>
                <a:off x="0" y="0"/>
                <a:ext cx="1577850" cy="406400"/>
              </a:xfrm>
              <a:custGeom>
                <a:rect b="b" l="l" r="r" t="t"/>
                <a:pathLst>
                  <a:path extrusionOk="0" h="406400" w="1577850">
                    <a:moveTo>
                      <a:pt x="25166" y="0"/>
                    </a:moveTo>
                    <a:lnTo>
                      <a:pt x="1552683" y="0"/>
                    </a:lnTo>
                    <a:cubicBezTo>
                      <a:pt x="1566582" y="0"/>
                      <a:pt x="1577850" y="11267"/>
                      <a:pt x="1577850" y="25166"/>
                    </a:cubicBezTo>
                    <a:lnTo>
                      <a:pt x="1577850" y="381234"/>
                    </a:lnTo>
                    <a:cubicBezTo>
                      <a:pt x="1577850" y="395133"/>
                      <a:pt x="1566582" y="406400"/>
                      <a:pt x="1552683" y="406400"/>
                    </a:cubicBezTo>
                    <a:lnTo>
                      <a:pt x="25166" y="406400"/>
                    </a:lnTo>
                    <a:cubicBezTo>
                      <a:pt x="11267" y="406400"/>
                      <a:pt x="0" y="395133"/>
                      <a:pt x="0" y="381234"/>
                    </a:cubicBezTo>
                    <a:lnTo>
                      <a:pt x="0" y="25166"/>
                    </a:lnTo>
                    <a:cubicBezTo>
                      <a:pt x="0" y="11267"/>
                      <a:pt x="11267" y="0"/>
                      <a:pt x="25166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3"/>
              <p:cNvSpPr txBox="1"/>
              <p:nvPr/>
            </p:nvSpPr>
            <p:spPr>
              <a:xfrm>
                <a:off x="0" y="-85725"/>
                <a:ext cx="1577850" cy="492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4325" lIns="44325" spcFirstLastPara="1" rIns="44325" wrap="square" tIns="44325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" name="Google Shape;117;p3"/>
            <p:cNvSpPr txBox="1"/>
            <p:nvPr/>
          </p:nvSpPr>
          <p:spPr>
            <a:xfrm>
              <a:off x="1308172" y="42562"/>
              <a:ext cx="4356574" cy="156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28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總體環境</a:t>
              </a:r>
              <a:endParaRPr/>
            </a:p>
          </p:txBody>
        </p:sp>
      </p:grpSp>
      <p:sp>
        <p:nvSpPr>
          <p:cNvPr id="118" name="Google Shape;118;p3"/>
          <p:cNvSpPr txBox="1"/>
          <p:nvPr/>
        </p:nvSpPr>
        <p:spPr>
          <a:xfrm>
            <a:off x="8940109" y="6757809"/>
            <a:ext cx="7254296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營收與獲利躊躇不前</a:t>
            </a:r>
            <a:endParaRPr/>
          </a:p>
        </p:txBody>
      </p:sp>
      <p:grpSp>
        <p:nvGrpSpPr>
          <p:cNvPr id="119" name="Google Shape;119;p3"/>
          <p:cNvGrpSpPr/>
          <p:nvPr/>
        </p:nvGrpSpPr>
        <p:grpSpPr>
          <a:xfrm>
            <a:off x="1847870" y="6336365"/>
            <a:ext cx="5229688" cy="1631118"/>
            <a:chOff x="0" y="-378841"/>
            <a:chExt cx="6972918" cy="2174826"/>
          </a:xfrm>
        </p:grpSpPr>
        <p:grpSp>
          <p:nvGrpSpPr>
            <p:cNvPr id="120" name="Google Shape;120;p3"/>
            <p:cNvGrpSpPr/>
            <p:nvPr/>
          </p:nvGrpSpPr>
          <p:grpSpPr>
            <a:xfrm>
              <a:off x="0" y="-378841"/>
              <a:ext cx="6972918" cy="2174826"/>
              <a:chOff x="0" y="-85725"/>
              <a:chExt cx="1577850" cy="492125"/>
            </a:xfrm>
          </p:grpSpPr>
          <p:sp>
            <p:nvSpPr>
              <p:cNvPr id="121" name="Google Shape;121;p3"/>
              <p:cNvSpPr/>
              <p:nvPr/>
            </p:nvSpPr>
            <p:spPr>
              <a:xfrm>
                <a:off x="0" y="0"/>
                <a:ext cx="1577850" cy="406400"/>
              </a:xfrm>
              <a:custGeom>
                <a:rect b="b" l="l" r="r" t="t"/>
                <a:pathLst>
                  <a:path extrusionOk="0" h="406400" w="1577850">
                    <a:moveTo>
                      <a:pt x="25166" y="0"/>
                    </a:moveTo>
                    <a:lnTo>
                      <a:pt x="1552683" y="0"/>
                    </a:lnTo>
                    <a:cubicBezTo>
                      <a:pt x="1566582" y="0"/>
                      <a:pt x="1577850" y="11267"/>
                      <a:pt x="1577850" y="25166"/>
                    </a:cubicBezTo>
                    <a:lnTo>
                      <a:pt x="1577850" y="381234"/>
                    </a:lnTo>
                    <a:cubicBezTo>
                      <a:pt x="1577850" y="395133"/>
                      <a:pt x="1566582" y="406400"/>
                      <a:pt x="1552683" y="406400"/>
                    </a:cubicBezTo>
                    <a:lnTo>
                      <a:pt x="25166" y="406400"/>
                    </a:lnTo>
                    <a:cubicBezTo>
                      <a:pt x="11267" y="406400"/>
                      <a:pt x="0" y="395133"/>
                      <a:pt x="0" y="381234"/>
                    </a:cubicBezTo>
                    <a:lnTo>
                      <a:pt x="0" y="25166"/>
                    </a:lnTo>
                    <a:cubicBezTo>
                      <a:pt x="0" y="11267"/>
                      <a:pt x="11267" y="0"/>
                      <a:pt x="25166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3"/>
              <p:cNvSpPr txBox="1"/>
              <p:nvPr/>
            </p:nvSpPr>
            <p:spPr>
              <a:xfrm>
                <a:off x="0" y="-85725"/>
                <a:ext cx="1577850" cy="492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4325" lIns="44325" spcFirstLastPara="1" rIns="44325" wrap="square" tIns="44325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3" name="Google Shape;123;p3"/>
            <p:cNvSpPr txBox="1"/>
            <p:nvPr/>
          </p:nvSpPr>
          <p:spPr>
            <a:xfrm>
              <a:off x="1308172" y="42562"/>
              <a:ext cx="4356574" cy="156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28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面臨挑戰</a:t>
              </a:r>
              <a:endParaRPr/>
            </a:p>
          </p:txBody>
        </p:sp>
      </p:grpSp>
      <p:sp>
        <p:nvSpPr>
          <p:cNvPr id="124" name="Google Shape;124;p3"/>
          <p:cNvSpPr txBox="1"/>
          <p:nvPr/>
        </p:nvSpPr>
        <p:spPr>
          <a:xfrm>
            <a:off x="8940109" y="1849506"/>
            <a:ext cx="5706381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市場競爭白熱化</a:t>
            </a:r>
            <a:endParaRPr/>
          </a:p>
          <a:p>
            <a:pPr indent="0" lvl="0" marL="0" marR="0" rtl="0" algn="ctr">
              <a:lnSpc>
                <a:spcPct val="1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電商平台的興起</a:t>
            </a:r>
            <a:endParaRPr/>
          </a:p>
          <a:p>
            <a:pPr indent="0" lvl="0" marL="0" marR="0" rtl="0" algn="ctr">
              <a:lnSpc>
                <a:spcPct val="17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消費習慣的改變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10121357" y="0"/>
            <a:ext cx="15309317" cy="10206211"/>
          </a:xfrm>
          <a:custGeom>
            <a:rect b="b" l="l" r="r" t="t"/>
            <a:pathLst>
              <a:path extrusionOk="0" h="10206211" w="15309317">
                <a:moveTo>
                  <a:pt x="0" y="0"/>
                </a:moveTo>
                <a:lnTo>
                  <a:pt x="15309317" y="0"/>
                </a:lnTo>
                <a:lnTo>
                  <a:pt x="15309317" y="10206211"/>
                </a:lnTo>
                <a:lnTo>
                  <a:pt x="0" y="10206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 txBox="1"/>
          <p:nvPr/>
        </p:nvSpPr>
        <p:spPr>
          <a:xfrm>
            <a:off x="1028700" y="1428750"/>
            <a:ext cx="85791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64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r>
              <a:rPr b="1" lang="en-US" sz="14664">
                <a:solidFill>
                  <a:srgbClr val="FF0000"/>
                </a:solidFill>
              </a:rPr>
              <a:t>E</a:t>
            </a:r>
            <a:r>
              <a:rPr b="1" i="0" lang="en-US" sz="14664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NDA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1345283" y="4769067"/>
            <a:ext cx="10355009" cy="712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1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1 問題拆解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1512624" y="5891163"/>
            <a:ext cx="7437454" cy="712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1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2 分析過程 ＆ 行銷策略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1512624" y="7013260"/>
            <a:ext cx="10355009" cy="712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1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3 總結 &amp; 預期成效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1430600" y="1028700"/>
            <a:ext cx="3025142" cy="2563297"/>
          </a:xfrm>
          <a:custGeom>
            <a:rect b="b" l="l" r="r" t="t"/>
            <a:pathLst>
              <a:path extrusionOk="0" h="2563297" w="3025142">
                <a:moveTo>
                  <a:pt x="0" y="0"/>
                </a:moveTo>
                <a:lnTo>
                  <a:pt x="3025142" y="0"/>
                </a:lnTo>
                <a:lnTo>
                  <a:pt x="3025142" y="2563297"/>
                </a:lnTo>
                <a:lnTo>
                  <a:pt x="0" y="2563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006" l="0" r="0" t="-9006"/>
            </a:stretch>
          </a:blipFill>
          <a:ln>
            <a:noFill/>
          </a:ln>
        </p:spPr>
      </p:sp>
      <p:grpSp>
        <p:nvGrpSpPr>
          <p:cNvPr id="139" name="Google Shape;139;p5"/>
          <p:cNvGrpSpPr/>
          <p:nvPr/>
        </p:nvGrpSpPr>
        <p:grpSpPr>
          <a:xfrm>
            <a:off x="-685800" y="8201323"/>
            <a:ext cx="20659729" cy="1757064"/>
            <a:chOff x="0" y="-482203"/>
            <a:chExt cx="27546305" cy="2342753"/>
          </a:xfrm>
        </p:grpSpPr>
        <p:grpSp>
          <p:nvGrpSpPr>
            <p:cNvPr id="140" name="Google Shape;140;p5"/>
            <p:cNvGrpSpPr/>
            <p:nvPr/>
          </p:nvGrpSpPr>
          <p:grpSpPr>
            <a:xfrm>
              <a:off x="0" y="-482203"/>
              <a:ext cx="27546305" cy="1587103"/>
              <a:chOff x="0" y="-95250"/>
              <a:chExt cx="5441245" cy="313502"/>
            </a:xfrm>
          </p:grpSpPr>
          <p:sp>
            <p:nvSpPr>
              <p:cNvPr id="141" name="Google Shape;141;p5"/>
              <p:cNvSpPr/>
              <p:nvPr/>
            </p:nvSpPr>
            <p:spPr>
              <a:xfrm>
                <a:off x="0" y="0"/>
                <a:ext cx="5441245" cy="218252"/>
              </a:xfrm>
              <a:custGeom>
                <a:rect b="b" l="l" r="r" t="t"/>
                <a:pathLst>
                  <a:path extrusionOk="0" h="218252" w="5441245">
                    <a:moveTo>
                      <a:pt x="0" y="0"/>
                    </a:moveTo>
                    <a:lnTo>
                      <a:pt x="5441245" y="0"/>
                    </a:lnTo>
                    <a:lnTo>
                      <a:pt x="5441245" y="218252"/>
                    </a:lnTo>
                    <a:lnTo>
                      <a:pt x="0" y="218252"/>
                    </a:ln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</p:sp>
          <p:sp>
            <p:nvSpPr>
              <p:cNvPr id="142" name="Google Shape;142;p5"/>
              <p:cNvSpPr txBox="1"/>
              <p:nvPr/>
            </p:nvSpPr>
            <p:spPr>
              <a:xfrm>
                <a:off x="0" y="-95250"/>
                <a:ext cx="5441244" cy="313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0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0" y="1035445"/>
              <a:ext cx="27546305" cy="825105"/>
              <a:chOff x="0" y="-95250"/>
              <a:chExt cx="5441245" cy="162983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0" y="0"/>
                <a:ext cx="5441245" cy="67733"/>
              </a:xfrm>
              <a:custGeom>
                <a:rect b="b" l="l" r="r" t="t"/>
                <a:pathLst>
                  <a:path extrusionOk="0" h="67733" w="5441245">
                    <a:moveTo>
                      <a:pt x="0" y="0"/>
                    </a:moveTo>
                    <a:lnTo>
                      <a:pt x="5441245" y="0"/>
                    </a:lnTo>
                    <a:lnTo>
                      <a:pt x="5441245" y="67733"/>
                    </a:lnTo>
                    <a:lnTo>
                      <a:pt x="0" y="67733"/>
                    </a:ln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</p:sp>
          <p:sp>
            <p:nvSpPr>
              <p:cNvPr id="145" name="Google Shape;145;p5"/>
              <p:cNvSpPr txBox="1"/>
              <p:nvPr/>
            </p:nvSpPr>
            <p:spPr>
              <a:xfrm>
                <a:off x="0" y="-95250"/>
                <a:ext cx="5441244" cy="162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0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6" name="Google Shape;146;p5"/>
          <p:cNvSpPr txBox="1"/>
          <p:nvPr/>
        </p:nvSpPr>
        <p:spPr>
          <a:xfrm>
            <a:off x="6321274" y="4995122"/>
            <a:ext cx="13910727" cy="1122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81" u="none" cap="none" strike="noStrike">
                <a:solidFill>
                  <a:srgbClr val="173157"/>
                </a:solidFill>
                <a:latin typeface="Arial"/>
                <a:ea typeface="Arial"/>
                <a:cs typeface="Arial"/>
                <a:sym typeface="Arial"/>
              </a:rPr>
              <a:t>分析過程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14357906" y="5644981"/>
            <a:ext cx="3497448" cy="2711979"/>
          </a:xfrm>
          <a:custGeom>
            <a:rect b="b" l="l" r="r" t="t"/>
            <a:pathLst>
              <a:path extrusionOk="0" h="2711979" w="3497448">
                <a:moveTo>
                  <a:pt x="0" y="0"/>
                </a:moveTo>
                <a:lnTo>
                  <a:pt x="3497448" y="0"/>
                </a:lnTo>
                <a:lnTo>
                  <a:pt x="3497448" y="2711980"/>
                </a:lnTo>
                <a:lnTo>
                  <a:pt x="0" y="2711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6"/>
          <p:cNvGrpSpPr/>
          <p:nvPr/>
        </p:nvGrpSpPr>
        <p:grpSpPr>
          <a:xfrm>
            <a:off x="1678584" y="703213"/>
            <a:ext cx="3483443" cy="1672475"/>
            <a:chOff x="0" y="-85725"/>
            <a:chExt cx="917450" cy="440487"/>
          </a:xfrm>
        </p:grpSpPr>
        <p:sp>
          <p:nvSpPr>
            <p:cNvPr id="153" name="Google Shape;153;p6"/>
            <p:cNvSpPr/>
            <p:nvPr/>
          </p:nvSpPr>
          <p:spPr>
            <a:xfrm>
              <a:off x="0" y="0"/>
              <a:ext cx="917450" cy="354762"/>
            </a:xfrm>
            <a:custGeom>
              <a:rect b="b" l="l" r="r" t="t"/>
              <a:pathLst>
                <a:path extrusionOk="0" h="354762" w="917450">
                  <a:moveTo>
                    <a:pt x="37782" y="0"/>
                  </a:moveTo>
                  <a:lnTo>
                    <a:pt x="879668" y="0"/>
                  </a:lnTo>
                  <a:cubicBezTo>
                    <a:pt x="889688" y="0"/>
                    <a:pt x="899298" y="3981"/>
                    <a:pt x="906384" y="11066"/>
                  </a:cubicBezTo>
                  <a:cubicBezTo>
                    <a:pt x="913469" y="18152"/>
                    <a:pt x="917450" y="27762"/>
                    <a:pt x="917450" y="37782"/>
                  </a:cubicBezTo>
                  <a:lnTo>
                    <a:pt x="917450" y="316980"/>
                  </a:lnTo>
                  <a:cubicBezTo>
                    <a:pt x="917450" y="327001"/>
                    <a:pt x="913469" y="336611"/>
                    <a:pt x="906384" y="343696"/>
                  </a:cubicBezTo>
                  <a:cubicBezTo>
                    <a:pt x="899298" y="350782"/>
                    <a:pt x="889688" y="354762"/>
                    <a:pt x="879668" y="354762"/>
                  </a:cubicBezTo>
                  <a:lnTo>
                    <a:pt x="37782" y="354762"/>
                  </a:lnTo>
                  <a:cubicBezTo>
                    <a:pt x="27762" y="354762"/>
                    <a:pt x="18152" y="350782"/>
                    <a:pt x="11066" y="343696"/>
                  </a:cubicBezTo>
                  <a:cubicBezTo>
                    <a:pt x="3981" y="336611"/>
                    <a:pt x="0" y="327001"/>
                    <a:pt x="0" y="316980"/>
                  </a:cubicBezTo>
                  <a:lnTo>
                    <a:pt x="0" y="37782"/>
                  </a:lnTo>
                  <a:cubicBezTo>
                    <a:pt x="0" y="27762"/>
                    <a:pt x="3981" y="18152"/>
                    <a:pt x="11066" y="11066"/>
                  </a:cubicBezTo>
                  <a:cubicBezTo>
                    <a:pt x="18152" y="3981"/>
                    <a:pt x="27762" y="0"/>
                    <a:pt x="37782" y="0"/>
                  </a:cubicBezTo>
                  <a:close/>
                </a:path>
              </a:pathLst>
            </a:custGeom>
            <a:solidFill>
              <a:srgbClr val="F9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6"/>
            <p:cNvSpPr txBox="1"/>
            <p:nvPr/>
          </p:nvSpPr>
          <p:spPr>
            <a:xfrm>
              <a:off x="0" y="-85725"/>
              <a:ext cx="917450" cy="440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6"/>
          <p:cNvGrpSpPr/>
          <p:nvPr/>
        </p:nvGrpSpPr>
        <p:grpSpPr>
          <a:xfrm>
            <a:off x="2174143" y="744570"/>
            <a:ext cx="13828812" cy="1631118"/>
            <a:chOff x="0" y="-378841"/>
            <a:chExt cx="18438416" cy="2174826"/>
          </a:xfrm>
        </p:grpSpPr>
        <p:grpSp>
          <p:nvGrpSpPr>
            <p:cNvPr id="156" name="Google Shape;156;p6"/>
            <p:cNvGrpSpPr/>
            <p:nvPr/>
          </p:nvGrpSpPr>
          <p:grpSpPr>
            <a:xfrm>
              <a:off x="4609310" y="-378841"/>
              <a:ext cx="13829106" cy="2174826"/>
              <a:chOff x="0" y="-85725"/>
              <a:chExt cx="3129286" cy="492125"/>
            </a:xfrm>
          </p:grpSpPr>
          <p:sp>
            <p:nvSpPr>
              <p:cNvPr id="157" name="Google Shape;157;p6"/>
              <p:cNvSpPr/>
              <p:nvPr/>
            </p:nvSpPr>
            <p:spPr>
              <a:xfrm>
                <a:off x="0" y="0"/>
                <a:ext cx="3129286" cy="406400"/>
              </a:xfrm>
              <a:custGeom>
                <a:rect b="b" l="l" r="r" t="t"/>
                <a:pathLst>
                  <a:path extrusionOk="0" h="406400" w="3129286">
                    <a:moveTo>
                      <a:pt x="12689" y="0"/>
                    </a:moveTo>
                    <a:lnTo>
                      <a:pt x="3116596" y="0"/>
                    </a:lnTo>
                    <a:cubicBezTo>
                      <a:pt x="3123604" y="0"/>
                      <a:pt x="3129286" y="5681"/>
                      <a:pt x="3129286" y="12689"/>
                    </a:cubicBezTo>
                    <a:lnTo>
                      <a:pt x="3129286" y="393711"/>
                    </a:lnTo>
                    <a:cubicBezTo>
                      <a:pt x="3129286" y="400719"/>
                      <a:pt x="3123604" y="406400"/>
                      <a:pt x="3116596" y="406400"/>
                    </a:cubicBezTo>
                    <a:lnTo>
                      <a:pt x="12689" y="406400"/>
                    </a:lnTo>
                    <a:cubicBezTo>
                      <a:pt x="5681" y="406400"/>
                      <a:pt x="0" y="400719"/>
                      <a:pt x="0" y="393711"/>
                    </a:cubicBezTo>
                    <a:lnTo>
                      <a:pt x="0" y="12689"/>
                    </a:lnTo>
                    <a:cubicBezTo>
                      <a:pt x="0" y="5681"/>
                      <a:pt x="5681" y="0"/>
                      <a:pt x="12689" y="0"/>
                    </a:cubicBez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6"/>
              <p:cNvSpPr txBox="1"/>
              <p:nvPr/>
            </p:nvSpPr>
            <p:spPr>
              <a:xfrm>
                <a:off x="0" y="-85725"/>
                <a:ext cx="3129286" cy="492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4325" lIns="44325" spcFirstLastPara="1" rIns="44325" wrap="square" tIns="44325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9" name="Google Shape;159;p6"/>
            <p:cNvSpPr txBox="1"/>
            <p:nvPr/>
          </p:nvSpPr>
          <p:spPr>
            <a:xfrm>
              <a:off x="0" y="2663"/>
              <a:ext cx="3566364" cy="1536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110" u="none" cap="none" strike="noStrike">
                  <a:solidFill>
                    <a:srgbClr val="0C63AE"/>
                  </a:solidFill>
                  <a:latin typeface="Arial"/>
                  <a:ea typeface="Arial"/>
                  <a:cs typeface="Arial"/>
                  <a:sym typeface="Arial"/>
                </a:rPr>
                <a:t>GOAL</a:t>
              </a:r>
              <a:endParaRPr/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7958491" y="58095"/>
              <a:ext cx="9322504" cy="156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28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提升獲利與營收</a:t>
              </a:r>
              <a:endParaRPr/>
            </a:p>
          </p:txBody>
        </p:sp>
      </p:grpSp>
      <p:grpSp>
        <p:nvGrpSpPr>
          <p:cNvPr id="161" name="Google Shape;161;p6"/>
          <p:cNvGrpSpPr/>
          <p:nvPr/>
        </p:nvGrpSpPr>
        <p:grpSpPr>
          <a:xfrm>
            <a:off x="1678584" y="2476534"/>
            <a:ext cx="3483443" cy="4591610"/>
            <a:chOff x="0" y="-85725"/>
            <a:chExt cx="917450" cy="1209313"/>
          </a:xfrm>
        </p:grpSpPr>
        <p:sp>
          <p:nvSpPr>
            <p:cNvPr id="162" name="Google Shape;162;p6"/>
            <p:cNvSpPr/>
            <p:nvPr/>
          </p:nvSpPr>
          <p:spPr>
            <a:xfrm>
              <a:off x="0" y="0"/>
              <a:ext cx="917450" cy="1123588"/>
            </a:xfrm>
            <a:custGeom>
              <a:rect b="b" l="l" r="r" t="t"/>
              <a:pathLst>
                <a:path extrusionOk="0" h="1123588" w="917450">
                  <a:moveTo>
                    <a:pt x="37782" y="0"/>
                  </a:moveTo>
                  <a:lnTo>
                    <a:pt x="879668" y="0"/>
                  </a:lnTo>
                  <a:cubicBezTo>
                    <a:pt x="889688" y="0"/>
                    <a:pt x="899298" y="3981"/>
                    <a:pt x="906384" y="11066"/>
                  </a:cubicBezTo>
                  <a:cubicBezTo>
                    <a:pt x="913469" y="18152"/>
                    <a:pt x="917450" y="27762"/>
                    <a:pt x="917450" y="37782"/>
                  </a:cubicBezTo>
                  <a:lnTo>
                    <a:pt x="917450" y="1085806"/>
                  </a:lnTo>
                  <a:cubicBezTo>
                    <a:pt x="917450" y="1095826"/>
                    <a:pt x="913469" y="1105436"/>
                    <a:pt x="906384" y="1112522"/>
                  </a:cubicBezTo>
                  <a:cubicBezTo>
                    <a:pt x="899298" y="1119607"/>
                    <a:pt x="889688" y="1123588"/>
                    <a:pt x="879668" y="1123588"/>
                  </a:cubicBezTo>
                  <a:lnTo>
                    <a:pt x="37782" y="1123588"/>
                  </a:lnTo>
                  <a:cubicBezTo>
                    <a:pt x="27762" y="1123588"/>
                    <a:pt x="18152" y="1119607"/>
                    <a:pt x="11066" y="1112522"/>
                  </a:cubicBezTo>
                  <a:cubicBezTo>
                    <a:pt x="3981" y="1105436"/>
                    <a:pt x="0" y="1095826"/>
                    <a:pt x="0" y="1085806"/>
                  </a:cubicBezTo>
                  <a:lnTo>
                    <a:pt x="0" y="37782"/>
                  </a:lnTo>
                  <a:cubicBezTo>
                    <a:pt x="0" y="27762"/>
                    <a:pt x="3981" y="18152"/>
                    <a:pt x="11066" y="11066"/>
                  </a:cubicBezTo>
                  <a:cubicBezTo>
                    <a:pt x="18152" y="3981"/>
                    <a:pt x="27762" y="0"/>
                    <a:pt x="37782" y="0"/>
                  </a:cubicBezTo>
                  <a:close/>
                </a:path>
              </a:pathLst>
            </a:custGeom>
            <a:solidFill>
              <a:srgbClr val="F9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6"/>
            <p:cNvSpPr txBox="1"/>
            <p:nvPr/>
          </p:nvSpPr>
          <p:spPr>
            <a:xfrm>
              <a:off x="0" y="-85725"/>
              <a:ext cx="917450" cy="1209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6"/>
          <p:cNvGrpSpPr/>
          <p:nvPr/>
        </p:nvGrpSpPr>
        <p:grpSpPr>
          <a:xfrm>
            <a:off x="8974354" y="5908473"/>
            <a:ext cx="3288874" cy="1159671"/>
            <a:chOff x="0" y="-85725"/>
            <a:chExt cx="992287" cy="349885"/>
          </a:xfrm>
        </p:grpSpPr>
        <p:sp>
          <p:nvSpPr>
            <p:cNvPr id="165" name="Google Shape;165;p6"/>
            <p:cNvSpPr/>
            <p:nvPr/>
          </p:nvSpPr>
          <p:spPr>
            <a:xfrm>
              <a:off x="0" y="0"/>
              <a:ext cx="992287" cy="264160"/>
            </a:xfrm>
            <a:custGeom>
              <a:rect b="b" l="l" r="r" t="t"/>
              <a:pathLst>
                <a:path extrusionOk="0" h="264160" w="992287">
                  <a:moveTo>
                    <a:pt x="40018" y="0"/>
                  </a:moveTo>
                  <a:lnTo>
                    <a:pt x="952269" y="0"/>
                  </a:lnTo>
                  <a:cubicBezTo>
                    <a:pt x="962882" y="0"/>
                    <a:pt x="973061" y="4216"/>
                    <a:pt x="980566" y="11721"/>
                  </a:cubicBezTo>
                  <a:cubicBezTo>
                    <a:pt x="988070" y="19226"/>
                    <a:pt x="992287" y="29404"/>
                    <a:pt x="992287" y="40018"/>
                  </a:cubicBezTo>
                  <a:lnTo>
                    <a:pt x="992287" y="224142"/>
                  </a:lnTo>
                  <a:cubicBezTo>
                    <a:pt x="992287" y="246243"/>
                    <a:pt x="974370" y="264160"/>
                    <a:pt x="952269" y="264160"/>
                  </a:cubicBezTo>
                  <a:lnTo>
                    <a:pt x="40018" y="264160"/>
                  </a:lnTo>
                  <a:cubicBezTo>
                    <a:pt x="29404" y="264160"/>
                    <a:pt x="19226" y="259944"/>
                    <a:pt x="11721" y="252439"/>
                  </a:cubicBezTo>
                  <a:cubicBezTo>
                    <a:pt x="4216" y="244934"/>
                    <a:pt x="0" y="234755"/>
                    <a:pt x="0" y="224142"/>
                  </a:cubicBezTo>
                  <a:lnTo>
                    <a:pt x="0" y="40018"/>
                  </a:lnTo>
                  <a:cubicBezTo>
                    <a:pt x="0" y="29404"/>
                    <a:pt x="4216" y="19226"/>
                    <a:pt x="11721" y="11721"/>
                  </a:cubicBezTo>
                  <a:cubicBezTo>
                    <a:pt x="19226" y="4216"/>
                    <a:pt x="29404" y="0"/>
                    <a:pt x="40018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6"/>
            <p:cNvSpPr txBox="1"/>
            <p:nvPr/>
          </p:nvSpPr>
          <p:spPr>
            <a:xfrm>
              <a:off x="0" y="-85725"/>
              <a:ext cx="992287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6"/>
          <p:cNvGrpSpPr/>
          <p:nvPr/>
        </p:nvGrpSpPr>
        <p:grpSpPr>
          <a:xfrm>
            <a:off x="12601904" y="5908473"/>
            <a:ext cx="3211599" cy="1159671"/>
            <a:chOff x="0" y="-85725"/>
            <a:chExt cx="968972" cy="349885"/>
          </a:xfrm>
        </p:grpSpPr>
        <p:sp>
          <p:nvSpPr>
            <p:cNvPr id="168" name="Google Shape;168;p6"/>
            <p:cNvSpPr/>
            <p:nvPr/>
          </p:nvSpPr>
          <p:spPr>
            <a:xfrm>
              <a:off x="0" y="0"/>
              <a:ext cx="968972" cy="264160"/>
            </a:xfrm>
            <a:custGeom>
              <a:rect b="b" l="l" r="r" t="t"/>
              <a:pathLst>
                <a:path extrusionOk="0" h="264160" w="968972">
                  <a:moveTo>
                    <a:pt x="40980" y="0"/>
                  </a:moveTo>
                  <a:lnTo>
                    <a:pt x="927991" y="0"/>
                  </a:lnTo>
                  <a:cubicBezTo>
                    <a:pt x="938860" y="0"/>
                    <a:pt x="949284" y="4318"/>
                    <a:pt x="956969" y="12003"/>
                  </a:cubicBezTo>
                  <a:cubicBezTo>
                    <a:pt x="964654" y="19688"/>
                    <a:pt x="968972" y="30112"/>
                    <a:pt x="968972" y="40980"/>
                  </a:cubicBezTo>
                  <a:lnTo>
                    <a:pt x="968972" y="223179"/>
                  </a:lnTo>
                  <a:cubicBezTo>
                    <a:pt x="968972" y="245812"/>
                    <a:pt x="950624" y="264160"/>
                    <a:pt x="927991" y="264160"/>
                  </a:cubicBezTo>
                  <a:lnTo>
                    <a:pt x="40980" y="264160"/>
                  </a:lnTo>
                  <a:cubicBezTo>
                    <a:pt x="30112" y="264160"/>
                    <a:pt x="19688" y="259842"/>
                    <a:pt x="12003" y="252157"/>
                  </a:cubicBezTo>
                  <a:cubicBezTo>
                    <a:pt x="4318" y="244471"/>
                    <a:pt x="0" y="234048"/>
                    <a:pt x="0" y="223179"/>
                  </a:cubicBezTo>
                  <a:lnTo>
                    <a:pt x="0" y="40980"/>
                  </a:lnTo>
                  <a:cubicBezTo>
                    <a:pt x="0" y="30112"/>
                    <a:pt x="4318" y="19688"/>
                    <a:pt x="12003" y="12003"/>
                  </a:cubicBezTo>
                  <a:cubicBezTo>
                    <a:pt x="19688" y="4318"/>
                    <a:pt x="30112" y="0"/>
                    <a:pt x="40980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6"/>
            <p:cNvSpPr txBox="1"/>
            <p:nvPr/>
          </p:nvSpPr>
          <p:spPr>
            <a:xfrm>
              <a:off x="0" y="-85725"/>
              <a:ext cx="968972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6"/>
          <p:cNvGrpSpPr/>
          <p:nvPr/>
        </p:nvGrpSpPr>
        <p:grpSpPr>
          <a:xfrm>
            <a:off x="8873465" y="2517891"/>
            <a:ext cx="6976920" cy="1098975"/>
            <a:chOff x="0" y="-85725"/>
            <a:chExt cx="2105007" cy="33157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105007" cy="245847"/>
            </a:xfrm>
            <a:custGeom>
              <a:rect b="b" l="l" r="r" t="t"/>
              <a:pathLst>
                <a:path extrusionOk="0" h="245847" w="2105007">
                  <a:moveTo>
                    <a:pt x="18864" y="0"/>
                  </a:moveTo>
                  <a:lnTo>
                    <a:pt x="2086143" y="0"/>
                  </a:lnTo>
                  <a:cubicBezTo>
                    <a:pt x="2091146" y="0"/>
                    <a:pt x="2095944" y="1987"/>
                    <a:pt x="2099482" y="5525"/>
                  </a:cubicBezTo>
                  <a:cubicBezTo>
                    <a:pt x="2103020" y="9063"/>
                    <a:pt x="2105007" y="13861"/>
                    <a:pt x="2105007" y="18864"/>
                  </a:cubicBezTo>
                  <a:lnTo>
                    <a:pt x="2105007" y="226983"/>
                  </a:lnTo>
                  <a:cubicBezTo>
                    <a:pt x="2105007" y="231986"/>
                    <a:pt x="2103020" y="236784"/>
                    <a:pt x="2099482" y="240322"/>
                  </a:cubicBezTo>
                  <a:cubicBezTo>
                    <a:pt x="2095944" y="243859"/>
                    <a:pt x="2091146" y="245847"/>
                    <a:pt x="2086143" y="245847"/>
                  </a:cubicBezTo>
                  <a:lnTo>
                    <a:pt x="18864" y="245847"/>
                  </a:lnTo>
                  <a:cubicBezTo>
                    <a:pt x="13861" y="245847"/>
                    <a:pt x="9063" y="243859"/>
                    <a:pt x="5525" y="240322"/>
                  </a:cubicBezTo>
                  <a:cubicBezTo>
                    <a:pt x="1987" y="236784"/>
                    <a:pt x="0" y="231986"/>
                    <a:pt x="0" y="226983"/>
                  </a:cubicBezTo>
                  <a:lnTo>
                    <a:pt x="0" y="18864"/>
                  </a:lnTo>
                  <a:cubicBezTo>
                    <a:pt x="0" y="13861"/>
                    <a:pt x="1987" y="9063"/>
                    <a:pt x="5525" y="5525"/>
                  </a:cubicBezTo>
                  <a:cubicBezTo>
                    <a:pt x="9063" y="1987"/>
                    <a:pt x="13861" y="0"/>
                    <a:pt x="18864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6"/>
            <p:cNvSpPr txBox="1"/>
            <p:nvPr/>
          </p:nvSpPr>
          <p:spPr>
            <a:xfrm>
              <a:off x="0" y="-85725"/>
              <a:ext cx="2105007" cy="331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5729428" y="2517891"/>
            <a:ext cx="2399576" cy="1098975"/>
            <a:chOff x="0" y="-85725"/>
            <a:chExt cx="723976" cy="331572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723976" cy="245847"/>
            </a:xfrm>
            <a:custGeom>
              <a:rect b="b" l="l" r="r" t="t"/>
              <a:pathLst>
                <a:path extrusionOk="0" h="245847" w="723976">
                  <a:moveTo>
                    <a:pt x="54848" y="0"/>
                  </a:moveTo>
                  <a:lnTo>
                    <a:pt x="669128" y="0"/>
                  </a:lnTo>
                  <a:cubicBezTo>
                    <a:pt x="699420" y="0"/>
                    <a:pt x="723976" y="24556"/>
                    <a:pt x="723976" y="54848"/>
                  </a:cubicBezTo>
                  <a:lnTo>
                    <a:pt x="723976" y="190999"/>
                  </a:lnTo>
                  <a:cubicBezTo>
                    <a:pt x="723976" y="205545"/>
                    <a:pt x="718198" y="219496"/>
                    <a:pt x="707911" y="229782"/>
                  </a:cubicBezTo>
                  <a:cubicBezTo>
                    <a:pt x="697625" y="240068"/>
                    <a:pt x="683675" y="245847"/>
                    <a:pt x="669128" y="245847"/>
                  </a:cubicBezTo>
                  <a:lnTo>
                    <a:pt x="54848" y="245847"/>
                  </a:lnTo>
                  <a:cubicBezTo>
                    <a:pt x="24556" y="245847"/>
                    <a:pt x="0" y="221290"/>
                    <a:pt x="0" y="190999"/>
                  </a:cubicBezTo>
                  <a:lnTo>
                    <a:pt x="0" y="54848"/>
                  </a:lnTo>
                  <a:cubicBezTo>
                    <a:pt x="0" y="40302"/>
                    <a:pt x="5779" y="26351"/>
                    <a:pt x="16065" y="16065"/>
                  </a:cubicBezTo>
                  <a:cubicBezTo>
                    <a:pt x="26351" y="5779"/>
                    <a:pt x="40302" y="0"/>
                    <a:pt x="54848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6"/>
            <p:cNvSpPr txBox="1"/>
            <p:nvPr/>
          </p:nvSpPr>
          <p:spPr>
            <a:xfrm>
              <a:off x="0" y="-85725"/>
              <a:ext cx="723976" cy="331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6"/>
          <p:cNvGrpSpPr/>
          <p:nvPr/>
        </p:nvGrpSpPr>
        <p:grpSpPr>
          <a:xfrm>
            <a:off x="8873465" y="3586498"/>
            <a:ext cx="6976920" cy="1107399"/>
            <a:chOff x="0" y="-85725"/>
            <a:chExt cx="2105007" cy="334113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2105007" cy="248388"/>
            </a:xfrm>
            <a:custGeom>
              <a:rect b="b" l="l" r="r" t="t"/>
              <a:pathLst>
                <a:path extrusionOk="0" h="248388" w="2105007">
                  <a:moveTo>
                    <a:pt x="18864" y="0"/>
                  </a:moveTo>
                  <a:lnTo>
                    <a:pt x="2086143" y="0"/>
                  </a:lnTo>
                  <a:cubicBezTo>
                    <a:pt x="2091146" y="0"/>
                    <a:pt x="2095944" y="1987"/>
                    <a:pt x="2099482" y="5525"/>
                  </a:cubicBezTo>
                  <a:cubicBezTo>
                    <a:pt x="2103020" y="9063"/>
                    <a:pt x="2105007" y="13861"/>
                    <a:pt x="2105007" y="18864"/>
                  </a:cubicBezTo>
                  <a:lnTo>
                    <a:pt x="2105007" y="229524"/>
                  </a:lnTo>
                  <a:cubicBezTo>
                    <a:pt x="2105007" y="234527"/>
                    <a:pt x="2103020" y="239325"/>
                    <a:pt x="2099482" y="242863"/>
                  </a:cubicBezTo>
                  <a:cubicBezTo>
                    <a:pt x="2095944" y="246401"/>
                    <a:pt x="2091146" y="248388"/>
                    <a:pt x="2086143" y="248388"/>
                  </a:cubicBezTo>
                  <a:lnTo>
                    <a:pt x="18864" y="248388"/>
                  </a:lnTo>
                  <a:cubicBezTo>
                    <a:pt x="13861" y="248388"/>
                    <a:pt x="9063" y="246401"/>
                    <a:pt x="5525" y="242863"/>
                  </a:cubicBezTo>
                  <a:cubicBezTo>
                    <a:pt x="1987" y="239325"/>
                    <a:pt x="0" y="234527"/>
                    <a:pt x="0" y="229524"/>
                  </a:cubicBezTo>
                  <a:lnTo>
                    <a:pt x="0" y="18864"/>
                  </a:lnTo>
                  <a:cubicBezTo>
                    <a:pt x="0" y="13861"/>
                    <a:pt x="1987" y="9063"/>
                    <a:pt x="5525" y="5525"/>
                  </a:cubicBezTo>
                  <a:cubicBezTo>
                    <a:pt x="9063" y="1987"/>
                    <a:pt x="13861" y="0"/>
                    <a:pt x="18864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6"/>
            <p:cNvSpPr txBox="1"/>
            <p:nvPr/>
          </p:nvSpPr>
          <p:spPr>
            <a:xfrm>
              <a:off x="0" y="-85725"/>
              <a:ext cx="2105007" cy="334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5729428" y="3586498"/>
            <a:ext cx="2399576" cy="1107399"/>
            <a:chOff x="0" y="-85725"/>
            <a:chExt cx="723976" cy="334113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723976" cy="248388"/>
            </a:xfrm>
            <a:custGeom>
              <a:rect b="b" l="l" r="r" t="t"/>
              <a:pathLst>
                <a:path extrusionOk="0" h="248388" w="723976">
                  <a:moveTo>
                    <a:pt x="54848" y="0"/>
                  </a:moveTo>
                  <a:lnTo>
                    <a:pt x="669128" y="0"/>
                  </a:lnTo>
                  <a:cubicBezTo>
                    <a:pt x="699420" y="0"/>
                    <a:pt x="723976" y="24556"/>
                    <a:pt x="723976" y="54848"/>
                  </a:cubicBezTo>
                  <a:lnTo>
                    <a:pt x="723976" y="193540"/>
                  </a:lnTo>
                  <a:cubicBezTo>
                    <a:pt x="723976" y="208087"/>
                    <a:pt x="718198" y="222038"/>
                    <a:pt x="707911" y="232324"/>
                  </a:cubicBezTo>
                  <a:cubicBezTo>
                    <a:pt x="697625" y="242610"/>
                    <a:pt x="683675" y="248388"/>
                    <a:pt x="669128" y="248388"/>
                  </a:cubicBezTo>
                  <a:lnTo>
                    <a:pt x="54848" y="248388"/>
                  </a:lnTo>
                  <a:cubicBezTo>
                    <a:pt x="24556" y="248388"/>
                    <a:pt x="0" y="223832"/>
                    <a:pt x="0" y="193540"/>
                  </a:cubicBezTo>
                  <a:lnTo>
                    <a:pt x="0" y="54848"/>
                  </a:lnTo>
                  <a:cubicBezTo>
                    <a:pt x="0" y="40302"/>
                    <a:pt x="5779" y="26351"/>
                    <a:pt x="16065" y="16065"/>
                  </a:cubicBezTo>
                  <a:cubicBezTo>
                    <a:pt x="26351" y="5779"/>
                    <a:pt x="40302" y="0"/>
                    <a:pt x="54848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6"/>
            <p:cNvSpPr txBox="1"/>
            <p:nvPr/>
          </p:nvSpPr>
          <p:spPr>
            <a:xfrm>
              <a:off x="0" y="-85725"/>
              <a:ext cx="723976" cy="334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6"/>
          <p:cNvGrpSpPr/>
          <p:nvPr/>
        </p:nvGrpSpPr>
        <p:grpSpPr>
          <a:xfrm>
            <a:off x="8974354" y="4850007"/>
            <a:ext cx="3288874" cy="1159671"/>
            <a:chOff x="0" y="-85725"/>
            <a:chExt cx="992287" cy="349885"/>
          </a:xfrm>
        </p:grpSpPr>
        <p:sp>
          <p:nvSpPr>
            <p:cNvPr id="183" name="Google Shape;183;p6"/>
            <p:cNvSpPr/>
            <p:nvPr/>
          </p:nvSpPr>
          <p:spPr>
            <a:xfrm>
              <a:off x="0" y="0"/>
              <a:ext cx="992287" cy="264160"/>
            </a:xfrm>
            <a:custGeom>
              <a:rect b="b" l="l" r="r" t="t"/>
              <a:pathLst>
                <a:path extrusionOk="0" h="264160" w="992287">
                  <a:moveTo>
                    <a:pt x="40018" y="0"/>
                  </a:moveTo>
                  <a:lnTo>
                    <a:pt x="952269" y="0"/>
                  </a:lnTo>
                  <a:cubicBezTo>
                    <a:pt x="962882" y="0"/>
                    <a:pt x="973061" y="4216"/>
                    <a:pt x="980566" y="11721"/>
                  </a:cubicBezTo>
                  <a:cubicBezTo>
                    <a:pt x="988070" y="19226"/>
                    <a:pt x="992287" y="29404"/>
                    <a:pt x="992287" y="40018"/>
                  </a:cubicBezTo>
                  <a:lnTo>
                    <a:pt x="992287" y="224142"/>
                  </a:lnTo>
                  <a:cubicBezTo>
                    <a:pt x="992287" y="246243"/>
                    <a:pt x="974370" y="264160"/>
                    <a:pt x="952269" y="264160"/>
                  </a:cubicBezTo>
                  <a:lnTo>
                    <a:pt x="40018" y="264160"/>
                  </a:lnTo>
                  <a:cubicBezTo>
                    <a:pt x="29404" y="264160"/>
                    <a:pt x="19226" y="259944"/>
                    <a:pt x="11721" y="252439"/>
                  </a:cubicBezTo>
                  <a:cubicBezTo>
                    <a:pt x="4216" y="244934"/>
                    <a:pt x="0" y="234755"/>
                    <a:pt x="0" y="224142"/>
                  </a:cubicBezTo>
                  <a:lnTo>
                    <a:pt x="0" y="40018"/>
                  </a:lnTo>
                  <a:cubicBezTo>
                    <a:pt x="0" y="29404"/>
                    <a:pt x="4216" y="19226"/>
                    <a:pt x="11721" y="11721"/>
                  </a:cubicBezTo>
                  <a:cubicBezTo>
                    <a:pt x="19226" y="4216"/>
                    <a:pt x="29404" y="0"/>
                    <a:pt x="40018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6"/>
            <p:cNvSpPr txBox="1"/>
            <p:nvPr/>
          </p:nvSpPr>
          <p:spPr>
            <a:xfrm>
              <a:off x="0" y="-85725"/>
              <a:ext cx="992287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6"/>
          <p:cNvGrpSpPr/>
          <p:nvPr/>
        </p:nvGrpSpPr>
        <p:grpSpPr>
          <a:xfrm>
            <a:off x="5729428" y="4850006"/>
            <a:ext cx="2399576" cy="2218138"/>
            <a:chOff x="0" y="-85725"/>
            <a:chExt cx="723976" cy="669234"/>
          </a:xfrm>
        </p:grpSpPr>
        <p:sp>
          <p:nvSpPr>
            <p:cNvPr id="186" name="Google Shape;186;p6"/>
            <p:cNvSpPr/>
            <p:nvPr/>
          </p:nvSpPr>
          <p:spPr>
            <a:xfrm>
              <a:off x="0" y="0"/>
              <a:ext cx="723976" cy="583509"/>
            </a:xfrm>
            <a:custGeom>
              <a:rect b="b" l="l" r="r" t="t"/>
              <a:pathLst>
                <a:path extrusionOk="0" h="583509" w="723976">
                  <a:moveTo>
                    <a:pt x="54848" y="0"/>
                  </a:moveTo>
                  <a:lnTo>
                    <a:pt x="669128" y="0"/>
                  </a:lnTo>
                  <a:cubicBezTo>
                    <a:pt x="699420" y="0"/>
                    <a:pt x="723976" y="24556"/>
                    <a:pt x="723976" y="54848"/>
                  </a:cubicBezTo>
                  <a:lnTo>
                    <a:pt x="723976" y="528661"/>
                  </a:lnTo>
                  <a:cubicBezTo>
                    <a:pt x="723976" y="543208"/>
                    <a:pt x="718198" y="557159"/>
                    <a:pt x="707911" y="567445"/>
                  </a:cubicBezTo>
                  <a:cubicBezTo>
                    <a:pt x="697625" y="577731"/>
                    <a:pt x="683675" y="583509"/>
                    <a:pt x="669128" y="583509"/>
                  </a:cubicBezTo>
                  <a:lnTo>
                    <a:pt x="54848" y="583509"/>
                  </a:lnTo>
                  <a:cubicBezTo>
                    <a:pt x="40302" y="583509"/>
                    <a:pt x="26351" y="577731"/>
                    <a:pt x="16065" y="567445"/>
                  </a:cubicBezTo>
                  <a:cubicBezTo>
                    <a:pt x="5779" y="557159"/>
                    <a:pt x="0" y="543208"/>
                    <a:pt x="0" y="528661"/>
                  </a:cubicBezTo>
                  <a:lnTo>
                    <a:pt x="0" y="54848"/>
                  </a:lnTo>
                  <a:cubicBezTo>
                    <a:pt x="0" y="40302"/>
                    <a:pt x="5779" y="26351"/>
                    <a:pt x="16065" y="16065"/>
                  </a:cubicBezTo>
                  <a:cubicBezTo>
                    <a:pt x="26351" y="5779"/>
                    <a:pt x="40302" y="0"/>
                    <a:pt x="54848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6"/>
            <p:cNvSpPr txBox="1"/>
            <p:nvPr/>
          </p:nvSpPr>
          <p:spPr>
            <a:xfrm>
              <a:off x="0" y="-85725"/>
              <a:ext cx="723976" cy="669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6"/>
          <p:cNvSpPr txBox="1"/>
          <p:nvPr/>
        </p:nvSpPr>
        <p:spPr>
          <a:xfrm>
            <a:off x="5716897" y="5591272"/>
            <a:ext cx="2412107" cy="81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步驟3</a:t>
            </a:r>
            <a:endParaRPr/>
          </a:p>
        </p:txBody>
      </p:sp>
      <p:grpSp>
        <p:nvGrpSpPr>
          <p:cNvPr id="189" name="Google Shape;189;p6"/>
          <p:cNvGrpSpPr/>
          <p:nvPr/>
        </p:nvGrpSpPr>
        <p:grpSpPr>
          <a:xfrm>
            <a:off x="12601904" y="4850007"/>
            <a:ext cx="3211599" cy="1159671"/>
            <a:chOff x="0" y="-85725"/>
            <a:chExt cx="968972" cy="349885"/>
          </a:xfrm>
        </p:grpSpPr>
        <p:sp>
          <p:nvSpPr>
            <p:cNvPr id="190" name="Google Shape;190;p6"/>
            <p:cNvSpPr/>
            <p:nvPr/>
          </p:nvSpPr>
          <p:spPr>
            <a:xfrm>
              <a:off x="0" y="0"/>
              <a:ext cx="968972" cy="264160"/>
            </a:xfrm>
            <a:custGeom>
              <a:rect b="b" l="l" r="r" t="t"/>
              <a:pathLst>
                <a:path extrusionOk="0" h="264160" w="968972">
                  <a:moveTo>
                    <a:pt x="40980" y="0"/>
                  </a:moveTo>
                  <a:lnTo>
                    <a:pt x="927991" y="0"/>
                  </a:lnTo>
                  <a:cubicBezTo>
                    <a:pt x="938860" y="0"/>
                    <a:pt x="949284" y="4318"/>
                    <a:pt x="956969" y="12003"/>
                  </a:cubicBezTo>
                  <a:cubicBezTo>
                    <a:pt x="964654" y="19688"/>
                    <a:pt x="968972" y="30112"/>
                    <a:pt x="968972" y="40980"/>
                  </a:cubicBezTo>
                  <a:lnTo>
                    <a:pt x="968972" y="223179"/>
                  </a:lnTo>
                  <a:cubicBezTo>
                    <a:pt x="968972" y="245812"/>
                    <a:pt x="950624" y="264160"/>
                    <a:pt x="927991" y="264160"/>
                  </a:cubicBezTo>
                  <a:lnTo>
                    <a:pt x="40980" y="264160"/>
                  </a:lnTo>
                  <a:cubicBezTo>
                    <a:pt x="30112" y="264160"/>
                    <a:pt x="19688" y="259842"/>
                    <a:pt x="12003" y="252157"/>
                  </a:cubicBezTo>
                  <a:cubicBezTo>
                    <a:pt x="4318" y="244471"/>
                    <a:pt x="0" y="234048"/>
                    <a:pt x="0" y="223179"/>
                  </a:cubicBezTo>
                  <a:lnTo>
                    <a:pt x="0" y="40980"/>
                  </a:lnTo>
                  <a:cubicBezTo>
                    <a:pt x="0" y="30112"/>
                    <a:pt x="4318" y="19688"/>
                    <a:pt x="12003" y="12003"/>
                  </a:cubicBezTo>
                  <a:cubicBezTo>
                    <a:pt x="19688" y="4318"/>
                    <a:pt x="30112" y="0"/>
                    <a:pt x="40980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6"/>
            <p:cNvSpPr txBox="1"/>
            <p:nvPr/>
          </p:nvSpPr>
          <p:spPr>
            <a:xfrm>
              <a:off x="0" y="-85725"/>
              <a:ext cx="968972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6"/>
          <p:cNvSpPr txBox="1"/>
          <p:nvPr/>
        </p:nvSpPr>
        <p:spPr>
          <a:xfrm>
            <a:off x="1862296" y="4189740"/>
            <a:ext cx="3116019" cy="1225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1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分析流程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6170999" y="2715075"/>
            <a:ext cx="2412107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步驟１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10536820" y="2698446"/>
            <a:ext cx="6722480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Top 40 營收品類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5716897" y="3807743"/>
            <a:ext cx="2412107" cy="81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步驟2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10486932" y="3807743"/>
            <a:ext cx="6722480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層級式集群分析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9581087" y="5102453"/>
            <a:ext cx="2524405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日常用品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12831347" y="5102453"/>
            <a:ext cx="2796075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零食餅乾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9581087" y="6183817"/>
            <a:ext cx="2453871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電子用品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12937833" y="6158873"/>
            <a:ext cx="2583104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黃金飾品</a:t>
            </a:r>
            <a:endParaRPr/>
          </a:p>
        </p:txBody>
      </p:sp>
      <p:grpSp>
        <p:nvGrpSpPr>
          <p:cNvPr id="201" name="Google Shape;201;p6"/>
          <p:cNvGrpSpPr/>
          <p:nvPr/>
        </p:nvGrpSpPr>
        <p:grpSpPr>
          <a:xfrm>
            <a:off x="5729428" y="7224223"/>
            <a:ext cx="2399576" cy="2258797"/>
            <a:chOff x="0" y="-85725"/>
            <a:chExt cx="723976" cy="681502"/>
          </a:xfrm>
        </p:grpSpPr>
        <p:sp>
          <p:nvSpPr>
            <p:cNvPr id="202" name="Google Shape;202;p6"/>
            <p:cNvSpPr/>
            <p:nvPr/>
          </p:nvSpPr>
          <p:spPr>
            <a:xfrm>
              <a:off x="0" y="0"/>
              <a:ext cx="723976" cy="595777"/>
            </a:xfrm>
            <a:custGeom>
              <a:rect b="b" l="l" r="r" t="t"/>
              <a:pathLst>
                <a:path extrusionOk="0" h="595777" w="723976">
                  <a:moveTo>
                    <a:pt x="54848" y="0"/>
                  </a:moveTo>
                  <a:lnTo>
                    <a:pt x="669128" y="0"/>
                  </a:lnTo>
                  <a:cubicBezTo>
                    <a:pt x="699420" y="0"/>
                    <a:pt x="723976" y="24556"/>
                    <a:pt x="723976" y="54848"/>
                  </a:cubicBezTo>
                  <a:lnTo>
                    <a:pt x="723976" y="540929"/>
                  </a:lnTo>
                  <a:cubicBezTo>
                    <a:pt x="723976" y="555475"/>
                    <a:pt x="718198" y="569426"/>
                    <a:pt x="707911" y="579712"/>
                  </a:cubicBezTo>
                  <a:cubicBezTo>
                    <a:pt x="697625" y="589998"/>
                    <a:pt x="683675" y="595777"/>
                    <a:pt x="669128" y="595777"/>
                  </a:cubicBezTo>
                  <a:lnTo>
                    <a:pt x="54848" y="595777"/>
                  </a:lnTo>
                  <a:cubicBezTo>
                    <a:pt x="24556" y="595777"/>
                    <a:pt x="0" y="571221"/>
                    <a:pt x="0" y="540929"/>
                  </a:cubicBezTo>
                  <a:lnTo>
                    <a:pt x="0" y="54848"/>
                  </a:lnTo>
                  <a:cubicBezTo>
                    <a:pt x="0" y="40302"/>
                    <a:pt x="5779" y="26351"/>
                    <a:pt x="16065" y="16065"/>
                  </a:cubicBezTo>
                  <a:cubicBezTo>
                    <a:pt x="26351" y="5779"/>
                    <a:pt x="40302" y="0"/>
                    <a:pt x="54848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6"/>
            <p:cNvSpPr txBox="1"/>
            <p:nvPr/>
          </p:nvSpPr>
          <p:spPr>
            <a:xfrm>
              <a:off x="0" y="-85725"/>
              <a:ext cx="723976" cy="6815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6"/>
          <p:cNvGrpSpPr/>
          <p:nvPr/>
        </p:nvGrpSpPr>
        <p:grpSpPr>
          <a:xfrm>
            <a:off x="8974354" y="7240853"/>
            <a:ext cx="3288874" cy="1159671"/>
            <a:chOff x="0" y="-85725"/>
            <a:chExt cx="992287" cy="349885"/>
          </a:xfrm>
        </p:grpSpPr>
        <p:sp>
          <p:nvSpPr>
            <p:cNvPr id="205" name="Google Shape;205;p6"/>
            <p:cNvSpPr/>
            <p:nvPr/>
          </p:nvSpPr>
          <p:spPr>
            <a:xfrm>
              <a:off x="0" y="0"/>
              <a:ext cx="992287" cy="264160"/>
            </a:xfrm>
            <a:custGeom>
              <a:rect b="b" l="l" r="r" t="t"/>
              <a:pathLst>
                <a:path extrusionOk="0" h="264160" w="992287">
                  <a:moveTo>
                    <a:pt x="40018" y="0"/>
                  </a:moveTo>
                  <a:lnTo>
                    <a:pt x="952269" y="0"/>
                  </a:lnTo>
                  <a:cubicBezTo>
                    <a:pt x="962882" y="0"/>
                    <a:pt x="973061" y="4216"/>
                    <a:pt x="980566" y="11721"/>
                  </a:cubicBezTo>
                  <a:cubicBezTo>
                    <a:pt x="988070" y="19226"/>
                    <a:pt x="992287" y="29404"/>
                    <a:pt x="992287" y="40018"/>
                  </a:cubicBezTo>
                  <a:lnTo>
                    <a:pt x="992287" y="224142"/>
                  </a:lnTo>
                  <a:cubicBezTo>
                    <a:pt x="992287" y="246243"/>
                    <a:pt x="974370" y="264160"/>
                    <a:pt x="952269" y="264160"/>
                  </a:cubicBezTo>
                  <a:lnTo>
                    <a:pt x="40018" y="264160"/>
                  </a:lnTo>
                  <a:cubicBezTo>
                    <a:pt x="29404" y="264160"/>
                    <a:pt x="19226" y="259944"/>
                    <a:pt x="11721" y="252439"/>
                  </a:cubicBezTo>
                  <a:cubicBezTo>
                    <a:pt x="4216" y="244934"/>
                    <a:pt x="0" y="234755"/>
                    <a:pt x="0" y="224142"/>
                  </a:cubicBezTo>
                  <a:lnTo>
                    <a:pt x="0" y="40018"/>
                  </a:lnTo>
                  <a:cubicBezTo>
                    <a:pt x="0" y="29404"/>
                    <a:pt x="4216" y="19226"/>
                    <a:pt x="11721" y="11721"/>
                  </a:cubicBezTo>
                  <a:cubicBezTo>
                    <a:pt x="19226" y="4216"/>
                    <a:pt x="29404" y="0"/>
                    <a:pt x="40018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0" y="-85725"/>
              <a:ext cx="992287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12630089" y="7224223"/>
            <a:ext cx="3211599" cy="1159671"/>
            <a:chOff x="0" y="-85725"/>
            <a:chExt cx="968972" cy="349885"/>
          </a:xfrm>
        </p:grpSpPr>
        <p:sp>
          <p:nvSpPr>
            <p:cNvPr id="208" name="Google Shape;208;p6"/>
            <p:cNvSpPr/>
            <p:nvPr/>
          </p:nvSpPr>
          <p:spPr>
            <a:xfrm>
              <a:off x="0" y="0"/>
              <a:ext cx="968972" cy="264160"/>
            </a:xfrm>
            <a:custGeom>
              <a:rect b="b" l="l" r="r" t="t"/>
              <a:pathLst>
                <a:path extrusionOk="0" h="264160" w="968972">
                  <a:moveTo>
                    <a:pt x="40980" y="0"/>
                  </a:moveTo>
                  <a:lnTo>
                    <a:pt x="927991" y="0"/>
                  </a:lnTo>
                  <a:cubicBezTo>
                    <a:pt x="938860" y="0"/>
                    <a:pt x="949284" y="4318"/>
                    <a:pt x="956969" y="12003"/>
                  </a:cubicBezTo>
                  <a:cubicBezTo>
                    <a:pt x="964654" y="19688"/>
                    <a:pt x="968972" y="30112"/>
                    <a:pt x="968972" y="40980"/>
                  </a:cubicBezTo>
                  <a:lnTo>
                    <a:pt x="968972" y="223179"/>
                  </a:lnTo>
                  <a:cubicBezTo>
                    <a:pt x="968972" y="245812"/>
                    <a:pt x="950624" y="264160"/>
                    <a:pt x="927991" y="264160"/>
                  </a:cubicBezTo>
                  <a:lnTo>
                    <a:pt x="40980" y="264160"/>
                  </a:lnTo>
                  <a:cubicBezTo>
                    <a:pt x="30112" y="264160"/>
                    <a:pt x="19688" y="259842"/>
                    <a:pt x="12003" y="252157"/>
                  </a:cubicBezTo>
                  <a:cubicBezTo>
                    <a:pt x="4318" y="244471"/>
                    <a:pt x="0" y="234048"/>
                    <a:pt x="0" y="223179"/>
                  </a:cubicBezTo>
                  <a:lnTo>
                    <a:pt x="0" y="40980"/>
                  </a:lnTo>
                  <a:cubicBezTo>
                    <a:pt x="0" y="30112"/>
                    <a:pt x="4318" y="19688"/>
                    <a:pt x="12003" y="12003"/>
                  </a:cubicBezTo>
                  <a:cubicBezTo>
                    <a:pt x="19688" y="4318"/>
                    <a:pt x="30112" y="0"/>
                    <a:pt x="40980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6"/>
            <p:cNvSpPr txBox="1"/>
            <p:nvPr/>
          </p:nvSpPr>
          <p:spPr>
            <a:xfrm>
              <a:off x="0" y="-85725"/>
              <a:ext cx="968972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6"/>
          <p:cNvGrpSpPr/>
          <p:nvPr/>
        </p:nvGrpSpPr>
        <p:grpSpPr>
          <a:xfrm>
            <a:off x="8974354" y="8303034"/>
            <a:ext cx="3288874" cy="1159671"/>
            <a:chOff x="0" y="-85725"/>
            <a:chExt cx="992287" cy="349885"/>
          </a:xfrm>
        </p:grpSpPr>
        <p:sp>
          <p:nvSpPr>
            <p:cNvPr id="211" name="Google Shape;211;p6"/>
            <p:cNvSpPr/>
            <p:nvPr/>
          </p:nvSpPr>
          <p:spPr>
            <a:xfrm>
              <a:off x="0" y="0"/>
              <a:ext cx="992287" cy="264160"/>
            </a:xfrm>
            <a:custGeom>
              <a:rect b="b" l="l" r="r" t="t"/>
              <a:pathLst>
                <a:path extrusionOk="0" h="264160" w="992287">
                  <a:moveTo>
                    <a:pt x="40018" y="0"/>
                  </a:moveTo>
                  <a:lnTo>
                    <a:pt x="952269" y="0"/>
                  </a:lnTo>
                  <a:cubicBezTo>
                    <a:pt x="962882" y="0"/>
                    <a:pt x="973061" y="4216"/>
                    <a:pt x="980566" y="11721"/>
                  </a:cubicBezTo>
                  <a:cubicBezTo>
                    <a:pt x="988070" y="19226"/>
                    <a:pt x="992287" y="29404"/>
                    <a:pt x="992287" y="40018"/>
                  </a:cubicBezTo>
                  <a:lnTo>
                    <a:pt x="992287" y="224142"/>
                  </a:lnTo>
                  <a:cubicBezTo>
                    <a:pt x="992287" y="246243"/>
                    <a:pt x="974370" y="264160"/>
                    <a:pt x="952269" y="264160"/>
                  </a:cubicBezTo>
                  <a:lnTo>
                    <a:pt x="40018" y="264160"/>
                  </a:lnTo>
                  <a:cubicBezTo>
                    <a:pt x="29404" y="264160"/>
                    <a:pt x="19226" y="259944"/>
                    <a:pt x="11721" y="252439"/>
                  </a:cubicBezTo>
                  <a:cubicBezTo>
                    <a:pt x="4216" y="244934"/>
                    <a:pt x="0" y="234755"/>
                    <a:pt x="0" y="224142"/>
                  </a:cubicBezTo>
                  <a:lnTo>
                    <a:pt x="0" y="40018"/>
                  </a:lnTo>
                  <a:cubicBezTo>
                    <a:pt x="0" y="29404"/>
                    <a:pt x="4216" y="19226"/>
                    <a:pt x="11721" y="11721"/>
                  </a:cubicBezTo>
                  <a:cubicBezTo>
                    <a:pt x="19226" y="4216"/>
                    <a:pt x="29404" y="0"/>
                    <a:pt x="40018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6"/>
            <p:cNvSpPr txBox="1"/>
            <p:nvPr/>
          </p:nvSpPr>
          <p:spPr>
            <a:xfrm>
              <a:off x="0" y="-85725"/>
              <a:ext cx="992287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6"/>
          <p:cNvGrpSpPr/>
          <p:nvPr/>
        </p:nvGrpSpPr>
        <p:grpSpPr>
          <a:xfrm>
            <a:off x="12601904" y="8284074"/>
            <a:ext cx="3211599" cy="1159671"/>
            <a:chOff x="0" y="-85725"/>
            <a:chExt cx="968972" cy="349885"/>
          </a:xfrm>
        </p:grpSpPr>
        <p:sp>
          <p:nvSpPr>
            <p:cNvPr id="214" name="Google Shape;214;p6"/>
            <p:cNvSpPr/>
            <p:nvPr/>
          </p:nvSpPr>
          <p:spPr>
            <a:xfrm>
              <a:off x="0" y="0"/>
              <a:ext cx="968972" cy="264160"/>
            </a:xfrm>
            <a:custGeom>
              <a:rect b="b" l="l" r="r" t="t"/>
              <a:pathLst>
                <a:path extrusionOk="0" h="264160" w="968972">
                  <a:moveTo>
                    <a:pt x="40980" y="0"/>
                  </a:moveTo>
                  <a:lnTo>
                    <a:pt x="927991" y="0"/>
                  </a:lnTo>
                  <a:cubicBezTo>
                    <a:pt x="938860" y="0"/>
                    <a:pt x="949284" y="4318"/>
                    <a:pt x="956969" y="12003"/>
                  </a:cubicBezTo>
                  <a:cubicBezTo>
                    <a:pt x="964654" y="19688"/>
                    <a:pt x="968972" y="30112"/>
                    <a:pt x="968972" y="40980"/>
                  </a:cubicBezTo>
                  <a:lnTo>
                    <a:pt x="968972" y="223179"/>
                  </a:lnTo>
                  <a:cubicBezTo>
                    <a:pt x="968972" y="245812"/>
                    <a:pt x="950624" y="264160"/>
                    <a:pt x="927991" y="264160"/>
                  </a:cubicBezTo>
                  <a:lnTo>
                    <a:pt x="40980" y="264160"/>
                  </a:lnTo>
                  <a:cubicBezTo>
                    <a:pt x="30112" y="264160"/>
                    <a:pt x="19688" y="259842"/>
                    <a:pt x="12003" y="252157"/>
                  </a:cubicBezTo>
                  <a:cubicBezTo>
                    <a:pt x="4318" y="244471"/>
                    <a:pt x="0" y="234048"/>
                    <a:pt x="0" y="223179"/>
                  </a:cubicBezTo>
                  <a:lnTo>
                    <a:pt x="0" y="40980"/>
                  </a:lnTo>
                  <a:cubicBezTo>
                    <a:pt x="0" y="30112"/>
                    <a:pt x="4318" y="19688"/>
                    <a:pt x="12003" y="12003"/>
                  </a:cubicBezTo>
                  <a:cubicBezTo>
                    <a:pt x="19688" y="4318"/>
                    <a:pt x="30112" y="0"/>
                    <a:pt x="40980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0" y="-85725"/>
              <a:ext cx="968972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6"/>
          <p:cNvGrpSpPr/>
          <p:nvPr/>
        </p:nvGrpSpPr>
        <p:grpSpPr>
          <a:xfrm>
            <a:off x="1776208" y="7199496"/>
            <a:ext cx="3483443" cy="2186047"/>
            <a:chOff x="0" y="-85725"/>
            <a:chExt cx="917450" cy="575749"/>
          </a:xfrm>
        </p:grpSpPr>
        <p:sp>
          <p:nvSpPr>
            <p:cNvPr id="217" name="Google Shape;217;p6"/>
            <p:cNvSpPr/>
            <p:nvPr/>
          </p:nvSpPr>
          <p:spPr>
            <a:xfrm>
              <a:off x="0" y="0"/>
              <a:ext cx="917450" cy="490024"/>
            </a:xfrm>
            <a:custGeom>
              <a:rect b="b" l="l" r="r" t="t"/>
              <a:pathLst>
                <a:path extrusionOk="0" h="490024" w="917450">
                  <a:moveTo>
                    <a:pt x="37782" y="0"/>
                  </a:moveTo>
                  <a:lnTo>
                    <a:pt x="879668" y="0"/>
                  </a:lnTo>
                  <a:cubicBezTo>
                    <a:pt x="889688" y="0"/>
                    <a:pt x="899298" y="3981"/>
                    <a:pt x="906384" y="11066"/>
                  </a:cubicBezTo>
                  <a:cubicBezTo>
                    <a:pt x="913469" y="18152"/>
                    <a:pt x="917450" y="27762"/>
                    <a:pt x="917450" y="37782"/>
                  </a:cubicBezTo>
                  <a:lnTo>
                    <a:pt x="917450" y="452242"/>
                  </a:lnTo>
                  <a:cubicBezTo>
                    <a:pt x="917450" y="462262"/>
                    <a:pt x="913469" y="471872"/>
                    <a:pt x="906384" y="478958"/>
                  </a:cubicBezTo>
                  <a:cubicBezTo>
                    <a:pt x="899298" y="486043"/>
                    <a:pt x="889688" y="490024"/>
                    <a:pt x="879668" y="490024"/>
                  </a:cubicBezTo>
                  <a:lnTo>
                    <a:pt x="37782" y="490024"/>
                  </a:lnTo>
                  <a:cubicBezTo>
                    <a:pt x="27762" y="490024"/>
                    <a:pt x="18152" y="486043"/>
                    <a:pt x="11066" y="478958"/>
                  </a:cubicBezTo>
                  <a:cubicBezTo>
                    <a:pt x="3981" y="471872"/>
                    <a:pt x="0" y="462262"/>
                    <a:pt x="0" y="452242"/>
                  </a:cubicBezTo>
                  <a:lnTo>
                    <a:pt x="0" y="37782"/>
                  </a:lnTo>
                  <a:cubicBezTo>
                    <a:pt x="0" y="27762"/>
                    <a:pt x="3981" y="18152"/>
                    <a:pt x="11066" y="11066"/>
                  </a:cubicBezTo>
                  <a:cubicBezTo>
                    <a:pt x="18152" y="3981"/>
                    <a:pt x="27762" y="0"/>
                    <a:pt x="37782" y="0"/>
                  </a:cubicBezTo>
                  <a:close/>
                </a:path>
              </a:pathLst>
            </a:custGeom>
            <a:solidFill>
              <a:srgbClr val="F9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6"/>
            <p:cNvSpPr txBox="1"/>
            <p:nvPr/>
          </p:nvSpPr>
          <p:spPr>
            <a:xfrm>
              <a:off x="0" y="-85725"/>
              <a:ext cx="917450" cy="5757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p6"/>
          <p:cNvSpPr txBox="1"/>
          <p:nvPr/>
        </p:nvSpPr>
        <p:spPr>
          <a:xfrm>
            <a:off x="1861032" y="7737558"/>
            <a:ext cx="3300995" cy="1225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1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行銷策略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5650899" y="7988285"/>
            <a:ext cx="2412107" cy="81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方案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9581087" y="7491725"/>
            <a:ext cx="2453871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自有品牌</a:t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13011102" y="7466781"/>
            <a:ext cx="2449572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品類拓展</a:t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9598420" y="8558033"/>
            <a:ext cx="2453871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促銷方案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13047984" y="8566348"/>
            <a:ext cx="2412690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抽獎活動</a:t>
            </a:r>
            <a:endParaRPr/>
          </a:p>
        </p:txBody>
      </p:sp>
      <p:grpSp>
        <p:nvGrpSpPr>
          <p:cNvPr id="225" name="Google Shape;225;p6"/>
          <p:cNvGrpSpPr/>
          <p:nvPr/>
        </p:nvGrpSpPr>
        <p:grpSpPr>
          <a:xfrm>
            <a:off x="5482897" y="2304466"/>
            <a:ext cx="11193690" cy="8326328"/>
            <a:chOff x="0" y="-85725"/>
            <a:chExt cx="2948132" cy="2192942"/>
          </a:xfrm>
        </p:grpSpPr>
        <p:sp>
          <p:nvSpPr>
            <p:cNvPr id="226" name="Google Shape;226;p6"/>
            <p:cNvSpPr/>
            <p:nvPr/>
          </p:nvSpPr>
          <p:spPr>
            <a:xfrm>
              <a:off x="0" y="0"/>
              <a:ext cx="2948132" cy="2107217"/>
            </a:xfrm>
            <a:custGeom>
              <a:rect b="b" l="l" r="r" t="t"/>
              <a:pathLst>
                <a:path extrusionOk="0" h="2107217" w="2948132">
                  <a:moveTo>
                    <a:pt x="0" y="0"/>
                  </a:moveTo>
                  <a:lnTo>
                    <a:pt x="2948132" y="0"/>
                  </a:lnTo>
                  <a:lnTo>
                    <a:pt x="2948132" y="2107217"/>
                  </a:lnTo>
                  <a:lnTo>
                    <a:pt x="0" y="2107217"/>
                  </a:lnTo>
                  <a:close/>
                </a:path>
              </a:pathLst>
            </a:custGeom>
            <a:solidFill>
              <a:srgbClr val="FFFFFF">
                <a:alpha val="86666"/>
              </a:srgbClr>
            </a:solidFill>
            <a:ln>
              <a:noFill/>
            </a:ln>
          </p:spPr>
        </p:sp>
        <p:sp>
          <p:nvSpPr>
            <p:cNvPr id="227" name="Google Shape;227;p6"/>
            <p:cNvSpPr txBox="1"/>
            <p:nvPr/>
          </p:nvSpPr>
          <p:spPr>
            <a:xfrm>
              <a:off x="0" y="-85725"/>
              <a:ext cx="2948132" cy="2192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7"/>
          <p:cNvGrpSpPr/>
          <p:nvPr/>
        </p:nvGrpSpPr>
        <p:grpSpPr>
          <a:xfrm>
            <a:off x="1678584" y="703213"/>
            <a:ext cx="3483443" cy="1672475"/>
            <a:chOff x="0" y="-85725"/>
            <a:chExt cx="917450" cy="440487"/>
          </a:xfrm>
        </p:grpSpPr>
        <p:sp>
          <p:nvSpPr>
            <p:cNvPr id="233" name="Google Shape;233;p7"/>
            <p:cNvSpPr/>
            <p:nvPr/>
          </p:nvSpPr>
          <p:spPr>
            <a:xfrm>
              <a:off x="0" y="0"/>
              <a:ext cx="917450" cy="354762"/>
            </a:xfrm>
            <a:custGeom>
              <a:rect b="b" l="l" r="r" t="t"/>
              <a:pathLst>
                <a:path extrusionOk="0" h="354762" w="917450">
                  <a:moveTo>
                    <a:pt x="37782" y="0"/>
                  </a:moveTo>
                  <a:lnTo>
                    <a:pt x="879668" y="0"/>
                  </a:lnTo>
                  <a:cubicBezTo>
                    <a:pt x="889688" y="0"/>
                    <a:pt x="899298" y="3981"/>
                    <a:pt x="906384" y="11066"/>
                  </a:cubicBezTo>
                  <a:cubicBezTo>
                    <a:pt x="913469" y="18152"/>
                    <a:pt x="917450" y="27762"/>
                    <a:pt x="917450" y="37782"/>
                  </a:cubicBezTo>
                  <a:lnTo>
                    <a:pt x="917450" y="316980"/>
                  </a:lnTo>
                  <a:cubicBezTo>
                    <a:pt x="917450" y="327001"/>
                    <a:pt x="913469" y="336611"/>
                    <a:pt x="906384" y="343696"/>
                  </a:cubicBezTo>
                  <a:cubicBezTo>
                    <a:pt x="899298" y="350782"/>
                    <a:pt x="889688" y="354762"/>
                    <a:pt x="879668" y="354762"/>
                  </a:cubicBezTo>
                  <a:lnTo>
                    <a:pt x="37782" y="354762"/>
                  </a:lnTo>
                  <a:cubicBezTo>
                    <a:pt x="27762" y="354762"/>
                    <a:pt x="18152" y="350782"/>
                    <a:pt x="11066" y="343696"/>
                  </a:cubicBezTo>
                  <a:cubicBezTo>
                    <a:pt x="3981" y="336611"/>
                    <a:pt x="0" y="327001"/>
                    <a:pt x="0" y="316980"/>
                  </a:cubicBezTo>
                  <a:lnTo>
                    <a:pt x="0" y="37782"/>
                  </a:lnTo>
                  <a:cubicBezTo>
                    <a:pt x="0" y="27762"/>
                    <a:pt x="3981" y="18152"/>
                    <a:pt x="11066" y="11066"/>
                  </a:cubicBezTo>
                  <a:cubicBezTo>
                    <a:pt x="18152" y="3981"/>
                    <a:pt x="27762" y="0"/>
                    <a:pt x="37782" y="0"/>
                  </a:cubicBezTo>
                  <a:close/>
                </a:path>
              </a:pathLst>
            </a:custGeom>
            <a:solidFill>
              <a:srgbClr val="F9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7"/>
            <p:cNvSpPr txBox="1"/>
            <p:nvPr/>
          </p:nvSpPr>
          <p:spPr>
            <a:xfrm>
              <a:off x="0" y="-85725"/>
              <a:ext cx="917450" cy="440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7"/>
          <p:cNvGrpSpPr/>
          <p:nvPr/>
        </p:nvGrpSpPr>
        <p:grpSpPr>
          <a:xfrm>
            <a:off x="2174143" y="744570"/>
            <a:ext cx="13828812" cy="1631118"/>
            <a:chOff x="0" y="-378841"/>
            <a:chExt cx="18438416" cy="2174826"/>
          </a:xfrm>
        </p:grpSpPr>
        <p:grpSp>
          <p:nvGrpSpPr>
            <p:cNvPr id="236" name="Google Shape;236;p7"/>
            <p:cNvGrpSpPr/>
            <p:nvPr/>
          </p:nvGrpSpPr>
          <p:grpSpPr>
            <a:xfrm>
              <a:off x="4609310" y="-378841"/>
              <a:ext cx="13829106" cy="2174826"/>
              <a:chOff x="0" y="-85725"/>
              <a:chExt cx="3129286" cy="492125"/>
            </a:xfrm>
          </p:grpSpPr>
          <p:sp>
            <p:nvSpPr>
              <p:cNvPr id="237" name="Google Shape;237;p7"/>
              <p:cNvSpPr/>
              <p:nvPr/>
            </p:nvSpPr>
            <p:spPr>
              <a:xfrm>
                <a:off x="0" y="0"/>
                <a:ext cx="3129286" cy="406400"/>
              </a:xfrm>
              <a:custGeom>
                <a:rect b="b" l="l" r="r" t="t"/>
                <a:pathLst>
                  <a:path extrusionOk="0" h="406400" w="3129286">
                    <a:moveTo>
                      <a:pt x="12689" y="0"/>
                    </a:moveTo>
                    <a:lnTo>
                      <a:pt x="3116596" y="0"/>
                    </a:lnTo>
                    <a:cubicBezTo>
                      <a:pt x="3123604" y="0"/>
                      <a:pt x="3129286" y="5681"/>
                      <a:pt x="3129286" y="12689"/>
                    </a:cubicBezTo>
                    <a:lnTo>
                      <a:pt x="3129286" y="393711"/>
                    </a:lnTo>
                    <a:cubicBezTo>
                      <a:pt x="3129286" y="400719"/>
                      <a:pt x="3123604" y="406400"/>
                      <a:pt x="3116596" y="406400"/>
                    </a:cubicBezTo>
                    <a:lnTo>
                      <a:pt x="12689" y="406400"/>
                    </a:lnTo>
                    <a:cubicBezTo>
                      <a:pt x="5681" y="406400"/>
                      <a:pt x="0" y="400719"/>
                      <a:pt x="0" y="393711"/>
                    </a:cubicBezTo>
                    <a:lnTo>
                      <a:pt x="0" y="12689"/>
                    </a:lnTo>
                    <a:cubicBezTo>
                      <a:pt x="0" y="5681"/>
                      <a:pt x="5681" y="0"/>
                      <a:pt x="12689" y="0"/>
                    </a:cubicBez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7"/>
              <p:cNvSpPr txBox="1"/>
              <p:nvPr/>
            </p:nvSpPr>
            <p:spPr>
              <a:xfrm>
                <a:off x="0" y="-85725"/>
                <a:ext cx="3129286" cy="492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4325" lIns="44325" spcFirstLastPara="1" rIns="44325" wrap="square" tIns="44325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9" name="Google Shape;239;p7"/>
            <p:cNvSpPr txBox="1"/>
            <p:nvPr/>
          </p:nvSpPr>
          <p:spPr>
            <a:xfrm>
              <a:off x="0" y="2663"/>
              <a:ext cx="3566364" cy="1536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110" u="none" cap="none" strike="noStrike">
                  <a:solidFill>
                    <a:srgbClr val="0C63AE"/>
                  </a:solidFill>
                  <a:latin typeface="Arial"/>
                  <a:ea typeface="Arial"/>
                  <a:cs typeface="Arial"/>
                  <a:sym typeface="Arial"/>
                </a:rPr>
                <a:t>GOAL</a:t>
              </a:r>
              <a:endParaRPr/>
            </a:p>
          </p:txBody>
        </p:sp>
        <p:sp>
          <p:nvSpPr>
            <p:cNvPr id="240" name="Google Shape;240;p7"/>
            <p:cNvSpPr txBox="1"/>
            <p:nvPr/>
          </p:nvSpPr>
          <p:spPr>
            <a:xfrm>
              <a:off x="7958491" y="58095"/>
              <a:ext cx="9322504" cy="156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28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提升獲利與營收</a:t>
              </a:r>
              <a:endParaRPr/>
            </a:p>
          </p:txBody>
        </p:sp>
      </p:grpSp>
      <p:grpSp>
        <p:nvGrpSpPr>
          <p:cNvPr id="241" name="Google Shape;241;p7"/>
          <p:cNvGrpSpPr/>
          <p:nvPr/>
        </p:nvGrpSpPr>
        <p:grpSpPr>
          <a:xfrm>
            <a:off x="1678584" y="2476534"/>
            <a:ext cx="3483443" cy="4591610"/>
            <a:chOff x="0" y="-85725"/>
            <a:chExt cx="917450" cy="1209313"/>
          </a:xfrm>
        </p:grpSpPr>
        <p:sp>
          <p:nvSpPr>
            <p:cNvPr id="242" name="Google Shape;242;p7"/>
            <p:cNvSpPr/>
            <p:nvPr/>
          </p:nvSpPr>
          <p:spPr>
            <a:xfrm>
              <a:off x="0" y="0"/>
              <a:ext cx="917450" cy="1123588"/>
            </a:xfrm>
            <a:custGeom>
              <a:rect b="b" l="l" r="r" t="t"/>
              <a:pathLst>
                <a:path extrusionOk="0" h="1123588" w="917450">
                  <a:moveTo>
                    <a:pt x="37782" y="0"/>
                  </a:moveTo>
                  <a:lnTo>
                    <a:pt x="879668" y="0"/>
                  </a:lnTo>
                  <a:cubicBezTo>
                    <a:pt x="889688" y="0"/>
                    <a:pt x="899298" y="3981"/>
                    <a:pt x="906384" y="11066"/>
                  </a:cubicBezTo>
                  <a:cubicBezTo>
                    <a:pt x="913469" y="18152"/>
                    <a:pt x="917450" y="27762"/>
                    <a:pt x="917450" y="37782"/>
                  </a:cubicBezTo>
                  <a:lnTo>
                    <a:pt x="917450" y="1085806"/>
                  </a:lnTo>
                  <a:cubicBezTo>
                    <a:pt x="917450" y="1095826"/>
                    <a:pt x="913469" y="1105436"/>
                    <a:pt x="906384" y="1112522"/>
                  </a:cubicBezTo>
                  <a:cubicBezTo>
                    <a:pt x="899298" y="1119607"/>
                    <a:pt x="889688" y="1123588"/>
                    <a:pt x="879668" y="1123588"/>
                  </a:cubicBezTo>
                  <a:lnTo>
                    <a:pt x="37782" y="1123588"/>
                  </a:lnTo>
                  <a:cubicBezTo>
                    <a:pt x="27762" y="1123588"/>
                    <a:pt x="18152" y="1119607"/>
                    <a:pt x="11066" y="1112522"/>
                  </a:cubicBezTo>
                  <a:cubicBezTo>
                    <a:pt x="3981" y="1105436"/>
                    <a:pt x="0" y="1095826"/>
                    <a:pt x="0" y="1085806"/>
                  </a:cubicBezTo>
                  <a:lnTo>
                    <a:pt x="0" y="37782"/>
                  </a:lnTo>
                  <a:cubicBezTo>
                    <a:pt x="0" y="27762"/>
                    <a:pt x="3981" y="18152"/>
                    <a:pt x="11066" y="11066"/>
                  </a:cubicBezTo>
                  <a:cubicBezTo>
                    <a:pt x="18152" y="3981"/>
                    <a:pt x="27762" y="0"/>
                    <a:pt x="37782" y="0"/>
                  </a:cubicBezTo>
                  <a:close/>
                </a:path>
              </a:pathLst>
            </a:custGeom>
            <a:solidFill>
              <a:srgbClr val="F9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7"/>
            <p:cNvSpPr txBox="1"/>
            <p:nvPr/>
          </p:nvSpPr>
          <p:spPr>
            <a:xfrm>
              <a:off x="0" y="-85725"/>
              <a:ext cx="917450" cy="1209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7"/>
          <p:cNvGrpSpPr/>
          <p:nvPr/>
        </p:nvGrpSpPr>
        <p:grpSpPr>
          <a:xfrm>
            <a:off x="8974354" y="5908473"/>
            <a:ext cx="3288874" cy="1159671"/>
            <a:chOff x="0" y="-85725"/>
            <a:chExt cx="992287" cy="349885"/>
          </a:xfrm>
        </p:grpSpPr>
        <p:sp>
          <p:nvSpPr>
            <p:cNvPr id="245" name="Google Shape;245;p7"/>
            <p:cNvSpPr/>
            <p:nvPr/>
          </p:nvSpPr>
          <p:spPr>
            <a:xfrm>
              <a:off x="0" y="0"/>
              <a:ext cx="992287" cy="264160"/>
            </a:xfrm>
            <a:custGeom>
              <a:rect b="b" l="l" r="r" t="t"/>
              <a:pathLst>
                <a:path extrusionOk="0" h="264160" w="992287">
                  <a:moveTo>
                    <a:pt x="40018" y="0"/>
                  </a:moveTo>
                  <a:lnTo>
                    <a:pt x="952269" y="0"/>
                  </a:lnTo>
                  <a:cubicBezTo>
                    <a:pt x="962882" y="0"/>
                    <a:pt x="973061" y="4216"/>
                    <a:pt x="980566" y="11721"/>
                  </a:cubicBezTo>
                  <a:cubicBezTo>
                    <a:pt x="988070" y="19226"/>
                    <a:pt x="992287" y="29404"/>
                    <a:pt x="992287" y="40018"/>
                  </a:cubicBezTo>
                  <a:lnTo>
                    <a:pt x="992287" y="224142"/>
                  </a:lnTo>
                  <a:cubicBezTo>
                    <a:pt x="992287" y="246243"/>
                    <a:pt x="974370" y="264160"/>
                    <a:pt x="952269" y="264160"/>
                  </a:cubicBezTo>
                  <a:lnTo>
                    <a:pt x="40018" y="264160"/>
                  </a:lnTo>
                  <a:cubicBezTo>
                    <a:pt x="29404" y="264160"/>
                    <a:pt x="19226" y="259944"/>
                    <a:pt x="11721" y="252439"/>
                  </a:cubicBezTo>
                  <a:cubicBezTo>
                    <a:pt x="4216" y="244934"/>
                    <a:pt x="0" y="234755"/>
                    <a:pt x="0" y="224142"/>
                  </a:cubicBezTo>
                  <a:lnTo>
                    <a:pt x="0" y="40018"/>
                  </a:lnTo>
                  <a:cubicBezTo>
                    <a:pt x="0" y="29404"/>
                    <a:pt x="4216" y="19226"/>
                    <a:pt x="11721" y="11721"/>
                  </a:cubicBezTo>
                  <a:cubicBezTo>
                    <a:pt x="19226" y="4216"/>
                    <a:pt x="29404" y="0"/>
                    <a:pt x="40018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7"/>
            <p:cNvSpPr txBox="1"/>
            <p:nvPr/>
          </p:nvSpPr>
          <p:spPr>
            <a:xfrm>
              <a:off x="0" y="-85725"/>
              <a:ext cx="992287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7"/>
          <p:cNvGrpSpPr/>
          <p:nvPr/>
        </p:nvGrpSpPr>
        <p:grpSpPr>
          <a:xfrm>
            <a:off x="12601904" y="5908473"/>
            <a:ext cx="3211599" cy="1159671"/>
            <a:chOff x="0" y="-85725"/>
            <a:chExt cx="968972" cy="349885"/>
          </a:xfrm>
        </p:grpSpPr>
        <p:sp>
          <p:nvSpPr>
            <p:cNvPr id="248" name="Google Shape;248;p7"/>
            <p:cNvSpPr/>
            <p:nvPr/>
          </p:nvSpPr>
          <p:spPr>
            <a:xfrm>
              <a:off x="0" y="0"/>
              <a:ext cx="968972" cy="264160"/>
            </a:xfrm>
            <a:custGeom>
              <a:rect b="b" l="l" r="r" t="t"/>
              <a:pathLst>
                <a:path extrusionOk="0" h="264160" w="968972">
                  <a:moveTo>
                    <a:pt x="40980" y="0"/>
                  </a:moveTo>
                  <a:lnTo>
                    <a:pt x="927991" y="0"/>
                  </a:lnTo>
                  <a:cubicBezTo>
                    <a:pt x="938860" y="0"/>
                    <a:pt x="949284" y="4318"/>
                    <a:pt x="956969" y="12003"/>
                  </a:cubicBezTo>
                  <a:cubicBezTo>
                    <a:pt x="964654" y="19688"/>
                    <a:pt x="968972" y="30112"/>
                    <a:pt x="968972" y="40980"/>
                  </a:cubicBezTo>
                  <a:lnTo>
                    <a:pt x="968972" y="223179"/>
                  </a:lnTo>
                  <a:cubicBezTo>
                    <a:pt x="968972" y="245812"/>
                    <a:pt x="950624" y="264160"/>
                    <a:pt x="927991" y="264160"/>
                  </a:cubicBezTo>
                  <a:lnTo>
                    <a:pt x="40980" y="264160"/>
                  </a:lnTo>
                  <a:cubicBezTo>
                    <a:pt x="30112" y="264160"/>
                    <a:pt x="19688" y="259842"/>
                    <a:pt x="12003" y="252157"/>
                  </a:cubicBezTo>
                  <a:cubicBezTo>
                    <a:pt x="4318" y="244471"/>
                    <a:pt x="0" y="234048"/>
                    <a:pt x="0" y="223179"/>
                  </a:cubicBezTo>
                  <a:lnTo>
                    <a:pt x="0" y="40980"/>
                  </a:lnTo>
                  <a:cubicBezTo>
                    <a:pt x="0" y="30112"/>
                    <a:pt x="4318" y="19688"/>
                    <a:pt x="12003" y="12003"/>
                  </a:cubicBezTo>
                  <a:cubicBezTo>
                    <a:pt x="19688" y="4318"/>
                    <a:pt x="30112" y="0"/>
                    <a:pt x="40980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7"/>
            <p:cNvSpPr txBox="1"/>
            <p:nvPr/>
          </p:nvSpPr>
          <p:spPr>
            <a:xfrm>
              <a:off x="0" y="-85725"/>
              <a:ext cx="968972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7"/>
          <p:cNvGrpSpPr/>
          <p:nvPr/>
        </p:nvGrpSpPr>
        <p:grpSpPr>
          <a:xfrm>
            <a:off x="8873465" y="2517891"/>
            <a:ext cx="6976920" cy="1098975"/>
            <a:chOff x="0" y="-85725"/>
            <a:chExt cx="2105007" cy="331572"/>
          </a:xfrm>
        </p:grpSpPr>
        <p:sp>
          <p:nvSpPr>
            <p:cNvPr id="251" name="Google Shape;251;p7"/>
            <p:cNvSpPr/>
            <p:nvPr/>
          </p:nvSpPr>
          <p:spPr>
            <a:xfrm>
              <a:off x="0" y="0"/>
              <a:ext cx="2105007" cy="245847"/>
            </a:xfrm>
            <a:custGeom>
              <a:rect b="b" l="l" r="r" t="t"/>
              <a:pathLst>
                <a:path extrusionOk="0" h="245847" w="2105007">
                  <a:moveTo>
                    <a:pt x="18864" y="0"/>
                  </a:moveTo>
                  <a:lnTo>
                    <a:pt x="2086143" y="0"/>
                  </a:lnTo>
                  <a:cubicBezTo>
                    <a:pt x="2091146" y="0"/>
                    <a:pt x="2095944" y="1987"/>
                    <a:pt x="2099482" y="5525"/>
                  </a:cubicBezTo>
                  <a:cubicBezTo>
                    <a:pt x="2103020" y="9063"/>
                    <a:pt x="2105007" y="13861"/>
                    <a:pt x="2105007" y="18864"/>
                  </a:cubicBezTo>
                  <a:lnTo>
                    <a:pt x="2105007" y="226983"/>
                  </a:lnTo>
                  <a:cubicBezTo>
                    <a:pt x="2105007" y="231986"/>
                    <a:pt x="2103020" y="236784"/>
                    <a:pt x="2099482" y="240322"/>
                  </a:cubicBezTo>
                  <a:cubicBezTo>
                    <a:pt x="2095944" y="243859"/>
                    <a:pt x="2091146" y="245847"/>
                    <a:pt x="2086143" y="245847"/>
                  </a:cubicBezTo>
                  <a:lnTo>
                    <a:pt x="18864" y="245847"/>
                  </a:lnTo>
                  <a:cubicBezTo>
                    <a:pt x="13861" y="245847"/>
                    <a:pt x="9063" y="243859"/>
                    <a:pt x="5525" y="240322"/>
                  </a:cubicBezTo>
                  <a:cubicBezTo>
                    <a:pt x="1987" y="236784"/>
                    <a:pt x="0" y="231986"/>
                    <a:pt x="0" y="226983"/>
                  </a:cubicBezTo>
                  <a:lnTo>
                    <a:pt x="0" y="18864"/>
                  </a:lnTo>
                  <a:cubicBezTo>
                    <a:pt x="0" y="13861"/>
                    <a:pt x="1987" y="9063"/>
                    <a:pt x="5525" y="5525"/>
                  </a:cubicBezTo>
                  <a:cubicBezTo>
                    <a:pt x="9063" y="1987"/>
                    <a:pt x="13861" y="0"/>
                    <a:pt x="18864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7"/>
            <p:cNvSpPr txBox="1"/>
            <p:nvPr/>
          </p:nvSpPr>
          <p:spPr>
            <a:xfrm>
              <a:off x="0" y="-85725"/>
              <a:ext cx="2105007" cy="331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7"/>
          <p:cNvGrpSpPr/>
          <p:nvPr/>
        </p:nvGrpSpPr>
        <p:grpSpPr>
          <a:xfrm>
            <a:off x="5729428" y="2517891"/>
            <a:ext cx="2399576" cy="1098975"/>
            <a:chOff x="0" y="-85725"/>
            <a:chExt cx="723976" cy="331572"/>
          </a:xfrm>
        </p:grpSpPr>
        <p:sp>
          <p:nvSpPr>
            <p:cNvPr id="254" name="Google Shape;254;p7"/>
            <p:cNvSpPr/>
            <p:nvPr/>
          </p:nvSpPr>
          <p:spPr>
            <a:xfrm>
              <a:off x="0" y="0"/>
              <a:ext cx="723976" cy="245847"/>
            </a:xfrm>
            <a:custGeom>
              <a:rect b="b" l="l" r="r" t="t"/>
              <a:pathLst>
                <a:path extrusionOk="0" h="245847" w="723976">
                  <a:moveTo>
                    <a:pt x="54848" y="0"/>
                  </a:moveTo>
                  <a:lnTo>
                    <a:pt x="669128" y="0"/>
                  </a:lnTo>
                  <a:cubicBezTo>
                    <a:pt x="699420" y="0"/>
                    <a:pt x="723976" y="24556"/>
                    <a:pt x="723976" y="54848"/>
                  </a:cubicBezTo>
                  <a:lnTo>
                    <a:pt x="723976" y="190999"/>
                  </a:lnTo>
                  <a:cubicBezTo>
                    <a:pt x="723976" y="205545"/>
                    <a:pt x="718198" y="219496"/>
                    <a:pt x="707911" y="229782"/>
                  </a:cubicBezTo>
                  <a:cubicBezTo>
                    <a:pt x="697625" y="240068"/>
                    <a:pt x="683675" y="245847"/>
                    <a:pt x="669128" y="245847"/>
                  </a:cubicBezTo>
                  <a:lnTo>
                    <a:pt x="54848" y="245847"/>
                  </a:lnTo>
                  <a:cubicBezTo>
                    <a:pt x="24556" y="245847"/>
                    <a:pt x="0" y="221290"/>
                    <a:pt x="0" y="190999"/>
                  </a:cubicBezTo>
                  <a:lnTo>
                    <a:pt x="0" y="54848"/>
                  </a:lnTo>
                  <a:cubicBezTo>
                    <a:pt x="0" y="40302"/>
                    <a:pt x="5779" y="26351"/>
                    <a:pt x="16065" y="16065"/>
                  </a:cubicBezTo>
                  <a:cubicBezTo>
                    <a:pt x="26351" y="5779"/>
                    <a:pt x="40302" y="0"/>
                    <a:pt x="54848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7"/>
            <p:cNvSpPr txBox="1"/>
            <p:nvPr/>
          </p:nvSpPr>
          <p:spPr>
            <a:xfrm>
              <a:off x="0" y="-85725"/>
              <a:ext cx="723976" cy="331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256;p7"/>
          <p:cNvGrpSpPr/>
          <p:nvPr/>
        </p:nvGrpSpPr>
        <p:grpSpPr>
          <a:xfrm>
            <a:off x="8873465" y="3586498"/>
            <a:ext cx="6976920" cy="1107399"/>
            <a:chOff x="0" y="-85725"/>
            <a:chExt cx="2105007" cy="334113"/>
          </a:xfrm>
        </p:grpSpPr>
        <p:sp>
          <p:nvSpPr>
            <p:cNvPr id="257" name="Google Shape;257;p7"/>
            <p:cNvSpPr/>
            <p:nvPr/>
          </p:nvSpPr>
          <p:spPr>
            <a:xfrm>
              <a:off x="0" y="0"/>
              <a:ext cx="2105007" cy="248388"/>
            </a:xfrm>
            <a:custGeom>
              <a:rect b="b" l="l" r="r" t="t"/>
              <a:pathLst>
                <a:path extrusionOk="0" h="248388" w="2105007">
                  <a:moveTo>
                    <a:pt x="18864" y="0"/>
                  </a:moveTo>
                  <a:lnTo>
                    <a:pt x="2086143" y="0"/>
                  </a:lnTo>
                  <a:cubicBezTo>
                    <a:pt x="2091146" y="0"/>
                    <a:pt x="2095944" y="1987"/>
                    <a:pt x="2099482" y="5525"/>
                  </a:cubicBezTo>
                  <a:cubicBezTo>
                    <a:pt x="2103020" y="9063"/>
                    <a:pt x="2105007" y="13861"/>
                    <a:pt x="2105007" y="18864"/>
                  </a:cubicBezTo>
                  <a:lnTo>
                    <a:pt x="2105007" y="229524"/>
                  </a:lnTo>
                  <a:cubicBezTo>
                    <a:pt x="2105007" y="234527"/>
                    <a:pt x="2103020" y="239325"/>
                    <a:pt x="2099482" y="242863"/>
                  </a:cubicBezTo>
                  <a:cubicBezTo>
                    <a:pt x="2095944" y="246401"/>
                    <a:pt x="2091146" y="248388"/>
                    <a:pt x="2086143" y="248388"/>
                  </a:cubicBezTo>
                  <a:lnTo>
                    <a:pt x="18864" y="248388"/>
                  </a:lnTo>
                  <a:cubicBezTo>
                    <a:pt x="13861" y="248388"/>
                    <a:pt x="9063" y="246401"/>
                    <a:pt x="5525" y="242863"/>
                  </a:cubicBezTo>
                  <a:cubicBezTo>
                    <a:pt x="1987" y="239325"/>
                    <a:pt x="0" y="234527"/>
                    <a:pt x="0" y="229524"/>
                  </a:cubicBezTo>
                  <a:lnTo>
                    <a:pt x="0" y="18864"/>
                  </a:lnTo>
                  <a:cubicBezTo>
                    <a:pt x="0" y="13861"/>
                    <a:pt x="1987" y="9063"/>
                    <a:pt x="5525" y="5525"/>
                  </a:cubicBezTo>
                  <a:cubicBezTo>
                    <a:pt x="9063" y="1987"/>
                    <a:pt x="13861" y="0"/>
                    <a:pt x="18864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7"/>
            <p:cNvSpPr txBox="1"/>
            <p:nvPr/>
          </p:nvSpPr>
          <p:spPr>
            <a:xfrm>
              <a:off x="0" y="-85725"/>
              <a:ext cx="2105007" cy="334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7"/>
          <p:cNvGrpSpPr/>
          <p:nvPr/>
        </p:nvGrpSpPr>
        <p:grpSpPr>
          <a:xfrm>
            <a:off x="5729428" y="3586498"/>
            <a:ext cx="2399576" cy="1107399"/>
            <a:chOff x="0" y="-85725"/>
            <a:chExt cx="723976" cy="334113"/>
          </a:xfrm>
        </p:grpSpPr>
        <p:sp>
          <p:nvSpPr>
            <p:cNvPr id="260" name="Google Shape;260;p7"/>
            <p:cNvSpPr/>
            <p:nvPr/>
          </p:nvSpPr>
          <p:spPr>
            <a:xfrm>
              <a:off x="0" y="0"/>
              <a:ext cx="723976" cy="248388"/>
            </a:xfrm>
            <a:custGeom>
              <a:rect b="b" l="l" r="r" t="t"/>
              <a:pathLst>
                <a:path extrusionOk="0" h="248388" w="723976">
                  <a:moveTo>
                    <a:pt x="54848" y="0"/>
                  </a:moveTo>
                  <a:lnTo>
                    <a:pt x="669128" y="0"/>
                  </a:lnTo>
                  <a:cubicBezTo>
                    <a:pt x="699420" y="0"/>
                    <a:pt x="723976" y="24556"/>
                    <a:pt x="723976" y="54848"/>
                  </a:cubicBezTo>
                  <a:lnTo>
                    <a:pt x="723976" y="193540"/>
                  </a:lnTo>
                  <a:cubicBezTo>
                    <a:pt x="723976" y="208087"/>
                    <a:pt x="718198" y="222038"/>
                    <a:pt x="707911" y="232324"/>
                  </a:cubicBezTo>
                  <a:cubicBezTo>
                    <a:pt x="697625" y="242610"/>
                    <a:pt x="683675" y="248388"/>
                    <a:pt x="669128" y="248388"/>
                  </a:cubicBezTo>
                  <a:lnTo>
                    <a:pt x="54848" y="248388"/>
                  </a:lnTo>
                  <a:cubicBezTo>
                    <a:pt x="24556" y="248388"/>
                    <a:pt x="0" y="223832"/>
                    <a:pt x="0" y="193540"/>
                  </a:cubicBezTo>
                  <a:lnTo>
                    <a:pt x="0" y="54848"/>
                  </a:lnTo>
                  <a:cubicBezTo>
                    <a:pt x="0" y="40302"/>
                    <a:pt x="5779" y="26351"/>
                    <a:pt x="16065" y="16065"/>
                  </a:cubicBezTo>
                  <a:cubicBezTo>
                    <a:pt x="26351" y="5779"/>
                    <a:pt x="40302" y="0"/>
                    <a:pt x="54848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7"/>
            <p:cNvSpPr txBox="1"/>
            <p:nvPr/>
          </p:nvSpPr>
          <p:spPr>
            <a:xfrm>
              <a:off x="0" y="-85725"/>
              <a:ext cx="723976" cy="334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7"/>
          <p:cNvGrpSpPr/>
          <p:nvPr/>
        </p:nvGrpSpPr>
        <p:grpSpPr>
          <a:xfrm>
            <a:off x="8974354" y="4850007"/>
            <a:ext cx="3288874" cy="1159671"/>
            <a:chOff x="0" y="-85725"/>
            <a:chExt cx="992287" cy="349885"/>
          </a:xfrm>
        </p:grpSpPr>
        <p:sp>
          <p:nvSpPr>
            <p:cNvPr id="263" name="Google Shape;263;p7"/>
            <p:cNvSpPr/>
            <p:nvPr/>
          </p:nvSpPr>
          <p:spPr>
            <a:xfrm>
              <a:off x="0" y="0"/>
              <a:ext cx="992287" cy="264160"/>
            </a:xfrm>
            <a:custGeom>
              <a:rect b="b" l="l" r="r" t="t"/>
              <a:pathLst>
                <a:path extrusionOk="0" h="264160" w="992287">
                  <a:moveTo>
                    <a:pt x="40018" y="0"/>
                  </a:moveTo>
                  <a:lnTo>
                    <a:pt x="952269" y="0"/>
                  </a:lnTo>
                  <a:cubicBezTo>
                    <a:pt x="962882" y="0"/>
                    <a:pt x="973061" y="4216"/>
                    <a:pt x="980566" y="11721"/>
                  </a:cubicBezTo>
                  <a:cubicBezTo>
                    <a:pt x="988070" y="19226"/>
                    <a:pt x="992287" y="29404"/>
                    <a:pt x="992287" y="40018"/>
                  </a:cubicBezTo>
                  <a:lnTo>
                    <a:pt x="992287" y="224142"/>
                  </a:lnTo>
                  <a:cubicBezTo>
                    <a:pt x="992287" y="246243"/>
                    <a:pt x="974370" y="264160"/>
                    <a:pt x="952269" y="264160"/>
                  </a:cubicBezTo>
                  <a:lnTo>
                    <a:pt x="40018" y="264160"/>
                  </a:lnTo>
                  <a:cubicBezTo>
                    <a:pt x="29404" y="264160"/>
                    <a:pt x="19226" y="259944"/>
                    <a:pt x="11721" y="252439"/>
                  </a:cubicBezTo>
                  <a:cubicBezTo>
                    <a:pt x="4216" y="244934"/>
                    <a:pt x="0" y="234755"/>
                    <a:pt x="0" y="224142"/>
                  </a:cubicBezTo>
                  <a:lnTo>
                    <a:pt x="0" y="40018"/>
                  </a:lnTo>
                  <a:cubicBezTo>
                    <a:pt x="0" y="29404"/>
                    <a:pt x="4216" y="19226"/>
                    <a:pt x="11721" y="11721"/>
                  </a:cubicBezTo>
                  <a:cubicBezTo>
                    <a:pt x="19226" y="4216"/>
                    <a:pt x="29404" y="0"/>
                    <a:pt x="40018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7"/>
            <p:cNvSpPr txBox="1"/>
            <p:nvPr/>
          </p:nvSpPr>
          <p:spPr>
            <a:xfrm>
              <a:off x="0" y="-85725"/>
              <a:ext cx="992287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7"/>
          <p:cNvGrpSpPr/>
          <p:nvPr/>
        </p:nvGrpSpPr>
        <p:grpSpPr>
          <a:xfrm>
            <a:off x="5729428" y="4850006"/>
            <a:ext cx="2399576" cy="2218138"/>
            <a:chOff x="0" y="-85725"/>
            <a:chExt cx="723976" cy="669234"/>
          </a:xfrm>
        </p:grpSpPr>
        <p:sp>
          <p:nvSpPr>
            <p:cNvPr id="266" name="Google Shape;266;p7"/>
            <p:cNvSpPr/>
            <p:nvPr/>
          </p:nvSpPr>
          <p:spPr>
            <a:xfrm>
              <a:off x="0" y="0"/>
              <a:ext cx="723976" cy="583509"/>
            </a:xfrm>
            <a:custGeom>
              <a:rect b="b" l="l" r="r" t="t"/>
              <a:pathLst>
                <a:path extrusionOk="0" h="583509" w="723976">
                  <a:moveTo>
                    <a:pt x="54848" y="0"/>
                  </a:moveTo>
                  <a:lnTo>
                    <a:pt x="669128" y="0"/>
                  </a:lnTo>
                  <a:cubicBezTo>
                    <a:pt x="699420" y="0"/>
                    <a:pt x="723976" y="24556"/>
                    <a:pt x="723976" y="54848"/>
                  </a:cubicBezTo>
                  <a:lnTo>
                    <a:pt x="723976" y="528661"/>
                  </a:lnTo>
                  <a:cubicBezTo>
                    <a:pt x="723976" y="543208"/>
                    <a:pt x="718198" y="557159"/>
                    <a:pt x="707911" y="567445"/>
                  </a:cubicBezTo>
                  <a:cubicBezTo>
                    <a:pt x="697625" y="577731"/>
                    <a:pt x="683675" y="583509"/>
                    <a:pt x="669128" y="583509"/>
                  </a:cubicBezTo>
                  <a:lnTo>
                    <a:pt x="54848" y="583509"/>
                  </a:lnTo>
                  <a:cubicBezTo>
                    <a:pt x="40302" y="583509"/>
                    <a:pt x="26351" y="577731"/>
                    <a:pt x="16065" y="567445"/>
                  </a:cubicBezTo>
                  <a:cubicBezTo>
                    <a:pt x="5779" y="557159"/>
                    <a:pt x="0" y="543208"/>
                    <a:pt x="0" y="528661"/>
                  </a:cubicBezTo>
                  <a:lnTo>
                    <a:pt x="0" y="54848"/>
                  </a:lnTo>
                  <a:cubicBezTo>
                    <a:pt x="0" y="40302"/>
                    <a:pt x="5779" y="26351"/>
                    <a:pt x="16065" y="16065"/>
                  </a:cubicBezTo>
                  <a:cubicBezTo>
                    <a:pt x="26351" y="5779"/>
                    <a:pt x="40302" y="0"/>
                    <a:pt x="54848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7"/>
            <p:cNvSpPr txBox="1"/>
            <p:nvPr/>
          </p:nvSpPr>
          <p:spPr>
            <a:xfrm>
              <a:off x="0" y="-85725"/>
              <a:ext cx="723976" cy="669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7"/>
          <p:cNvSpPr txBox="1"/>
          <p:nvPr/>
        </p:nvSpPr>
        <p:spPr>
          <a:xfrm>
            <a:off x="5716897" y="5591272"/>
            <a:ext cx="2412107" cy="81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步驟3</a:t>
            </a:r>
            <a:endParaRPr/>
          </a:p>
        </p:txBody>
      </p:sp>
      <p:grpSp>
        <p:nvGrpSpPr>
          <p:cNvPr id="269" name="Google Shape;269;p7"/>
          <p:cNvGrpSpPr/>
          <p:nvPr/>
        </p:nvGrpSpPr>
        <p:grpSpPr>
          <a:xfrm>
            <a:off x="12601904" y="4850007"/>
            <a:ext cx="3211599" cy="1159671"/>
            <a:chOff x="0" y="-85725"/>
            <a:chExt cx="968972" cy="349885"/>
          </a:xfrm>
        </p:grpSpPr>
        <p:sp>
          <p:nvSpPr>
            <p:cNvPr id="270" name="Google Shape;270;p7"/>
            <p:cNvSpPr/>
            <p:nvPr/>
          </p:nvSpPr>
          <p:spPr>
            <a:xfrm>
              <a:off x="0" y="0"/>
              <a:ext cx="968972" cy="264160"/>
            </a:xfrm>
            <a:custGeom>
              <a:rect b="b" l="l" r="r" t="t"/>
              <a:pathLst>
                <a:path extrusionOk="0" h="264160" w="968972">
                  <a:moveTo>
                    <a:pt x="40980" y="0"/>
                  </a:moveTo>
                  <a:lnTo>
                    <a:pt x="927991" y="0"/>
                  </a:lnTo>
                  <a:cubicBezTo>
                    <a:pt x="938860" y="0"/>
                    <a:pt x="949284" y="4318"/>
                    <a:pt x="956969" y="12003"/>
                  </a:cubicBezTo>
                  <a:cubicBezTo>
                    <a:pt x="964654" y="19688"/>
                    <a:pt x="968972" y="30112"/>
                    <a:pt x="968972" y="40980"/>
                  </a:cubicBezTo>
                  <a:lnTo>
                    <a:pt x="968972" y="223179"/>
                  </a:lnTo>
                  <a:cubicBezTo>
                    <a:pt x="968972" y="245812"/>
                    <a:pt x="950624" y="264160"/>
                    <a:pt x="927991" y="264160"/>
                  </a:cubicBezTo>
                  <a:lnTo>
                    <a:pt x="40980" y="264160"/>
                  </a:lnTo>
                  <a:cubicBezTo>
                    <a:pt x="30112" y="264160"/>
                    <a:pt x="19688" y="259842"/>
                    <a:pt x="12003" y="252157"/>
                  </a:cubicBezTo>
                  <a:cubicBezTo>
                    <a:pt x="4318" y="244471"/>
                    <a:pt x="0" y="234048"/>
                    <a:pt x="0" y="223179"/>
                  </a:cubicBezTo>
                  <a:lnTo>
                    <a:pt x="0" y="40980"/>
                  </a:lnTo>
                  <a:cubicBezTo>
                    <a:pt x="0" y="30112"/>
                    <a:pt x="4318" y="19688"/>
                    <a:pt x="12003" y="12003"/>
                  </a:cubicBezTo>
                  <a:cubicBezTo>
                    <a:pt x="19688" y="4318"/>
                    <a:pt x="30112" y="0"/>
                    <a:pt x="40980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7"/>
            <p:cNvSpPr txBox="1"/>
            <p:nvPr/>
          </p:nvSpPr>
          <p:spPr>
            <a:xfrm>
              <a:off x="0" y="-85725"/>
              <a:ext cx="968972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7"/>
          <p:cNvSpPr txBox="1"/>
          <p:nvPr/>
        </p:nvSpPr>
        <p:spPr>
          <a:xfrm>
            <a:off x="1862296" y="4189740"/>
            <a:ext cx="3116019" cy="1225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1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分析流程</a:t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6170999" y="2715075"/>
            <a:ext cx="2412107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步驟１</a:t>
            </a:r>
            <a:endParaRPr/>
          </a:p>
        </p:txBody>
      </p:sp>
      <p:sp>
        <p:nvSpPr>
          <p:cNvPr id="274" name="Google Shape;274;p7"/>
          <p:cNvSpPr txBox="1"/>
          <p:nvPr/>
        </p:nvSpPr>
        <p:spPr>
          <a:xfrm>
            <a:off x="10536820" y="2698446"/>
            <a:ext cx="6722480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Top 40 營收品類</a:t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5716897" y="3807743"/>
            <a:ext cx="2412107" cy="81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步驟2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10486932" y="3807743"/>
            <a:ext cx="6722480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層級式集群分析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9581087" y="5102453"/>
            <a:ext cx="2524405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日常用品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12831347" y="5102453"/>
            <a:ext cx="2796075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零食餅乾</a:t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>
            <a:off x="9581087" y="6183817"/>
            <a:ext cx="2453871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電子用品</a:t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12937833" y="6158873"/>
            <a:ext cx="2583104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黃金飾品</a:t>
            </a:r>
            <a:endParaRPr/>
          </a:p>
        </p:txBody>
      </p:sp>
      <p:grpSp>
        <p:nvGrpSpPr>
          <p:cNvPr id="281" name="Google Shape;281;p7"/>
          <p:cNvGrpSpPr/>
          <p:nvPr/>
        </p:nvGrpSpPr>
        <p:grpSpPr>
          <a:xfrm>
            <a:off x="5729428" y="7224223"/>
            <a:ext cx="2399576" cy="2258797"/>
            <a:chOff x="0" y="-85725"/>
            <a:chExt cx="723976" cy="681502"/>
          </a:xfrm>
        </p:grpSpPr>
        <p:sp>
          <p:nvSpPr>
            <p:cNvPr id="282" name="Google Shape;282;p7"/>
            <p:cNvSpPr/>
            <p:nvPr/>
          </p:nvSpPr>
          <p:spPr>
            <a:xfrm>
              <a:off x="0" y="0"/>
              <a:ext cx="723976" cy="595777"/>
            </a:xfrm>
            <a:custGeom>
              <a:rect b="b" l="l" r="r" t="t"/>
              <a:pathLst>
                <a:path extrusionOk="0" h="595777" w="723976">
                  <a:moveTo>
                    <a:pt x="54848" y="0"/>
                  </a:moveTo>
                  <a:lnTo>
                    <a:pt x="669128" y="0"/>
                  </a:lnTo>
                  <a:cubicBezTo>
                    <a:pt x="699420" y="0"/>
                    <a:pt x="723976" y="24556"/>
                    <a:pt x="723976" y="54848"/>
                  </a:cubicBezTo>
                  <a:lnTo>
                    <a:pt x="723976" y="540929"/>
                  </a:lnTo>
                  <a:cubicBezTo>
                    <a:pt x="723976" y="555475"/>
                    <a:pt x="718198" y="569426"/>
                    <a:pt x="707911" y="579712"/>
                  </a:cubicBezTo>
                  <a:cubicBezTo>
                    <a:pt x="697625" y="589998"/>
                    <a:pt x="683675" y="595777"/>
                    <a:pt x="669128" y="595777"/>
                  </a:cubicBezTo>
                  <a:lnTo>
                    <a:pt x="54848" y="595777"/>
                  </a:lnTo>
                  <a:cubicBezTo>
                    <a:pt x="24556" y="595777"/>
                    <a:pt x="0" y="571221"/>
                    <a:pt x="0" y="540929"/>
                  </a:cubicBezTo>
                  <a:lnTo>
                    <a:pt x="0" y="54848"/>
                  </a:lnTo>
                  <a:cubicBezTo>
                    <a:pt x="0" y="40302"/>
                    <a:pt x="5779" y="26351"/>
                    <a:pt x="16065" y="16065"/>
                  </a:cubicBezTo>
                  <a:cubicBezTo>
                    <a:pt x="26351" y="5779"/>
                    <a:pt x="40302" y="0"/>
                    <a:pt x="54848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7"/>
            <p:cNvSpPr txBox="1"/>
            <p:nvPr/>
          </p:nvSpPr>
          <p:spPr>
            <a:xfrm>
              <a:off x="0" y="-85725"/>
              <a:ext cx="723976" cy="6815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7"/>
          <p:cNvGrpSpPr/>
          <p:nvPr/>
        </p:nvGrpSpPr>
        <p:grpSpPr>
          <a:xfrm>
            <a:off x="8974354" y="7240853"/>
            <a:ext cx="3288874" cy="1159671"/>
            <a:chOff x="0" y="-85725"/>
            <a:chExt cx="992287" cy="349885"/>
          </a:xfrm>
        </p:grpSpPr>
        <p:sp>
          <p:nvSpPr>
            <p:cNvPr id="285" name="Google Shape;285;p7"/>
            <p:cNvSpPr/>
            <p:nvPr/>
          </p:nvSpPr>
          <p:spPr>
            <a:xfrm>
              <a:off x="0" y="0"/>
              <a:ext cx="992287" cy="264160"/>
            </a:xfrm>
            <a:custGeom>
              <a:rect b="b" l="l" r="r" t="t"/>
              <a:pathLst>
                <a:path extrusionOk="0" h="264160" w="992287">
                  <a:moveTo>
                    <a:pt x="40018" y="0"/>
                  </a:moveTo>
                  <a:lnTo>
                    <a:pt x="952269" y="0"/>
                  </a:lnTo>
                  <a:cubicBezTo>
                    <a:pt x="962882" y="0"/>
                    <a:pt x="973061" y="4216"/>
                    <a:pt x="980566" y="11721"/>
                  </a:cubicBezTo>
                  <a:cubicBezTo>
                    <a:pt x="988070" y="19226"/>
                    <a:pt x="992287" y="29404"/>
                    <a:pt x="992287" y="40018"/>
                  </a:cubicBezTo>
                  <a:lnTo>
                    <a:pt x="992287" y="224142"/>
                  </a:lnTo>
                  <a:cubicBezTo>
                    <a:pt x="992287" y="246243"/>
                    <a:pt x="974370" y="264160"/>
                    <a:pt x="952269" y="264160"/>
                  </a:cubicBezTo>
                  <a:lnTo>
                    <a:pt x="40018" y="264160"/>
                  </a:lnTo>
                  <a:cubicBezTo>
                    <a:pt x="29404" y="264160"/>
                    <a:pt x="19226" y="259944"/>
                    <a:pt x="11721" y="252439"/>
                  </a:cubicBezTo>
                  <a:cubicBezTo>
                    <a:pt x="4216" y="244934"/>
                    <a:pt x="0" y="234755"/>
                    <a:pt x="0" y="224142"/>
                  </a:cubicBezTo>
                  <a:lnTo>
                    <a:pt x="0" y="40018"/>
                  </a:lnTo>
                  <a:cubicBezTo>
                    <a:pt x="0" y="29404"/>
                    <a:pt x="4216" y="19226"/>
                    <a:pt x="11721" y="11721"/>
                  </a:cubicBezTo>
                  <a:cubicBezTo>
                    <a:pt x="19226" y="4216"/>
                    <a:pt x="29404" y="0"/>
                    <a:pt x="40018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7"/>
            <p:cNvSpPr txBox="1"/>
            <p:nvPr/>
          </p:nvSpPr>
          <p:spPr>
            <a:xfrm>
              <a:off x="0" y="-85725"/>
              <a:ext cx="992287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7"/>
          <p:cNvGrpSpPr/>
          <p:nvPr/>
        </p:nvGrpSpPr>
        <p:grpSpPr>
          <a:xfrm>
            <a:off x="12630089" y="7224223"/>
            <a:ext cx="3211599" cy="1159671"/>
            <a:chOff x="0" y="-85725"/>
            <a:chExt cx="968972" cy="349885"/>
          </a:xfrm>
        </p:grpSpPr>
        <p:sp>
          <p:nvSpPr>
            <p:cNvPr id="288" name="Google Shape;288;p7"/>
            <p:cNvSpPr/>
            <p:nvPr/>
          </p:nvSpPr>
          <p:spPr>
            <a:xfrm>
              <a:off x="0" y="0"/>
              <a:ext cx="968972" cy="264160"/>
            </a:xfrm>
            <a:custGeom>
              <a:rect b="b" l="l" r="r" t="t"/>
              <a:pathLst>
                <a:path extrusionOk="0" h="264160" w="968972">
                  <a:moveTo>
                    <a:pt x="40980" y="0"/>
                  </a:moveTo>
                  <a:lnTo>
                    <a:pt x="927991" y="0"/>
                  </a:lnTo>
                  <a:cubicBezTo>
                    <a:pt x="938860" y="0"/>
                    <a:pt x="949284" y="4318"/>
                    <a:pt x="956969" y="12003"/>
                  </a:cubicBezTo>
                  <a:cubicBezTo>
                    <a:pt x="964654" y="19688"/>
                    <a:pt x="968972" y="30112"/>
                    <a:pt x="968972" y="40980"/>
                  </a:cubicBezTo>
                  <a:lnTo>
                    <a:pt x="968972" y="223179"/>
                  </a:lnTo>
                  <a:cubicBezTo>
                    <a:pt x="968972" y="245812"/>
                    <a:pt x="950624" y="264160"/>
                    <a:pt x="927991" y="264160"/>
                  </a:cubicBezTo>
                  <a:lnTo>
                    <a:pt x="40980" y="264160"/>
                  </a:lnTo>
                  <a:cubicBezTo>
                    <a:pt x="30112" y="264160"/>
                    <a:pt x="19688" y="259842"/>
                    <a:pt x="12003" y="252157"/>
                  </a:cubicBezTo>
                  <a:cubicBezTo>
                    <a:pt x="4318" y="244471"/>
                    <a:pt x="0" y="234048"/>
                    <a:pt x="0" y="223179"/>
                  </a:cubicBezTo>
                  <a:lnTo>
                    <a:pt x="0" y="40980"/>
                  </a:lnTo>
                  <a:cubicBezTo>
                    <a:pt x="0" y="30112"/>
                    <a:pt x="4318" y="19688"/>
                    <a:pt x="12003" y="12003"/>
                  </a:cubicBezTo>
                  <a:cubicBezTo>
                    <a:pt x="19688" y="4318"/>
                    <a:pt x="30112" y="0"/>
                    <a:pt x="40980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7"/>
            <p:cNvSpPr txBox="1"/>
            <p:nvPr/>
          </p:nvSpPr>
          <p:spPr>
            <a:xfrm>
              <a:off x="0" y="-85725"/>
              <a:ext cx="968972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8974354" y="8303034"/>
            <a:ext cx="3288874" cy="1159671"/>
            <a:chOff x="0" y="-85725"/>
            <a:chExt cx="992287" cy="349885"/>
          </a:xfrm>
        </p:grpSpPr>
        <p:sp>
          <p:nvSpPr>
            <p:cNvPr id="291" name="Google Shape;291;p7"/>
            <p:cNvSpPr/>
            <p:nvPr/>
          </p:nvSpPr>
          <p:spPr>
            <a:xfrm>
              <a:off x="0" y="0"/>
              <a:ext cx="992287" cy="264160"/>
            </a:xfrm>
            <a:custGeom>
              <a:rect b="b" l="l" r="r" t="t"/>
              <a:pathLst>
                <a:path extrusionOk="0" h="264160" w="992287">
                  <a:moveTo>
                    <a:pt x="40018" y="0"/>
                  </a:moveTo>
                  <a:lnTo>
                    <a:pt x="952269" y="0"/>
                  </a:lnTo>
                  <a:cubicBezTo>
                    <a:pt x="962882" y="0"/>
                    <a:pt x="973061" y="4216"/>
                    <a:pt x="980566" y="11721"/>
                  </a:cubicBezTo>
                  <a:cubicBezTo>
                    <a:pt x="988070" y="19226"/>
                    <a:pt x="992287" y="29404"/>
                    <a:pt x="992287" y="40018"/>
                  </a:cubicBezTo>
                  <a:lnTo>
                    <a:pt x="992287" y="224142"/>
                  </a:lnTo>
                  <a:cubicBezTo>
                    <a:pt x="992287" y="246243"/>
                    <a:pt x="974370" y="264160"/>
                    <a:pt x="952269" y="264160"/>
                  </a:cubicBezTo>
                  <a:lnTo>
                    <a:pt x="40018" y="264160"/>
                  </a:lnTo>
                  <a:cubicBezTo>
                    <a:pt x="29404" y="264160"/>
                    <a:pt x="19226" y="259944"/>
                    <a:pt x="11721" y="252439"/>
                  </a:cubicBezTo>
                  <a:cubicBezTo>
                    <a:pt x="4216" y="244934"/>
                    <a:pt x="0" y="234755"/>
                    <a:pt x="0" y="224142"/>
                  </a:cubicBezTo>
                  <a:lnTo>
                    <a:pt x="0" y="40018"/>
                  </a:lnTo>
                  <a:cubicBezTo>
                    <a:pt x="0" y="29404"/>
                    <a:pt x="4216" y="19226"/>
                    <a:pt x="11721" y="11721"/>
                  </a:cubicBezTo>
                  <a:cubicBezTo>
                    <a:pt x="19226" y="4216"/>
                    <a:pt x="29404" y="0"/>
                    <a:pt x="40018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7"/>
            <p:cNvSpPr txBox="1"/>
            <p:nvPr/>
          </p:nvSpPr>
          <p:spPr>
            <a:xfrm>
              <a:off x="0" y="-85725"/>
              <a:ext cx="992287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7"/>
          <p:cNvGrpSpPr/>
          <p:nvPr/>
        </p:nvGrpSpPr>
        <p:grpSpPr>
          <a:xfrm>
            <a:off x="12601904" y="8284074"/>
            <a:ext cx="3211599" cy="1159671"/>
            <a:chOff x="0" y="-85725"/>
            <a:chExt cx="968972" cy="349885"/>
          </a:xfrm>
        </p:grpSpPr>
        <p:sp>
          <p:nvSpPr>
            <p:cNvPr id="294" name="Google Shape;294;p7"/>
            <p:cNvSpPr/>
            <p:nvPr/>
          </p:nvSpPr>
          <p:spPr>
            <a:xfrm>
              <a:off x="0" y="0"/>
              <a:ext cx="968972" cy="264160"/>
            </a:xfrm>
            <a:custGeom>
              <a:rect b="b" l="l" r="r" t="t"/>
              <a:pathLst>
                <a:path extrusionOk="0" h="264160" w="968972">
                  <a:moveTo>
                    <a:pt x="40980" y="0"/>
                  </a:moveTo>
                  <a:lnTo>
                    <a:pt x="927991" y="0"/>
                  </a:lnTo>
                  <a:cubicBezTo>
                    <a:pt x="938860" y="0"/>
                    <a:pt x="949284" y="4318"/>
                    <a:pt x="956969" y="12003"/>
                  </a:cubicBezTo>
                  <a:cubicBezTo>
                    <a:pt x="964654" y="19688"/>
                    <a:pt x="968972" y="30112"/>
                    <a:pt x="968972" y="40980"/>
                  </a:cubicBezTo>
                  <a:lnTo>
                    <a:pt x="968972" y="223179"/>
                  </a:lnTo>
                  <a:cubicBezTo>
                    <a:pt x="968972" y="245812"/>
                    <a:pt x="950624" y="264160"/>
                    <a:pt x="927991" y="264160"/>
                  </a:cubicBezTo>
                  <a:lnTo>
                    <a:pt x="40980" y="264160"/>
                  </a:lnTo>
                  <a:cubicBezTo>
                    <a:pt x="30112" y="264160"/>
                    <a:pt x="19688" y="259842"/>
                    <a:pt x="12003" y="252157"/>
                  </a:cubicBezTo>
                  <a:cubicBezTo>
                    <a:pt x="4318" y="244471"/>
                    <a:pt x="0" y="234048"/>
                    <a:pt x="0" y="223179"/>
                  </a:cubicBezTo>
                  <a:lnTo>
                    <a:pt x="0" y="40980"/>
                  </a:lnTo>
                  <a:cubicBezTo>
                    <a:pt x="0" y="30112"/>
                    <a:pt x="4318" y="19688"/>
                    <a:pt x="12003" y="12003"/>
                  </a:cubicBezTo>
                  <a:cubicBezTo>
                    <a:pt x="19688" y="4318"/>
                    <a:pt x="30112" y="0"/>
                    <a:pt x="40980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7"/>
            <p:cNvSpPr txBox="1"/>
            <p:nvPr/>
          </p:nvSpPr>
          <p:spPr>
            <a:xfrm>
              <a:off x="0" y="-85725"/>
              <a:ext cx="968972" cy="34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325" lIns="44325" spcFirstLastPara="1" rIns="44325" wrap="square" tIns="44325">
              <a:no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7"/>
          <p:cNvGrpSpPr/>
          <p:nvPr/>
        </p:nvGrpSpPr>
        <p:grpSpPr>
          <a:xfrm>
            <a:off x="1776208" y="7199496"/>
            <a:ext cx="3483443" cy="2186047"/>
            <a:chOff x="0" y="-85725"/>
            <a:chExt cx="917450" cy="575749"/>
          </a:xfrm>
        </p:grpSpPr>
        <p:sp>
          <p:nvSpPr>
            <p:cNvPr id="297" name="Google Shape;297;p7"/>
            <p:cNvSpPr/>
            <p:nvPr/>
          </p:nvSpPr>
          <p:spPr>
            <a:xfrm>
              <a:off x="0" y="0"/>
              <a:ext cx="917450" cy="490024"/>
            </a:xfrm>
            <a:custGeom>
              <a:rect b="b" l="l" r="r" t="t"/>
              <a:pathLst>
                <a:path extrusionOk="0" h="490024" w="917450">
                  <a:moveTo>
                    <a:pt x="37782" y="0"/>
                  </a:moveTo>
                  <a:lnTo>
                    <a:pt x="879668" y="0"/>
                  </a:lnTo>
                  <a:cubicBezTo>
                    <a:pt x="889688" y="0"/>
                    <a:pt x="899298" y="3981"/>
                    <a:pt x="906384" y="11066"/>
                  </a:cubicBezTo>
                  <a:cubicBezTo>
                    <a:pt x="913469" y="18152"/>
                    <a:pt x="917450" y="27762"/>
                    <a:pt x="917450" y="37782"/>
                  </a:cubicBezTo>
                  <a:lnTo>
                    <a:pt x="917450" y="452242"/>
                  </a:lnTo>
                  <a:cubicBezTo>
                    <a:pt x="917450" y="462262"/>
                    <a:pt x="913469" y="471872"/>
                    <a:pt x="906384" y="478958"/>
                  </a:cubicBezTo>
                  <a:cubicBezTo>
                    <a:pt x="899298" y="486043"/>
                    <a:pt x="889688" y="490024"/>
                    <a:pt x="879668" y="490024"/>
                  </a:cubicBezTo>
                  <a:lnTo>
                    <a:pt x="37782" y="490024"/>
                  </a:lnTo>
                  <a:cubicBezTo>
                    <a:pt x="27762" y="490024"/>
                    <a:pt x="18152" y="486043"/>
                    <a:pt x="11066" y="478958"/>
                  </a:cubicBezTo>
                  <a:cubicBezTo>
                    <a:pt x="3981" y="471872"/>
                    <a:pt x="0" y="462262"/>
                    <a:pt x="0" y="452242"/>
                  </a:cubicBezTo>
                  <a:lnTo>
                    <a:pt x="0" y="37782"/>
                  </a:lnTo>
                  <a:cubicBezTo>
                    <a:pt x="0" y="27762"/>
                    <a:pt x="3981" y="18152"/>
                    <a:pt x="11066" y="11066"/>
                  </a:cubicBezTo>
                  <a:cubicBezTo>
                    <a:pt x="18152" y="3981"/>
                    <a:pt x="27762" y="0"/>
                    <a:pt x="37782" y="0"/>
                  </a:cubicBezTo>
                  <a:close/>
                </a:path>
              </a:pathLst>
            </a:custGeom>
            <a:solidFill>
              <a:srgbClr val="F9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7"/>
            <p:cNvSpPr txBox="1"/>
            <p:nvPr/>
          </p:nvSpPr>
          <p:spPr>
            <a:xfrm>
              <a:off x="0" y="-85725"/>
              <a:ext cx="917450" cy="5757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p7"/>
          <p:cNvSpPr txBox="1"/>
          <p:nvPr/>
        </p:nvSpPr>
        <p:spPr>
          <a:xfrm>
            <a:off x="1861032" y="7737558"/>
            <a:ext cx="3300995" cy="1225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1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行銷策略</a:t>
            </a:r>
            <a:endParaRPr/>
          </a:p>
        </p:txBody>
      </p:sp>
      <p:sp>
        <p:nvSpPr>
          <p:cNvPr id="300" name="Google Shape;300;p7"/>
          <p:cNvSpPr txBox="1"/>
          <p:nvPr/>
        </p:nvSpPr>
        <p:spPr>
          <a:xfrm>
            <a:off x="5650899" y="7988285"/>
            <a:ext cx="2412107" cy="81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方案</a:t>
            </a:r>
            <a:endParaRPr/>
          </a:p>
        </p:txBody>
      </p:sp>
      <p:sp>
        <p:nvSpPr>
          <p:cNvPr id="301" name="Google Shape;301;p7"/>
          <p:cNvSpPr txBox="1"/>
          <p:nvPr/>
        </p:nvSpPr>
        <p:spPr>
          <a:xfrm>
            <a:off x="9581087" y="7491725"/>
            <a:ext cx="2453871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自有品牌</a:t>
            </a:r>
            <a:endParaRPr/>
          </a:p>
        </p:txBody>
      </p:sp>
      <p:sp>
        <p:nvSpPr>
          <p:cNvPr id="302" name="Google Shape;302;p7"/>
          <p:cNvSpPr txBox="1"/>
          <p:nvPr/>
        </p:nvSpPr>
        <p:spPr>
          <a:xfrm>
            <a:off x="13011102" y="7466781"/>
            <a:ext cx="2449572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品類拓展</a:t>
            </a:r>
            <a:endParaRPr/>
          </a:p>
        </p:txBody>
      </p:sp>
      <p:sp>
        <p:nvSpPr>
          <p:cNvPr id="303" name="Google Shape;303;p7"/>
          <p:cNvSpPr txBox="1"/>
          <p:nvPr/>
        </p:nvSpPr>
        <p:spPr>
          <a:xfrm>
            <a:off x="9598420" y="8558033"/>
            <a:ext cx="2453871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促銷方案</a:t>
            </a:r>
            <a:endParaRPr/>
          </a:p>
        </p:txBody>
      </p:sp>
      <p:sp>
        <p:nvSpPr>
          <p:cNvPr id="304" name="Google Shape;304;p7"/>
          <p:cNvSpPr txBox="1"/>
          <p:nvPr/>
        </p:nvSpPr>
        <p:spPr>
          <a:xfrm>
            <a:off x="13047984" y="8566348"/>
            <a:ext cx="2412690" cy="81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抽獎活動</a:t>
            </a:r>
            <a:endParaRPr/>
          </a:p>
        </p:txBody>
      </p:sp>
      <p:grpSp>
        <p:nvGrpSpPr>
          <p:cNvPr id="305" name="Google Shape;305;p7"/>
          <p:cNvGrpSpPr/>
          <p:nvPr/>
        </p:nvGrpSpPr>
        <p:grpSpPr>
          <a:xfrm>
            <a:off x="5716897" y="6923632"/>
            <a:ext cx="11193690" cy="6040263"/>
            <a:chOff x="0" y="-85725"/>
            <a:chExt cx="2948132" cy="1590851"/>
          </a:xfrm>
        </p:grpSpPr>
        <p:sp>
          <p:nvSpPr>
            <p:cNvPr id="306" name="Google Shape;306;p7"/>
            <p:cNvSpPr/>
            <p:nvPr/>
          </p:nvSpPr>
          <p:spPr>
            <a:xfrm>
              <a:off x="0" y="0"/>
              <a:ext cx="2948132" cy="1505126"/>
            </a:xfrm>
            <a:custGeom>
              <a:rect b="b" l="l" r="r" t="t"/>
              <a:pathLst>
                <a:path extrusionOk="0" h="1505126" w="2948132">
                  <a:moveTo>
                    <a:pt x="0" y="0"/>
                  </a:moveTo>
                  <a:lnTo>
                    <a:pt x="2948132" y="0"/>
                  </a:lnTo>
                  <a:lnTo>
                    <a:pt x="2948132" y="1505126"/>
                  </a:lnTo>
                  <a:lnTo>
                    <a:pt x="0" y="1505126"/>
                  </a:lnTo>
                  <a:close/>
                </a:path>
              </a:pathLst>
            </a:custGeom>
            <a:solidFill>
              <a:srgbClr val="FFFFFF">
                <a:alpha val="86666"/>
              </a:srgbClr>
            </a:solidFill>
            <a:ln>
              <a:noFill/>
            </a:ln>
          </p:spPr>
        </p:sp>
        <p:sp>
          <p:nvSpPr>
            <p:cNvPr id="307" name="Google Shape;307;p7"/>
            <p:cNvSpPr txBox="1"/>
            <p:nvPr/>
          </p:nvSpPr>
          <p:spPr>
            <a:xfrm>
              <a:off x="0" y="-85725"/>
              <a:ext cx="2948132" cy="15908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7"/>
          <p:cNvGrpSpPr/>
          <p:nvPr/>
        </p:nvGrpSpPr>
        <p:grpSpPr>
          <a:xfrm>
            <a:off x="5524355" y="-5771957"/>
            <a:ext cx="11193690" cy="8326328"/>
            <a:chOff x="0" y="-85725"/>
            <a:chExt cx="2948132" cy="2192942"/>
          </a:xfrm>
        </p:grpSpPr>
        <p:sp>
          <p:nvSpPr>
            <p:cNvPr id="309" name="Google Shape;309;p7"/>
            <p:cNvSpPr/>
            <p:nvPr/>
          </p:nvSpPr>
          <p:spPr>
            <a:xfrm>
              <a:off x="0" y="0"/>
              <a:ext cx="2948132" cy="2107217"/>
            </a:xfrm>
            <a:custGeom>
              <a:rect b="b" l="l" r="r" t="t"/>
              <a:pathLst>
                <a:path extrusionOk="0" h="2107217" w="2948132">
                  <a:moveTo>
                    <a:pt x="0" y="0"/>
                  </a:moveTo>
                  <a:lnTo>
                    <a:pt x="2948132" y="0"/>
                  </a:lnTo>
                  <a:lnTo>
                    <a:pt x="2948132" y="2107217"/>
                  </a:lnTo>
                  <a:lnTo>
                    <a:pt x="0" y="2107217"/>
                  </a:lnTo>
                  <a:close/>
                </a:path>
              </a:pathLst>
            </a:custGeom>
            <a:solidFill>
              <a:srgbClr val="FFFFFF">
                <a:alpha val="86666"/>
              </a:srgbClr>
            </a:solidFill>
            <a:ln>
              <a:noFill/>
            </a:ln>
          </p:spPr>
        </p:sp>
        <p:sp>
          <p:nvSpPr>
            <p:cNvPr id="310" name="Google Shape;310;p7"/>
            <p:cNvSpPr txBox="1"/>
            <p:nvPr/>
          </p:nvSpPr>
          <p:spPr>
            <a:xfrm>
              <a:off x="0" y="-85725"/>
              <a:ext cx="2948132" cy="2192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"/>
          <p:cNvSpPr/>
          <p:nvPr/>
        </p:nvSpPr>
        <p:spPr>
          <a:xfrm>
            <a:off x="1430600" y="1028700"/>
            <a:ext cx="3025142" cy="2563297"/>
          </a:xfrm>
          <a:custGeom>
            <a:rect b="b" l="l" r="r" t="t"/>
            <a:pathLst>
              <a:path extrusionOk="0" h="2563297" w="3025142">
                <a:moveTo>
                  <a:pt x="0" y="0"/>
                </a:moveTo>
                <a:lnTo>
                  <a:pt x="3025142" y="0"/>
                </a:lnTo>
                <a:lnTo>
                  <a:pt x="3025142" y="2563297"/>
                </a:lnTo>
                <a:lnTo>
                  <a:pt x="0" y="2563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006" l="0" r="0" t="-9006"/>
            </a:stretch>
          </a:blipFill>
          <a:ln>
            <a:noFill/>
          </a:ln>
        </p:spPr>
      </p:sp>
      <p:grpSp>
        <p:nvGrpSpPr>
          <p:cNvPr id="316" name="Google Shape;316;p8"/>
          <p:cNvGrpSpPr/>
          <p:nvPr/>
        </p:nvGrpSpPr>
        <p:grpSpPr>
          <a:xfrm>
            <a:off x="-685800" y="8201323"/>
            <a:ext cx="20659729" cy="1757064"/>
            <a:chOff x="0" y="-482203"/>
            <a:chExt cx="27546305" cy="2342753"/>
          </a:xfrm>
        </p:grpSpPr>
        <p:grpSp>
          <p:nvGrpSpPr>
            <p:cNvPr id="317" name="Google Shape;317;p8"/>
            <p:cNvGrpSpPr/>
            <p:nvPr/>
          </p:nvGrpSpPr>
          <p:grpSpPr>
            <a:xfrm>
              <a:off x="0" y="-482203"/>
              <a:ext cx="27546305" cy="1587103"/>
              <a:chOff x="0" y="-95250"/>
              <a:chExt cx="5441245" cy="313502"/>
            </a:xfrm>
          </p:grpSpPr>
          <p:sp>
            <p:nvSpPr>
              <p:cNvPr id="318" name="Google Shape;318;p8"/>
              <p:cNvSpPr/>
              <p:nvPr/>
            </p:nvSpPr>
            <p:spPr>
              <a:xfrm>
                <a:off x="0" y="0"/>
                <a:ext cx="5441245" cy="218252"/>
              </a:xfrm>
              <a:custGeom>
                <a:rect b="b" l="l" r="r" t="t"/>
                <a:pathLst>
                  <a:path extrusionOk="0" h="218252" w="5441245">
                    <a:moveTo>
                      <a:pt x="0" y="0"/>
                    </a:moveTo>
                    <a:lnTo>
                      <a:pt x="5441245" y="0"/>
                    </a:lnTo>
                    <a:lnTo>
                      <a:pt x="5441245" y="218252"/>
                    </a:lnTo>
                    <a:lnTo>
                      <a:pt x="0" y="218252"/>
                    </a:ln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</p:sp>
          <p:sp>
            <p:nvSpPr>
              <p:cNvPr id="319" name="Google Shape;319;p8"/>
              <p:cNvSpPr txBox="1"/>
              <p:nvPr/>
            </p:nvSpPr>
            <p:spPr>
              <a:xfrm>
                <a:off x="0" y="-95250"/>
                <a:ext cx="5441244" cy="313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0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0" name="Google Shape;320;p8"/>
            <p:cNvGrpSpPr/>
            <p:nvPr/>
          </p:nvGrpSpPr>
          <p:grpSpPr>
            <a:xfrm>
              <a:off x="0" y="1035445"/>
              <a:ext cx="27546305" cy="825105"/>
              <a:chOff x="0" y="-95250"/>
              <a:chExt cx="5441245" cy="162983"/>
            </a:xfrm>
          </p:grpSpPr>
          <p:sp>
            <p:nvSpPr>
              <p:cNvPr id="321" name="Google Shape;321;p8"/>
              <p:cNvSpPr/>
              <p:nvPr/>
            </p:nvSpPr>
            <p:spPr>
              <a:xfrm>
                <a:off x="0" y="0"/>
                <a:ext cx="5441245" cy="67733"/>
              </a:xfrm>
              <a:custGeom>
                <a:rect b="b" l="l" r="r" t="t"/>
                <a:pathLst>
                  <a:path extrusionOk="0" h="67733" w="5441245">
                    <a:moveTo>
                      <a:pt x="0" y="0"/>
                    </a:moveTo>
                    <a:lnTo>
                      <a:pt x="5441245" y="0"/>
                    </a:lnTo>
                    <a:lnTo>
                      <a:pt x="5441245" y="67733"/>
                    </a:lnTo>
                    <a:lnTo>
                      <a:pt x="0" y="67733"/>
                    </a:ln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</p:sp>
          <p:sp>
            <p:nvSpPr>
              <p:cNvPr id="322" name="Google Shape;322;p8"/>
              <p:cNvSpPr txBox="1"/>
              <p:nvPr/>
            </p:nvSpPr>
            <p:spPr>
              <a:xfrm>
                <a:off x="0" y="-95250"/>
                <a:ext cx="5441244" cy="162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0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3" name="Google Shape;323;p8"/>
          <p:cNvSpPr txBox="1"/>
          <p:nvPr/>
        </p:nvSpPr>
        <p:spPr>
          <a:xfrm>
            <a:off x="6321274" y="4995122"/>
            <a:ext cx="13910727" cy="1122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81" u="none" cap="none" strike="noStrike">
                <a:solidFill>
                  <a:srgbClr val="173157"/>
                </a:solidFill>
                <a:latin typeface="Arial"/>
                <a:ea typeface="Arial"/>
                <a:cs typeface="Arial"/>
                <a:sym typeface="Arial"/>
              </a:rPr>
              <a:t>問題拆解</a:t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14357906" y="5644981"/>
            <a:ext cx="3497448" cy="2711979"/>
          </a:xfrm>
          <a:custGeom>
            <a:rect b="b" l="l" r="r" t="t"/>
            <a:pathLst>
              <a:path extrusionOk="0" h="2711979" w="3497448">
                <a:moveTo>
                  <a:pt x="0" y="0"/>
                </a:moveTo>
                <a:lnTo>
                  <a:pt x="3497448" y="0"/>
                </a:lnTo>
                <a:lnTo>
                  <a:pt x="3497448" y="2711980"/>
                </a:lnTo>
                <a:lnTo>
                  <a:pt x="0" y="2711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"/>
          <p:cNvSpPr/>
          <p:nvPr/>
        </p:nvSpPr>
        <p:spPr>
          <a:xfrm>
            <a:off x="1374446" y="2964961"/>
            <a:ext cx="15539108" cy="6293339"/>
          </a:xfrm>
          <a:custGeom>
            <a:rect b="b" l="l" r="r" t="t"/>
            <a:pathLst>
              <a:path extrusionOk="0" h="6293339" w="15539108">
                <a:moveTo>
                  <a:pt x="0" y="0"/>
                </a:moveTo>
                <a:lnTo>
                  <a:pt x="15539108" y="0"/>
                </a:lnTo>
                <a:lnTo>
                  <a:pt x="15539108" y="6293339"/>
                </a:lnTo>
                <a:lnTo>
                  <a:pt x="0" y="6293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0" name="Google Shape;330;p9"/>
          <p:cNvGrpSpPr/>
          <p:nvPr/>
        </p:nvGrpSpPr>
        <p:grpSpPr>
          <a:xfrm>
            <a:off x="13354406" y="1028700"/>
            <a:ext cx="3755971" cy="3286430"/>
            <a:chOff x="0" y="0"/>
            <a:chExt cx="812811" cy="711200"/>
          </a:xfrm>
        </p:grpSpPr>
        <p:sp>
          <p:nvSpPr>
            <p:cNvPr id="331" name="Google Shape;331;p9"/>
            <p:cNvSpPr/>
            <p:nvPr/>
          </p:nvSpPr>
          <p:spPr>
            <a:xfrm>
              <a:off x="0" y="0"/>
              <a:ext cx="812811" cy="711200"/>
            </a:xfrm>
            <a:custGeom>
              <a:rect b="b" l="l" r="r" t="t"/>
              <a:pathLst>
                <a:path extrusionOk="0" h="711200" w="812811">
                  <a:moveTo>
                    <a:pt x="530371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75871"/>
                  </a:cubicBezTo>
                  <a:cubicBezTo>
                    <a:pt x="0" y="386169"/>
                    <a:pt x="66279" y="481310"/>
                    <a:pt x="162037" y="525451"/>
                  </a:cubicBezTo>
                  <a:lnTo>
                    <a:pt x="162037" y="711200"/>
                  </a:lnTo>
                  <a:lnTo>
                    <a:pt x="353844" y="551732"/>
                  </a:lnTo>
                  <a:lnTo>
                    <a:pt x="530371" y="551732"/>
                  </a:lnTo>
                  <a:cubicBezTo>
                    <a:pt x="686363" y="551732"/>
                    <a:pt x="812800" y="428220"/>
                    <a:pt x="812800" y="275861"/>
                  </a:cubicBezTo>
                  <a:cubicBezTo>
                    <a:pt x="812811" y="123512"/>
                    <a:pt x="686363" y="0"/>
                    <a:pt x="530371" y="0"/>
                  </a:cubicBezTo>
                  <a:close/>
                </a:path>
              </a:pathLst>
            </a:custGeom>
            <a:solidFill>
              <a:srgbClr val="9898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9"/>
            <p:cNvSpPr txBox="1"/>
            <p:nvPr/>
          </p:nvSpPr>
          <p:spPr>
            <a:xfrm>
              <a:off x="0" y="9525"/>
              <a:ext cx="812800" cy="511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9"/>
          <p:cNvSpPr txBox="1"/>
          <p:nvPr/>
        </p:nvSpPr>
        <p:spPr>
          <a:xfrm>
            <a:off x="1374446" y="1019175"/>
            <a:ext cx="7127070" cy="1228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TOP 40</a:t>
            </a:r>
            <a:endParaRPr/>
          </a:p>
        </p:txBody>
      </p:sp>
      <p:sp>
        <p:nvSpPr>
          <p:cNvPr id="334" name="Google Shape;334;p9"/>
          <p:cNvSpPr txBox="1"/>
          <p:nvPr/>
        </p:nvSpPr>
        <p:spPr>
          <a:xfrm>
            <a:off x="13500436" y="2095212"/>
            <a:ext cx="3758864" cy="573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9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佔總營收約40％</a:t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14656887" y="7996080"/>
            <a:ext cx="3631113" cy="3076755"/>
          </a:xfrm>
          <a:custGeom>
            <a:rect b="b" l="l" r="r" t="t"/>
            <a:pathLst>
              <a:path extrusionOk="0" h="3076755" w="3631113">
                <a:moveTo>
                  <a:pt x="0" y="0"/>
                </a:moveTo>
                <a:lnTo>
                  <a:pt x="3631113" y="0"/>
                </a:lnTo>
                <a:lnTo>
                  <a:pt x="3631113" y="3076755"/>
                </a:lnTo>
                <a:lnTo>
                  <a:pt x="0" y="3076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006" l="0" r="0" t="-9006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"/>
          <p:cNvSpPr/>
          <p:nvPr/>
        </p:nvSpPr>
        <p:spPr>
          <a:xfrm>
            <a:off x="5905605" y="2657624"/>
            <a:ext cx="11353695" cy="7000190"/>
          </a:xfrm>
          <a:custGeom>
            <a:rect b="b" l="l" r="r" t="t"/>
            <a:pathLst>
              <a:path extrusionOk="0" h="7000190" w="11353695">
                <a:moveTo>
                  <a:pt x="0" y="0"/>
                </a:moveTo>
                <a:lnTo>
                  <a:pt x="11353695" y="0"/>
                </a:lnTo>
                <a:lnTo>
                  <a:pt x="11353695" y="7000190"/>
                </a:lnTo>
                <a:lnTo>
                  <a:pt x="0" y="70001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20302" t="0"/>
            </a:stretch>
          </a:blipFill>
          <a:ln>
            <a:noFill/>
          </a:ln>
        </p:spPr>
      </p:sp>
      <p:sp>
        <p:nvSpPr>
          <p:cNvPr id="341" name="Google Shape;341;p10"/>
          <p:cNvSpPr/>
          <p:nvPr/>
        </p:nvSpPr>
        <p:spPr>
          <a:xfrm>
            <a:off x="14656887" y="7996080"/>
            <a:ext cx="3631113" cy="3076755"/>
          </a:xfrm>
          <a:custGeom>
            <a:rect b="b" l="l" r="r" t="t"/>
            <a:pathLst>
              <a:path extrusionOk="0" h="3076755" w="3631113">
                <a:moveTo>
                  <a:pt x="0" y="0"/>
                </a:moveTo>
                <a:lnTo>
                  <a:pt x="3631113" y="0"/>
                </a:lnTo>
                <a:lnTo>
                  <a:pt x="3631113" y="3076755"/>
                </a:lnTo>
                <a:lnTo>
                  <a:pt x="0" y="3076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006" l="0" r="0" t="-9006"/>
            </a:stretch>
          </a:blipFill>
          <a:ln>
            <a:noFill/>
          </a:ln>
        </p:spPr>
      </p:sp>
      <p:sp>
        <p:nvSpPr>
          <p:cNvPr id="342" name="Google Shape;342;p10"/>
          <p:cNvSpPr txBox="1"/>
          <p:nvPr/>
        </p:nvSpPr>
        <p:spPr>
          <a:xfrm>
            <a:off x="1729587" y="2953351"/>
            <a:ext cx="3920951" cy="6008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2854" lvl="1" marL="865708" marR="0" rtl="0" algn="l">
              <a:lnSpc>
                <a:spcPct val="197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9"/>
              <a:buFont typeface="Arial"/>
              <a:buChar char="•"/>
            </a:pPr>
            <a:r>
              <a:rPr b="1" i="0" lang="en-US" sz="4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總營收</a:t>
            </a:r>
            <a:endParaRPr/>
          </a:p>
          <a:p>
            <a:pPr indent="-432854" lvl="1" marL="865708" marR="0" rtl="0" algn="l">
              <a:lnSpc>
                <a:spcPct val="197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9"/>
              <a:buFont typeface="Arial"/>
              <a:buChar char="•"/>
            </a:pPr>
            <a:r>
              <a:rPr b="1" i="0" lang="en-US" sz="4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毛利率</a:t>
            </a:r>
            <a:endParaRPr/>
          </a:p>
          <a:p>
            <a:pPr indent="-432854" lvl="1" marL="865708" marR="0" rtl="0" algn="l">
              <a:lnSpc>
                <a:spcPct val="197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9"/>
              <a:buFont typeface="Arial"/>
              <a:buChar char="•"/>
            </a:pPr>
            <a:r>
              <a:rPr b="1" i="0" lang="en-US" sz="4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平均價格</a:t>
            </a:r>
            <a:endParaRPr/>
          </a:p>
          <a:p>
            <a:pPr indent="-432854" lvl="1" marL="865708" marR="0" rtl="0" algn="l">
              <a:lnSpc>
                <a:spcPct val="197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9"/>
              <a:buFont typeface="Arial"/>
              <a:buChar char="•"/>
            </a:pPr>
            <a:r>
              <a:rPr b="1" i="0" lang="en-US" sz="4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平均購買年齡</a:t>
            </a:r>
            <a:endParaRPr/>
          </a:p>
          <a:p>
            <a:pPr indent="-432854" lvl="1" marL="865708" marR="0" rtl="0" algn="l">
              <a:lnSpc>
                <a:spcPct val="197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9"/>
              <a:buFont typeface="Arial"/>
              <a:buChar char="•"/>
            </a:pPr>
            <a:r>
              <a:rPr b="1" i="0" lang="en-US" sz="4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回購率</a:t>
            </a:r>
            <a:endParaRPr/>
          </a:p>
          <a:p>
            <a:pPr indent="-432854" lvl="1" marL="865708" marR="0" rtl="0" algn="l">
              <a:lnSpc>
                <a:spcPct val="197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9"/>
              <a:buFont typeface="Arial"/>
              <a:buChar char="•"/>
            </a:pPr>
            <a:r>
              <a:rPr b="1" i="0" lang="en-US" sz="4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連帶購買率</a:t>
            </a:r>
            <a:endParaRPr/>
          </a:p>
        </p:txBody>
      </p:sp>
      <p:sp>
        <p:nvSpPr>
          <p:cNvPr id="343" name="Google Shape;343;p10"/>
          <p:cNvSpPr txBox="1"/>
          <p:nvPr/>
        </p:nvSpPr>
        <p:spPr>
          <a:xfrm>
            <a:off x="371175" y="725227"/>
            <a:ext cx="924382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層級式集群分析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/>
          <p:cNvSpPr/>
          <p:nvPr/>
        </p:nvSpPr>
        <p:spPr>
          <a:xfrm>
            <a:off x="5847254" y="743809"/>
            <a:ext cx="12244979" cy="8177093"/>
          </a:xfrm>
          <a:custGeom>
            <a:rect b="b" l="l" r="r" t="t"/>
            <a:pathLst>
              <a:path extrusionOk="0" h="8177093" w="12244979">
                <a:moveTo>
                  <a:pt x="0" y="0"/>
                </a:moveTo>
                <a:lnTo>
                  <a:pt x="12244979" y="0"/>
                </a:lnTo>
                <a:lnTo>
                  <a:pt x="12244979" y="8177093"/>
                </a:lnTo>
                <a:lnTo>
                  <a:pt x="0" y="81770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5000"/>
            </a:blip>
            <a:stretch>
              <a:fillRect b="0" l="0" r="0" t="-2014"/>
            </a:stretch>
          </a:blipFill>
          <a:ln>
            <a:noFill/>
          </a:ln>
        </p:spPr>
      </p:sp>
      <p:grpSp>
        <p:nvGrpSpPr>
          <p:cNvPr id="349" name="Google Shape;349;p11"/>
          <p:cNvGrpSpPr/>
          <p:nvPr/>
        </p:nvGrpSpPr>
        <p:grpSpPr>
          <a:xfrm>
            <a:off x="5328832" y="-108496"/>
            <a:ext cx="13561732" cy="10221268"/>
            <a:chOff x="0" y="-28575"/>
            <a:chExt cx="3571814" cy="2692021"/>
          </a:xfrm>
        </p:grpSpPr>
        <p:sp>
          <p:nvSpPr>
            <p:cNvPr id="350" name="Google Shape;350;p11"/>
            <p:cNvSpPr/>
            <p:nvPr/>
          </p:nvSpPr>
          <p:spPr>
            <a:xfrm>
              <a:off x="0" y="0"/>
              <a:ext cx="3571814" cy="2663446"/>
            </a:xfrm>
            <a:custGeom>
              <a:rect b="b" l="l" r="r" t="t"/>
              <a:pathLst>
                <a:path extrusionOk="0" h="2663446" w="3571814">
                  <a:moveTo>
                    <a:pt x="0" y="0"/>
                  </a:moveTo>
                  <a:lnTo>
                    <a:pt x="3571814" y="0"/>
                  </a:lnTo>
                  <a:lnTo>
                    <a:pt x="3571814" y="2663446"/>
                  </a:lnTo>
                  <a:lnTo>
                    <a:pt x="0" y="2663446"/>
                  </a:lnTo>
                  <a:close/>
                </a:path>
              </a:pathLst>
            </a:custGeom>
            <a:solidFill>
              <a:srgbClr val="FFFFFF">
                <a:alpha val="84705"/>
              </a:srgbClr>
            </a:solidFill>
            <a:ln>
              <a:noFill/>
            </a:ln>
          </p:spPr>
        </p:sp>
        <p:sp>
          <p:nvSpPr>
            <p:cNvPr id="351" name="Google Shape;351;p11"/>
            <p:cNvSpPr txBox="1"/>
            <p:nvPr/>
          </p:nvSpPr>
          <p:spPr>
            <a:xfrm>
              <a:off x="0" y="-28575"/>
              <a:ext cx="3571814" cy="2692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p11"/>
          <p:cNvSpPr txBox="1"/>
          <p:nvPr/>
        </p:nvSpPr>
        <p:spPr>
          <a:xfrm>
            <a:off x="1905882" y="6232526"/>
            <a:ext cx="5135799" cy="3025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圖表分析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＆品類定位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"/>
          <p:cNvSpPr/>
          <p:nvPr/>
        </p:nvSpPr>
        <p:spPr>
          <a:xfrm>
            <a:off x="2319473" y="452512"/>
            <a:ext cx="14939827" cy="9976689"/>
          </a:xfrm>
          <a:custGeom>
            <a:rect b="b" l="l" r="r" t="t"/>
            <a:pathLst>
              <a:path extrusionOk="0" h="9976689" w="14939827">
                <a:moveTo>
                  <a:pt x="0" y="0"/>
                </a:moveTo>
                <a:lnTo>
                  <a:pt x="14939827" y="0"/>
                </a:lnTo>
                <a:lnTo>
                  <a:pt x="14939827" y="9976689"/>
                </a:lnTo>
                <a:lnTo>
                  <a:pt x="0" y="9976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2014"/>
            </a:stretch>
          </a:blipFill>
          <a:ln>
            <a:noFill/>
          </a:ln>
        </p:spPr>
      </p:sp>
      <p:grpSp>
        <p:nvGrpSpPr>
          <p:cNvPr id="358" name="Google Shape;358;p12"/>
          <p:cNvGrpSpPr/>
          <p:nvPr/>
        </p:nvGrpSpPr>
        <p:grpSpPr>
          <a:xfrm>
            <a:off x="4251858" y="344016"/>
            <a:ext cx="2425826" cy="9680813"/>
            <a:chOff x="0" y="-28575"/>
            <a:chExt cx="638901" cy="2549679"/>
          </a:xfrm>
        </p:grpSpPr>
        <p:sp>
          <p:nvSpPr>
            <p:cNvPr id="359" name="Google Shape;359;p12"/>
            <p:cNvSpPr/>
            <p:nvPr/>
          </p:nvSpPr>
          <p:spPr>
            <a:xfrm>
              <a:off x="0" y="0"/>
              <a:ext cx="638901" cy="2521104"/>
            </a:xfrm>
            <a:custGeom>
              <a:rect b="b" l="l" r="r" t="t"/>
              <a:pathLst>
                <a:path extrusionOk="0" h="2521104" w="638901">
                  <a:moveTo>
                    <a:pt x="0" y="0"/>
                  </a:moveTo>
                  <a:lnTo>
                    <a:pt x="638901" y="0"/>
                  </a:lnTo>
                  <a:lnTo>
                    <a:pt x="638901" y="2521104"/>
                  </a:lnTo>
                  <a:lnTo>
                    <a:pt x="0" y="25211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">
              <a:solidFill>
                <a:srgbClr val="FF0000"/>
              </a:solidFill>
              <a:prstDash val="dash"/>
              <a:miter lim="8000"/>
              <a:headEnd len="sm" w="sm" type="none"/>
              <a:tailEnd len="sm" w="sm" type="none"/>
            </a:ln>
          </p:spPr>
        </p:sp>
        <p:sp>
          <p:nvSpPr>
            <p:cNvPr id="360" name="Google Shape;360;p12"/>
            <p:cNvSpPr txBox="1"/>
            <p:nvPr/>
          </p:nvSpPr>
          <p:spPr>
            <a:xfrm>
              <a:off x="0" y="-28575"/>
              <a:ext cx="638901" cy="25496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p12"/>
          <p:cNvGrpSpPr/>
          <p:nvPr/>
        </p:nvGrpSpPr>
        <p:grpSpPr>
          <a:xfrm>
            <a:off x="6677684" y="344016"/>
            <a:ext cx="7149628" cy="9341520"/>
            <a:chOff x="0" y="-28575"/>
            <a:chExt cx="1883030" cy="2460318"/>
          </a:xfrm>
        </p:grpSpPr>
        <p:sp>
          <p:nvSpPr>
            <p:cNvPr id="362" name="Google Shape;362;p12"/>
            <p:cNvSpPr/>
            <p:nvPr/>
          </p:nvSpPr>
          <p:spPr>
            <a:xfrm>
              <a:off x="0" y="0"/>
              <a:ext cx="1883030" cy="2431743"/>
            </a:xfrm>
            <a:custGeom>
              <a:rect b="b" l="l" r="r" t="t"/>
              <a:pathLst>
                <a:path extrusionOk="0" h="2431743" w="1883030">
                  <a:moveTo>
                    <a:pt x="0" y="0"/>
                  </a:moveTo>
                  <a:lnTo>
                    <a:pt x="1883030" y="0"/>
                  </a:lnTo>
                  <a:lnTo>
                    <a:pt x="1883030" y="2431743"/>
                  </a:lnTo>
                  <a:lnTo>
                    <a:pt x="0" y="2431743"/>
                  </a:lnTo>
                  <a:close/>
                </a:path>
              </a:pathLst>
            </a:custGeom>
            <a:solidFill>
              <a:srgbClr val="FFFFFF">
                <a:alpha val="84705"/>
              </a:srgbClr>
            </a:solidFill>
            <a:ln>
              <a:noFill/>
            </a:ln>
          </p:spPr>
        </p:sp>
        <p:sp>
          <p:nvSpPr>
            <p:cNvPr id="363" name="Google Shape;363;p12"/>
            <p:cNvSpPr txBox="1"/>
            <p:nvPr/>
          </p:nvSpPr>
          <p:spPr>
            <a:xfrm>
              <a:off x="0" y="-28575"/>
              <a:ext cx="1883030" cy="246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12"/>
          <p:cNvSpPr txBox="1"/>
          <p:nvPr/>
        </p:nvSpPr>
        <p:spPr>
          <a:xfrm>
            <a:off x="6677684" y="7211273"/>
            <a:ext cx="2455012" cy="951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3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日常用品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"/>
          <p:cNvSpPr/>
          <p:nvPr/>
        </p:nvSpPr>
        <p:spPr>
          <a:xfrm>
            <a:off x="2319473" y="452512"/>
            <a:ext cx="14939827" cy="9976689"/>
          </a:xfrm>
          <a:custGeom>
            <a:rect b="b" l="l" r="r" t="t"/>
            <a:pathLst>
              <a:path extrusionOk="0" h="9976689" w="14939827">
                <a:moveTo>
                  <a:pt x="0" y="0"/>
                </a:moveTo>
                <a:lnTo>
                  <a:pt x="14939827" y="0"/>
                </a:lnTo>
                <a:lnTo>
                  <a:pt x="14939827" y="9976689"/>
                </a:lnTo>
                <a:lnTo>
                  <a:pt x="0" y="9976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2014"/>
            </a:stretch>
          </a:blipFill>
          <a:ln>
            <a:noFill/>
          </a:ln>
        </p:spPr>
      </p:sp>
      <p:grpSp>
        <p:nvGrpSpPr>
          <p:cNvPr id="370" name="Google Shape;370;p13"/>
          <p:cNvGrpSpPr/>
          <p:nvPr/>
        </p:nvGrpSpPr>
        <p:grpSpPr>
          <a:xfrm>
            <a:off x="6718174" y="248846"/>
            <a:ext cx="2425826" cy="9680813"/>
            <a:chOff x="0" y="-28575"/>
            <a:chExt cx="638901" cy="2549679"/>
          </a:xfrm>
        </p:grpSpPr>
        <p:sp>
          <p:nvSpPr>
            <p:cNvPr id="371" name="Google Shape;371;p13"/>
            <p:cNvSpPr/>
            <p:nvPr/>
          </p:nvSpPr>
          <p:spPr>
            <a:xfrm>
              <a:off x="0" y="0"/>
              <a:ext cx="638901" cy="2521104"/>
            </a:xfrm>
            <a:custGeom>
              <a:rect b="b" l="l" r="r" t="t"/>
              <a:pathLst>
                <a:path extrusionOk="0" h="2521104" w="638901">
                  <a:moveTo>
                    <a:pt x="0" y="0"/>
                  </a:moveTo>
                  <a:lnTo>
                    <a:pt x="638901" y="0"/>
                  </a:lnTo>
                  <a:lnTo>
                    <a:pt x="638901" y="2521104"/>
                  </a:lnTo>
                  <a:lnTo>
                    <a:pt x="0" y="25211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">
              <a:solidFill>
                <a:srgbClr val="FF0000"/>
              </a:solidFill>
              <a:prstDash val="dash"/>
              <a:miter lim="8000"/>
              <a:headEnd len="sm" w="sm" type="none"/>
              <a:tailEnd len="sm" w="sm" type="none"/>
            </a:ln>
          </p:spPr>
        </p:sp>
        <p:sp>
          <p:nvSpPr>
            <p:cNvPr id="372" name="Google Shape;372;p13"/>
            <p:cNvSpPr txBox="1"/>
            <p:nvPr/>
          </p:nvSpPr>
          <p:spPr>
            <a:xfrm>
              <a:off x="0" y="-28575"/>
              <a:ext cx="638901" cy="25496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3"/>
          <p:cNvGrpSpPr/>
          <p:nvPr/>
        </p:nvGrpSpPr>
        <p:grpSpPr>
          <a:xfrm>
            <a:off x="9232214" y="344016"/>
            <a:ext cx="4694109" cy="8914284"/>
            <a:chOff x="0" y="-28575"/>
            <a:chExt cx="1236308" cy="2347795"/>
          </a:xfrm>
        </p:grpSpPr>
        <p:sp>
          <p:nvSpPr>
            <p:cNvPr id="374" name="Google Shape;374;p13"/>
            <p:cNvSpPr/>
            <p:nvPr/>
          </p:nvSpPr>
          <p:spPr>
            <a:xfrm>
              <a:off x="0" y="0"/>
              <a:ext cx="1236308" cy="2319220"/>
            </a:xfrm>
            <a:custGeom>
              <a:rect b="b" l="l" r="r" t="t"/>
              <a:pathLst>
                <a:path extrusionOk="0" h="2319220" w="1236308">
                  <a:moveTo>
                    <a:pt x="0" y="0"/>
                  </a:moveTo>
                  <a:lnTo>
                    <a:pt x="1236308" y="0"/>
                  </a:lnTo>
                  <a:lnTo>
                    <a:pt x="1236308" y="2319220"/>
                  </a:lnTo>
                  <a:lnTo>
                    <a:pt x="0" y="2319220"/>
                  </a:lnTo>
                  <a:close/>
                </a:path>
              </a:pathLst>
            </a:custGeom>
            <a:solidFill>
              <a:srgbClr val="FFFFFF">
                <a:alpha val="84705"/>
              </a:srgbClr>
            </a:solidFill>
            <a:ln>
              <a:noFill/>
            </a:ln>
          </p:spPr>
        </p:sp>
        <p:sp>
          <p:nvSpPr>
            <p:cNvPr id="375" name="Google Shape;375;p13"/>
            <p:cNvSpPr txBox="1"/>
            <p:nvPr/>
          </p:nvSpPr>
          <p:spPr>
            <a:xfrm>
              <a:off x="0" y="-28575"/>
              <a:ext cx="1236308" cy="2347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6" name="Google Shape;376;p13"/>
          <p:cNvGrpSpPr/>
          <p:nvPr/>
        </p:nvGrpSpPr>
        <p:grpSpPr>
          <a:xfrm>
            <a:off x="4335463" y="344016"/>
            <a:ext cx="2296985" cy="8914284"/>
            <a:chOff x="0" y="-28575"/>
            <a:chExt cx="604967" cy="2347795"/>
          </a:xfrm>
        </p:grpSpPr>
        <p:sp>
          <p:nvSpPr>
            <p:cNvPr id="377" name="Google Shape;377;p13"/>
            <p:cNvSpPr/>
            <p:nvPr/>
          </p:nvSpPr>
          <p:spPr>
            <a:xfrm>
              <a:off x="0" y="0"/>
              <a:ext cx="604967" cy="2319220"/>
            </a:xfrm>
            <a:custGeom>
              <a:rect b="b" l="l" r="r" t="t"/>
              <a:pathLst>
                <a:path extrusionOk="0" h="2319220" w="604967">
                  <a:moveTo>
                    <a:pt x="0" y="0"/>
                  </a:moveTo>
                  <a:lnTo>
                    <a:pt x="604967" y="0"/>
                  </a:lnTo>
                  <a:lnTo>
                    <a:pt x="604967" y="2319220"/>
                  </a:lnTo>
                  <a:lnTo>
                    <a:pt x="0" y="2319220"/>
                  </a:lnTo>
                  <a:close/>
                </a:path>
              </a:pathLst>
            </a:custGeom>
            <a:solidFill>
              <a:srgbClr val="FFFFFF">
                <a:alpha val="84705"/>
              </a:srgbClr>
            </a:solidFill>
            <a:ln>
              <a:noFill/>
            </a:ln>
          </p:spPr>
        </p:sp>
        <p:sp>
          <p:nvSpPr>
            <p:cNvPr id="378" name="Google Shape;378;p13"/>
            <p:cNvSpPr txBox="1"/>
            <p:nvPr/>
          </p:nvSpPr>
          <p:spPr>
            <a:xfrm>
              <a:off x="0" y="-28575"/>
              <a:ext cx="604967" cy="2347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13"/>
          <p:cNvSpPr txBox="1"/>
          <p:nvPr/>
        </p:nvSpPr>
        <p:spPr>
          <a:xfrm>
            <a:off x="9124256" y="7079832"/>
            <a:ext cx="2455012" cy="951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3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餅乾零食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"/>
          <p:cNvSpPr/>
          <p:nvPr/>
        </p:nvSpPr>
        <p:spPr>
          <a:xfrm>
            <a:off x="2338523" y="452512"/>
            <a:ext cx="14939827" cy="9976689"/>
          </a:xfrm>
          <a:custGeom>
            <a:rect b="b" l="l" r="r" t="t"/>
            <a:pathLst>
              <a:path extrusionOk="0" h="9976689" w="14939827">
                <a:moveTo>
                  <a:pt x="0" y="0"/>
                </a:moveTo>
                <a:lnTo>
                  <a:pt x="14939827" y="0"/>
                </a:lnTo>
                <a:lnTo>
                  <a:pt x="14939827" y="9976689"/>
                </a:lnTo>
                <a:lnTo>
                  <a:pt x="0" y="9976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2014"/>
            </a:stretch>
          </a:blipFill>
          <a:ln>
            <a:noFill/>
          </a:ln>
        </p:spPr>
      </p:sp>
      <p:grpSp>
        <p:nvGrpSpPr>
          <p:cNvPr id="385" name="Google Shape;385;p14"/>
          <p:cNvGrpSpPr/>
          <p:nvPr/>
        </p:nvGrpSpPr>
        <p:grpSpPr>
          <a:xfrm>
            <a:off x="8906511" y="248846"/>
            <a:ext cx="2425826" cy="9680813"/>
            <a:chOff x="0" y="-28575"/>
            <a:chExt cx="638901" cy="2549679"/>
          </a:xfrm>
        </p:grpSpPr>
        <p:sp>
          <p:nvSpPr>
            <p:cNvPr id="386" name="Google Shape;386;p14"/>
            <p:cNvSpPr/>
            <p:nvPr/>
          </p:nvSpPr>
          <p:spPr>
            <a:xfrm>
              <a:off x="0" y="0"/>
              <a:ext cx="638901" cy="2521104"/>
            </a:xfrm>
            <a:custGeom>
              <a:rect b="b" l="l" r="r" t="t"/>
              <a:pathLst>
                <a:path extrusionOk="0" h="2521104" w="638901">
                  <a:moveTo>
                    <a:pt x="0" y="0"/>
                  </a:moveTo>
                  <a:lnTo>
                    <a:pt x="638901" y="0"/>
                  </a:lnTo>
                  <a:lnTo>
                    <a:pt x="638901" y="2521104"/>
                  </a:lnTo>
                  <a:lnTo>
                    <a:pt x="0" y="25211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">
              <a:solidFill>
                <a:srgbClr val="FF0000"/>
              </a:solidFill>
              <a:prstDash val="dash"/>
              <a:miter lim="8000"/>
              <a:headEnd len="sm" w="sm" type="none"/>
              <a:tailEnd len="sm" w="sm" type="none"/>
            </a:ln>
          </p:spPr>
        </p:sp>
        <p:sp>
          <p:nvSpPr>
            <p:cNvPr id="387" name="Google Shape;387;p14"/>
            <p:cNvSpPr txBox="1"/>
            <p:nvPr/>
          </p:nvSpPr>
          <p:spPr>
            <a:xfrm>
              <a:off x="0" y="-28575"/>
              <a:ext cx="638901" cy="25496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8" name="Google Shape;388;p14"/>
          <p:cNvGrpSpPr/>
          <p:nvPr/>
        </p:nvGrpSpPr>
        <p:grpSpPr>
          <a:xfrm>
            <a:off x="4290081" y="344016"/>
            <a:ext cx="4616429" cy="8914284"/>
            <a:chOff x="0" y="-28575"/>
            <a:chExt cx="1215850" cy="2347795"/>
          </a:xfrm>
        </p:grpSpPr>
        <p:sp>
          <p:nvSpPr>
            <p:cNvPr id="389" name="Google Shape;389;p14"/>
            <p:cNvSpPr/>
            <p:nvPr/>
          </p:nvSpPr>
          <p:spPr>
            <a:xfrm>
              <a:off x="0" y="0"/>
              <a:ext cx="1215850" cy="2319220"/>
            </a:xfrm>
            <a:custGeom>
              <a:rect b="b" l="l" r="r" t="t"/>
              <a:pathLst>
                <a:path extrusionOk="0" h="2319220" w="1215850">
                  <a:moveTo>
                    <a:pt x="0" y="0"/>
                  </a:moveTo>
                  <a:lnTo>
                    <a:pt x="1215850" y="0"/>
                  </a:lnTo>
                  <a:lnTo>
                    <a:pt x="1215850" y="2319220"/>
                  </a:lnTo>
                  <a:lnTo>
                    <a:pt x="0" y="2319220"/>
                  </a:lnTo>
                  <a:close/>
                </a:path>
              </a:pathLst>
            </a:custGeom>
            <a:solidFill>
              <a:srgbClr val="FFFFFF">
                <a:alpha val="84705"/>
              </a:srgbClr>
            </a:solidFill>
            <a:ln>
              <a:noFill/>
            </a:ln>
          </p:spPr>
        </p:sp>
        <p:sp>
          <p:nvSpPr>
            <p:cNvPr id="390" name="Google Shape;390;p14"/>
            <p:cNvSpPr txBox="1"/>
            <p:nvPr/>
          </p:nvSpPr>
          <p:spPr>
            <a:xfrm>
              <a:off x="0" y="-28575"/>
              <a:ext cx="1215850" cy="2347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" name="Google Shape;391;p14"/>
          <p:cNvGrpSpPr/>
          <p:nvPr/>
        </p:nvGrpSpPr>
        <p:grpSpPr>
          <a:xfrm>
            <a:off x="11332337" y="344016"/>
            <a:ext cx="2593986" cy="8914284"/>
            <a:chOff x="0" y="-28575"/>
            <a:chExt cx="683190" cy="2347795"/>
          </a:xfrm>
        </p:grpSpPr>
        <p:sp>
          <p:nvSpPr>
            <p:cNvPr id="392" name="Google Shape;392;p14"/>
            <p:cNvSpPr/>
            <p:nvPr/>
          </p:nvSpPr>
          <p:spPr>
            <a:xfrm>
              <a:off x="0" y="0"/>
              <a:ext cx="683190" cy="2319220"/>
            </a:xfrm>
            <a:custGeom>
              <a:rect b="b" l="l" r="r" t="t"/>
              <a:pathLst>
                <a:path extrusionOk="0" h="2319220" w="683190">
                  <a:moveTo>
                    <a:pt x="0" y="0"/>
                  </a:moveTo>
                  <a:lnTo>
                    <a:pt x="683190" y="0"/>
                  </a:lnTo>
                  <a:lnTo>
                    <a:pt x="683190" y="2319220"/>
                  </a:lnTo>
                  <a:lnTo>
                    <a:pt x="0" y="2319220"/>
                  </a:lnTo>
                  <a:close/>
                </a:path>
              </a:pathLst>
            </a:custGeom>
            <a:solidFill>
              <a:srgbClr val="FFFFFF">
                <a:alpha val="84705"/>
              </a:srgbClr>
            </a:solidFill>
            <a:ln>
              <a:noFill/>
            </a:ln>
          </p:spPr>
        </p:sp>
        <p:sp>
          <p:nvSpPr>
            <p:cNvPr id="393" name="Google Shape;393;p14"/>
            <p:cNvSpPr txBox="1"/>
            <p:nvPr/>
          </p:nvSpPr>
          <p:spPr>
            <a:xfrm>
              <a:off x="0" y="-28575"/>
              <a:ext cx="683190" cy="2347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14"/>
          <p:cNvSpPr txBox="1"/>
          <p:nvPr/>
        </p:nvSpPr>
        <p:spPr>
          <a:xfrm>
            <a:off x="7093614" y="7255086"/>
            <a:ext cx="2455012" cy="951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3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電子產品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5"/>
          <p:cNvSpPr/>
          <p:nvPr/>
        </p:nvSpPr>
        <p:spPr>
          <a:xfrm>
            <a:off x="2319473" y="452512"/>
            <a:ext cx="14939827" cy="9976689"/>
          </a:xfrm>
          <a:custGeom>
            <a:rect b="b" l="l" r="r" t="t"/>
            <a:pathLst>
              <a:path extrusionOk="0" h="9976689" w="14939827">
                <a:moveTo>
                  <a:pt x="0" y="0"/>
                </a:moveTo>
                <a:lnTo>
                  <a:pt x="14939827" y="0"/>
                </a:lnTo>
                <a:lnTo>
                  <a:pt x="14939827" y="9976689"/>
                </a:lnTo>
                <a:lnTo>
                  <a:pt x="0" y="9976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2014"/>
            </a:stretch>
          </a:blipFill>
          <a:ln>
            <a:noFill/>
          </a:ln>
        </p:spPr>
      </p:sp>
      <p:grpSp>
        <p:nvGrpSpPr>
          <p:cNvPr id="400" name="Google Shape;400;p15"/>
          <p:cNvGrpSpPr/>
          <p:nvPr/>
        </p:nvGrpSpPr>
        <p:grpSpPr>
          <a:xfrm>
            <a:off x="11495447" y="344016"/>
            <a:ext cx="2425826" cy="9680813"/>
            <a:chOff x="0" y="-28575"/>
            <a:chExt cx="638901" cy="2549679"/>
          </a:xfrm>
        </p:grpSpPr>
        <p:sp>
          <p:nvSpPr>
            <p:cNvPr id="401" name="Google Shape;401;p15"/>
            <p:cNvSpPr/>
            <p:nvPr/>
          </p:nvSpPr>
          <p:spPr>
            <a:xfrm>
              <a:off x="0" y="0"/>
              <a:ext cx="638901" cy="2521104"/>
            </a:xfrm>
            <a:custGeom>
              <a:rect b="b" l="l" r="r" t="t"/>
              <a:pathLst>
                <a:path extrusionOk="0" h="2521104" w="638901">
                  <a:moveTo>
                    <a:pt x="0" y="0"/>
                  </a:moveTo>
                  <a:lnTo>
                    <a:pt x="638901" y="0"/>
                  </a:lnTo>
                  <a:lnTo>
                    <a:pt x="638901" y="2521104"/>
                  </a:lnTo>
                  <a:lnTo>
                    <a:pt x="0" y="25211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">
              <a:solidFill>
                <a:srgbClr val="FF0000"/>
              </a:solidFill>
              <a:prstDash val="dash"/>
              <a:miter lim="8000"/>
              <a:headEnd len="sm" w="sm" type="none"/>
              <a:tailEnd len="sm" w="sm" type="none"/>
            </a:ln>
          </p:spPr>
        </p:sp>
        <p:sp>
          <p:nvSpPr>
            <p:cNvPr id="402" name="Google Shape;402;p15"/>
            <p:cNvSpPr txBox="1"/>
            <p:nvPr/>
          </p:nvSpPr>
          <p:spPr>
            <a:xfrm>
              <a:off x="0" y="-28575"/>
              <a:ext cx="638901" cy="25496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p15"/>
          <p:cNvGrpSpPr/>
          <p:nvPr/>
        </p:nvGrpSpPr>
        <p:grpSpPr>
          <a:xfrm>
            <a:off x="4354442" y="344016"/>
            <a:ext cx="7141005" cy="8914284"/>
            <a:chOff x="0" y="-28575"/>
            <a:chExt cx="1880758" cy="2347795"/>
          </a:xfrm>
        </p:grpSpPr>
        <p:sp>
          <p:nvSpPr>
            <p:cNvPr id="404" name="Google Shape;404;p15"/>
            <p:cNvSpPr/>
            <p:nvPr/>
          </p:nvSpPr>
          <p:spPr>
            <a:xfrm>
              <a:off x="0" y="0"/>
              <a:ext cx="1880758" cy="2319220"/>
            </a:xfrm>
            <a:custGeom>
              <a:rect b="b" l="l" r="r" t="t"/>
              <a:pathLst>
                <a:path extrusionOk="0" h="2319220" w="1880758">
                  <a:moveTo>
                    <a:pt x="0" y="0"/>
                  </a:moveTo>
                  <a:lnTo>
                    <a:pt x="1880758" y="0"/>
                  </a:lnTo>
                  <a:lnTo>
                    <a:pt x="1880758" y="2319220"/>
                  </a:lnTo>
                  <a:lnTo>
                    <a:pt x="0" y="2319220"/>
                  </a:lnTo>
                  <a:close/>
                </a:path>
              </a:pathLst>
            </a:custGeom>
            <a:solidFill>
              <a:srgbClr val="FFFFFF">
                <a:alpha val="84705"/>
              </a:srgbClr>
            </a:solidFill>
            <a:ln>
              <a:noFill/>
            </a:ln>
          </p:spPr>
        </p:sp>
        <p:sp>
          <p:nvSpPr>
            <p:cNvPr id="405" name="Google Shape;405;p15"/>
            <p:cNvSpPr txBox="1"/>
            <p:nvPr/>
          </p:nvSpPr>
          <p:spPr>
            <a:xfrm>
              <a:off x="0" y="-28575"/>
              <a:ext cx="1880758" cy="2347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15"/>
          <p:cNvSpPr txBox="1"/>
          <p:nvPr/>
        </p:nvSpPr>
        <p:spPr>
          <a:xfrm>
            <a:off x="9040435" y="7255086"/>
            <a:ext cx="2455012" cy="951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3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黃金飾品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6"/>
          <p:cNvSpPr txBox="1"/>
          <p:nvPr/>
        </p:nvSpPr>
        <p:spPr>
          <a:xfrm>
            <a:off x="3747776" y="4062024"/>
            <a:ext cx="13910727" cy="1839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81" u="none" cap="none" strike="noStrike">
                <a:solidFill>
                  <a:srgbClr val="173157"/>
                </a:solidFill>
                <a:latin typeface="Arial"/>
                <a:ea typeface="Arial"/>
                <a:cs typeface="Arial"/>
                <a:sym typeface="Arial"/>
              </a:rPr>
              <a:t>品類 1 ：日常用品</a:t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1430600" y="1028700"/>
            <a:ext cx="3025142" cy="2563297"/>
          </a:xfrm>
          <a:custGeom>
            <a:rect b="b" l="l" r="r" t="t"/>
            <a:pathLst>
              <a:path extrusionOk="0" h="2563297" w="3025142">
                <a:moveTo>
                  <a:pt x="0" y="0"/>
                </a:moveTo>
                <a:lnTo>
                  <a:pt x="3025142" y="0"/>
                </a:lnTo>
                <a:lnTo>
                  <a:pt x="3025142" y="2563297"/>
                </a:lnTo>
                <a:lnTo>
                  <a:pt x="0" y="2563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006" l="0" r="0" t="-9006"/>
            </a:stretch>
          </a:blipFill>
          <a:ln>
            <a:noFill/>
          </a:ln>
        </p:spPr>
      </p:sp>
      <p:grpSp>
        <p:nvGrpSpPr>
          <p:cNvPr id="413" name="Google Shape;413;p16"/>
          <p:cNvGrpSpPr/>
          <p:nvPr/>
        </p:nvGrpSpPr>
        <p:grpSpPr>
          <a:xfrm>
            <a:off x="-685800" y="8201323"/>
            <a:ext cx="20659729" cy="1757064"/>
            <a:chOff x="0" y="-482203"/>
            <a:chExt cx="27546305" cy="2342753"/>
          </a:xfrm>
        </p:grpSpPr>
        <p:grpSp>
          <p:nvGrpSpPr>
            <p:cNvPr id="414" name="Google Shape;414;p16"/>
            <p:cNvGrpSpPr/>
            <p:nvPr/>
          </p:nvGrpSpPr>
          <p:grpSpPr>
            <a:xfrm>
              <a:off x="0" y="-482203"/>
              <a:ext cx="27546305" cy="1587103"/>
              <a:chOff x="0" y="-95250"/>
              <a:chExt cx="5441245" cy="313502"/>
            </a:xfrm>
          </p:grpSpPr>
          <p:sp>
            <p:nvSpPr>
              <p:cNvPr id="415" name="Google Shape;415;p16"/>
              <p:cNvSpPr/>
              <p:nvPr/>
            </p:nvSpPr>
            <p:spPr>
              <a:xfrm>
                <a:off x="0" y="0"/>
                <a:ext cx="5441245" cy="218252"/>
              </a:xfrm>
              <a:custGeom>
                <a:rect b="b" l="l" r="r" t="t"/>
                <a:pathLst>
                  <a:path extrusionOk="0" h="218252" w="5441245">
                    <a:moveTo>
                      <a:pt x="0" y="0"/>
                    </a:moveTo>
                    <a:lnTo>
                      <a:pt x="5441245" y="0"/>
                    </a:lnTo>
                    <a:lnTo>
                      <a:pt x="5441245" y="218252"/>
                    </a:lnTo>
                    <a:lnTo>
                      <a:pt x="0" y="218252"/>
                    </a:ln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</p:sp>
          <p:sp>
            <p:nvSpPr>
              <p:cNvPr id="416" name="Google Shape;416;p16"/>
              <p:cNvSpPr txBox="1"/>
              <p:nvPr/>
            </p:nvSpPr>
            <p:spPr>
              <a:xfrm>
                <a:off x="0" y="-95250"/>
                <a:ext cx="5441244" cy="313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0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7" name="Google Shape;417;p16"/>
            <p:cNvGrpSpPr/>
            <p:nvPr/>
          </p:nvGrpSpPr>
          <p:grpSpPr>
            <a:xfrm>
              <a:off x="0" y="1035445"/>
              <a:ext cx="27546305" cy="825105"/>
              <a:chOff x="0" y="-95250"/>
              <a:chExt cx="5441245" cy="162983"/>
            </a:xfrm>
          </p:grpSpPr>
          <p:sp>
            <p:nvSpPr>
              <p:cNvPr id="418" name="Google Shape;418;p16"/>
              <p:cNvSpPr/>
              <p:nvPr/>
            </p:nvSpPr>
            <p:spPr>
              <a:xfrm>
                <a:off x="0" y="0"/>
                <a:ext cx="5441245" cy="67733"/>
              </a:xfrm>
              <a:custGeom>
                <a:rect b="b" l="l" r="r" t="t"/>
                <a:pathLst>
                  <a:path extrusionOk="0" h="67733" w="5441245">
                    <a:moveTo>
                      <a:pt x="0" y="0"/>
                    </a:moveTo>
                    <a:lnTo>
                      <a:pt x="5441245" y="0"/>
                    </a:lnTo>
                    <a:lnTo>
                      <a:pt x="5441245" y="67733"/>
                    </a:lnTo>
                    <a:lnTo>
                      <a:pt x="0" y="67733"/>
                    </a:ln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</p:sp>
          <p:sp>
            <p:nvSpPr>
              <p:cNvPr id="419" name="Google Shape;419;p16"/>
              <p:cNvSpPr txBox="1"/>
              <p:nvPr/>
            </p:nvSpPr>
            <p:spPr>
              <a:xfrm>
                <a:off x="0" y="-95250"/>
                <a:ext cx="5441244" cy="162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0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0" name="Google Shape;420;p16"/>
          <p:cNvSpPr/>
          <p:nvPr/>
        </p:nvSpPr>
        <p:spPr>
          <a:xfrm>
            <a:off x="15705314" y="6680643"/>
            <a:ext cx="1953188" cy="1704156"/>
          </a:xfrm>
          <a:custGeom>
            <a:rect b="b" l="l" r="r" t="t"/>
            <a:pathLst>
              <a:path extrusionOk="0" h="1704156" w="1953188">
                <a:moveTo>
                  <a:pt x="0" y="0"/>
                </a:moveTo>
                <a:lnTo>
                  <a:pt x="1953188" y="0"/>
                </a:lnTo>
                <a:lnTo>
                  <a:pt x="1953188" y="1704157"/>
                </a:lnTo>
                <a:lnTo>
                  <a:pt x="0" y="17041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17"/>
          <p:cNvGrpSpPr/>
          <p:nvPr/>
        </p:nvGrpSpPr>
        <p:grpSpPr>
          <a:xfrm>
            <a:off x="221900" y="609514"/>
            <a:ext cx="22033993" cy="9551219"/>
            <a:chOff x="0" y="0"/>
            <a:chExt cx="29378658" cy="12734958"/>
          </a:xfrm>
        </p:grpSpPr>
        <p:sp>
          <p:nvSpPr>
            <p:cNvPr id="426" name="Google Shape;426;p17"/>
            <p:cNvSpPr/>
            <p:nvPr/>
          </p:nvSpPr>
          <p:spPr>
            <a:xfrm>
              <a:off x="0" y="0"/>
              <a:ext cx="13512224" cy="11531715"/>
            </a:xfrm>
            <a:custGeom>
              <a:rect b="b" l="l" r="r" t="t"/>
              <a:pathLst>
                <a:path extrusionOk="0" h="11531715" w="13512224">
                  <a:moveTo>
                    <a:pt x="0" y="0"/>
                  </a:moveTo>
                  <a:lnTo>
                    <a:pt x="13512224" y="0"/>
                  </a:lnTo>
                  <a:lnTo>
                    <a:pt x="13512224" y="11531715"/>
                  </a:lnTo>
                  <a:lnTo>
                    <a:pt x="0" y="1153171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-25984" t="-566"/>
              </a:stretch>
            </a:blipFill>
            <a:ln>
              <a:noFill/>
            </a:ln>
          </p:spPr>
        </p:sp>
        <p:grpSp>
          <p:nvGrpSpPr>
            <p:cNvPr id="427" name="Google Shape;427;p17"/>
            <p:cNvGrpSpPr/>
            <p:nvPr/>
          </p:nvGrpSpPr>
          <p:grpSpPr>
            <a:xfrm>
              <a:off x="4670781" y="12814"/>
              <a:ext cx="5490911" cy="9792085"/>
              <a:chOff x="0" y="-28575"/>
              <a:chExt cx="1040232" cy="1855074"/>
            </a:xfrm>
          </p:grpSpPr>
          <p:sp>
            <p:nvSpPr>
              <p:cNvPr id="428" name="Google Shape;428;p17"/>
              <p:cNvSpPr/>
              <p:nvPr/>
            </p:nvSpPr>
            <p:spPr>
              <a:xfrm>
                <a:off x="0" y="0"/>
                <a:ext cx="1040232" cy="1826499"/>
              </a:xfrm>
              <a:custGeom>
                <a:rect b="b" l="l" r="r" t="t"/>
                <a:pathLst>
                  <a:path extrusionOk="0" h="1826499" w="1040232">
                    <a:moveTo>
                      <a:pt x="0" y="0"/>
                    </a:moveTo>
                    <a:lnTo>
                      <a:pt x="1040232" y="0"/>
                    </a:lnTo>
                    <a:lnTo>
                      <a:pt x="1040232" y="1826499"/>
                    </a:lnTo>
                    <a:lnTo>
                      <a:pt x="0" y="1826499"/>
                    </a:lnTo>
                    <a:close/>
                  </a:path>
                </a:pathLst>
              </a:custGeom>
              <a:solidFill>
                <a:srgbClr val="FFFFFF">
                  <a:alpha val="87450"/>
                </a:srgbClr>
              </a:solidFill>
              <a:ln>
                <a:noFill/>
              </a:ln>
            </p:spPr>
          </p:sp>
          <p:sp>
            <p:nvSpPr>
              <p:cNvPr id="429" name="Google Shape;429;p17"/>
              <p:cNvSpPr txBox="1"/>
              <p:nvPr/>
            </p:nvSpPr>
            <p:spPr>
              <a:xfrm>
                <a:off x="0" y="-28575"/>
                <a:ext cx="1040232" cy="1855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" name="Google Shape;430;p17"/>
            <p:cNvGrpSpPr/>
            <p:nvPr/>
          </p:nvGrpSpPr>
          <p:grpSpPr>
            <a:xfrm>
              <a:off x="10161692" y="12814"/>
              <a:ext cx="3055592" cy="9792085"/>
              <a:chOff x="0" y="-28575"/>
              <a:chExt cx="578870" cy="1855074"/>
            </a:xfrm>
          </p:grpSpPr>
          <p:sp>
            <p:nvSpPr>
              <p:cNvPr id="431" name="Google Shape;431;p17"/>
              <p:cNvSpPr/>
              <p:nvPr/>
            </p:nvSpPr>
            <p:spPr>
              <a:xfrm>
                <a:off x="0" y="0"/>
                <a:ext cx="578870" cy="1826499"/>
              </a:xfrm>
              <a:custGeom>
                <a:rect b="b" l="l" r="r" t="t"/>
                <a:pathLst>
                  <a:path extrusionOk="0" h="1826499" w="578870">
                    <a:moveTo>
                      <a:pt x="0" y="0"/>
                    </a:moveTo>
                    <a:lnTo>
                      <a:pt x="578870" y="0"/>
                    </a:lnTo>
                    <a:lnTo>
                      <a:pt x="578870" y="1826499"/>
                    </a:lnTo>
                    <a:lnTo>
                      <a:pt x="0" y="1826499"/>
                    </a:lnTo>
                    <a:close/>
                  </a:path>
                </a:pathLst>
              </a:custGeom>
              <a:solidFill>
                <a:srgbClr val="FFFFFF">
                  <a:alpha val="87450"/>
                </a:srgbClr>
              </a:solidFill>
              <a:ln>
                <a:noFill/>
              </a:ln>
            </p:spPr>
          </p:sp>
          <p:sp>
            <p:nvSpPr>
              <p:cNvPr id="432" name="Google Shape;432;p17"/>
              <p:cNvSpPr txBox="1"/>
              <p:nvPr/>
            </p:nvSpPr>
            <p:spPr>
              <a:xfrm>
                <a:off x="0" y="-28575"/>
                <a:ext cx="578869" cy="1855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3" name="Google Shape;433;p17"/>
            <p:cNvSpPr txBox="1"/>
            <p:nvPr/>
          </p:nvSpPr>
          <p:spPr>
            <a:xfrm>
              <a:off x="14790600" y="549390"/>
              <a:ext cx="14588058" cy="195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600" u="none" cap="none" strike="noStrike">
                  <a:solidFill>
                    <a:srgbClr val="0C63AE"/>
                  </a:solidFill>
                  <a:latin typeface="Arial"/>
                  <a:ea typeface="Arial"/>
                  <a:cs typeface="Arial"/>
                  <a:sym typeface="Arial"/>
                </a:rPr>
                <a:t>現況分析</a:t>
              </a: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3174102" y="11531715"/>
              <a:ext cx="2914280" cy="521503"/>
            </a:xfrm>
            <a:custGeom>
              <a:rect b="b" l="l" r="r" t="t"/>
              <a:pathLst>
                <a:path extrusionOk="0" h="521503" w="2914280">
                  <a:moveTo>
                    <a:pt x="0" y="0"/>
                  </a:moveTo>
                  <a:lnTo>
                    <a:pt x="2914280" y="0"/>
                  </a:lnTo>
                  <a:lnTo>
                    <a:pt x="2914280" y="521503"/>
                  </a:lnTo>
                  <a:lnTo>
                    <a:pt x="0" y="5215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5" name="Google Shape;435;p17"/>
            <p:cNvSpPr/>
            <p:nvPr/>
          </p:nvSpPr>
          <p:spPr>
            <a:xfrm>
              <a:off x="5617886" y="11531715"/>
              <a:ext cx="3405106" cy="521503"/>
            </a:xfrm>
            <a:custGeom>
              <a:rect b="b" l="l" r="r" t="t"/>
              <a:pathLst>
                <a:path extrusionOk="0" h="521503" w="3405106">
                  <a:moveTo>
                    <a:pt x="0" y="0"/>
                  </a:moveTo>
                  <a:lnTo>
                    <a:pt x="3405106" y="0"/>
                  </a:lnTo>
                  <a:lnTo>
                    <a:pt x="3405106" y="521503"/>
                  </a:lnTo>
                  <a:lnTo>
                    <a:pt x="0" y="5215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6" name="Google Shape;436;p17"/>
            <p:cNvSpPr/>
            <p:nvPr/>
          </p:nvSpPr>
          <p:spPr>
            <a:xfrm>
              <a:off x="9022992" y="11568433"/>
              <a:ext cx="3077105" cy="484785"/>
            </a:xfrm>
            <a:custGeom>
              <a:rect b="b" l="l" r="r" t="t"/>
              <a:pathLst>
                <a:path extrusionOk="0" h="484785" w="3077105">
                  <a:moveTo>
                    <a:pt x="0" y="0"/>
                  </a:moveTo>
                  <a:lnTo>
                    <a:pt x="3077106" y="0"/>
                  </a:lnTo>
                  <a:lnTo>
                    <a:pt x="3077106" y="484785"/>
                  </a:lnTo>
                  <a:lnTo>
                    <a:pt x="0" y="4847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-15960"/>
              </a:stretch>
            </a:blipFill>
            <a:ln>
              <a:noFill/>
            </a:ln>
          </p:spPr>
        </p:sp>
        <p:sp>
          <p:nvSpPr>
            <p:cNvPr id="437" name="Google Shape;437;p17"/>
            <p:cNvSpPr/>
            <p:nvPr/>
          </p:nvSpPr>
          <p:spPr>
            <a:xfrm>
              <a:off x="3317285" y="12147062"/>
              <a:ext cx="2283163" cy="482358"/>
            </a:xfrm>
            <a:custGeom>
              <a:rect b="b" l="l" r="r" t="t"/>
              <a:pathLst>
                <a:path extrusionOk="0" h="482358" w="2283163">
                  <a:moveTo>
                    <a:pt x="0" y="0"/>
                  </a:moveTo>
                  <a:lnTo>
                    <a:pt x="2283163" y="0"/>
                  </a:lnTo>
                  <a:lnTo>
                    <a:pt x="2283163" y="482358"/>
                  </a:lnTo>
                  <a:lnTo>
                    <a:pt x="0" y="482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8" name="Google Shape;438;p17"/>
            <p:cNvSpPr/>
            <p:nvPr/>
          </p:nvSpPr>
          <p:spPr>
            <a:xfrm>
              <a:off x="5617886" y="12067320"/>
              <a:ext cx="4340657" cy="562099"/>
            </a:xfrm>
            <a:custGeom>
              <a:rect b="b" l="l" r="r" t="t"/>
              <a:pathLst>
                <a:path extrusionOk="0" h="562099" w="4340657">
                  <a:moveTo>
                    <a:pt x="0" y="0"/>
                  </a:moveTo>
                  <a:lnTo>
                    <a:pt x="4340657" y="0"/>
                  </a:lnTo>
                  <a:lnTo>
                    <a:pt x="4340657" y="562100"/>
                  </a:lnTo>
                  <a:lnTo>
                    <a:pt x="0" y="5621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9" name="Google Shape;439;p17"/>
            <p:cNvSpPr/>
            <p:nvPr/>
          </p:nvSpPr>
          <p:spPr>
            <a:xfrm>
              <a:off x="8908375" y="12000708"/>
              <a:ext cx="4852433" cy="734250"/>
            </a:xfrm>
            <a:custGeom>
              <a:rect b="b" l="l" r="r" t="t"/>
              <a:pathLst>
                <a:path extrusionOk="0" h="734250" w="4852433">
                  <a:moveTo>
                    <a:pt x="0" y="0"/>
                  </a:moveTo>
                  <a:lnTo>
                    <a:pt x="4852433" y="0"/>
                  </a:lnTo>
                  <a:lnTo>
                    <a:pt x="4852433" y="734250"/>
                  </a:lnTo>
                  <a:lnTo>
                    <a:pt x="0" y="734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aphicFrame>
        <p:nvGraphicFramePr>
          <p:cNvPr id="440" name="Google Shape;440;p17"/>
          <p:cNvGraphicFramePr/>
          <p:nvPr/>
        </p:nvGraphicFramePr>
        <p:xfrm>
          <a:off x="9669874" y="21757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{4C2B6DD9-06C9-47CB-A7B3-0F92CF147B39}</a:tableStyleId>
              </a:tblPr>
              <a:tblGrid>
                <a:gridCol w="2713025"/>
                <a:gridCol w="2074750"/>
              </a:tblGrid>
              <a:tr h="77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1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總營收</a:t>
                      </a:r>
                      <a:endParaRPr sz="1100" u="none" cap="none" strike="noStrike"/>
                    </a:p>
                  </a:txBody>
                  <a:tcPr marT="166050" marB="166050" marR="166050" marL="166050" anchor="ctr">
                    <a:lnL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15" u="none" cap="none" strike="noStrike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最高</a:t>
                      </a:r>
                      <a:endParaRPr sz="1100" u="none" cap="none" strike="noStrike"/>
                    </a:p>
                  </a:txBody>
                  <a:tcPr marT="166050" marB="166050" marR="166050" marL="166050" anchor="ctr">
                    <a:lnL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1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毛利率</a:t>
                      </a:r>
                      <a:endParaRPr sz="1100" u="none" cap="none" strike="noStrike"/>
                    </a:p>
                  </a:txBody>
                  <a:tcPr marT="166050" marB="166050" marR="166050" marL="166050" anchor="ctr">
                    <a:lnL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1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低</a:t>
                      </a:r>
                      <a:endParaRPr sz="1100" u="none" cap="none" strike="noStrike"/>
                    </a:p>
                  </a:txBody>
                  <a:tcPr marT="166050" marB="166050" marR="166050" marL="166050" anchor="ctr">
                    <a:lnL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1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平均價格</a:t>
                      </a:r>
                      <a:endParaRPr sz="1100" u="none" cap="none" strike="noStrike"/>
                    </a:p>
                  </a:txBody>
                  <a:tcPr marT="166050" marB="166050" marR="166050" marL="166050" anchor="ctr">
                    <a:lnL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1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低</a:t>
                      </a:r>
                      <a:endParaRPr sz="1100" u="none" cap="none" strike="noStrike"/>
                    </a:p>
                  </a:txBody>
                  <a:tcPr marT="166050" marB="166050" marR="166050" marL="166050" anchor="ctr">
                    <a:lnL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1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平均年齡</a:t>
                      </a:r>
                      <a:endParaRPr sz="1100" u="none" cap="none" strike="noStrike"/>
                    </a:p>
                  </a:txBody>
                  <a:tcPr marT="166050" marB="166050" marR="166050" marL="166050" anchor="ctr">
                    <a:lnL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15" u="none" cap="none" strike="noStrike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最低</a:t>
                      </a:r>
                      <a:endParaRPr sz="1100" u="none" cap="none" strike="noStrike"/>
                    </a:p>
                  </a:txBody>
                  <a:tcPr marT="166050" marB="166050" marR="166050" marL="166050" anchor="ctr">
                    <a:lnL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1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回購率</a:t>
                      </a:r>
                      <a:endParaRPr sz="1100" u="none" cap="none" strike="noStrike"/>
                    </a:p>
                  </a:txBody>
                  <a:tcPr marT="166050" marB="166050" marR="166050" marL="166050" anchor="ctr">
                    <a:lnL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1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高</a:t>
                      </a:r>
                      <a:endParaRPr sz="1100" u="none" cap="none" strike="noStrike"/>
                    </a:p>
                  </a:txBody>
                  <a:tcPr marT="166050" marB="166050" marR="166050" marL="166050" anchor="ctr">
                    <a:lnL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1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連帶購買率</a:t>
                      </a:r>
                      <a:endParaRPr sz="1100" u="none" cap="none" strike="noStrike"/>
                    </a:p>
                  </a:txBody>
                  <a:tcPr marT="166050" marB="166050" marR="166050" marL="166050" anchor="ctr">
                    <a:lnL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1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高</a:t>
                      </a:r>
                      <a:endParaRPr sz="1100" u="none" cap="none" strike="noStrike"/>
                    </a:p>
                  </a:txBody>
                  <a:tcPr marT="166050" marB="166050" marR="166050" marL="166050" anchor="ctr">
                    <a:lnL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475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"/>
          <p:cNvSpPr/>
          <p:nvPr/>
        </p:nvSpPr>
        <p:spPr>
          <a:xfrm>
            <a:off x="351046" y="313984"/>
            <a:ext cx="10134168" cy="8648786"/>
          </a:xfrm>
          <a:custGeom>
            <a:rect b="b" l="l" r="r" t="t"/>
            <a:pathLst>
              <a:path extrusionOk="0" h="8648786" w="10134168">
                <a:moveTo>
                  <a:pt x="0" y="0"/>
                </a:moveTo>
                <a:lnTo>
                  <a:pt x="10134169" y="0"/>
                </a:lnTo>
                <a:lnTo>
                  <a:pt x="10134169" y="8648786"/>
                </a:lnTo>
                <a:lnTo>
                  <a:pt x="0" y="86487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25984" t="-566"/>
            </a:stretch>
          </a:blipFill>
          <a:ln>
            <a:noFill/>
          </a:ln>
        </p:spPr>
      </p:sp>
      <p:grpSp>
        <p:nvGrpSpPr>
          <p:cNvPr id="446" name="Google Shape;446;p18"/>
          <p:cNvGrpSpPr/>
          <p:nvPr/>
        </p:nvGrpSpPr>
        <p:grpSpPr>
          <a:xfrm>
            <a:off x="3854132" y="323594"/>
            <a:ext cx="4118183" cy="7344064"/>
            <a:chOff x="0" y="-28575"/>
            <a:chExt cx="1040232" cy="1855074"/>
          </a:xfrm>
        </p:grpSpPr>
        <p:sp>
          <p:nvSpPr>
            <p:cNvPr id="447" name="Google Shape;447;p18"/>
            <p:cNvSpPr/>
            <p:nvPr/>
          </p:nvSpPr>
          <p:spPr>
            <a:xfrm>
              <a:off x="0" y="0"/>
              <a:ext cx="1040232" cy="1826499"/>
            </a:xfrm>
            <a:custGeom>
              <a:rect b="b" l="l" r="r" t="t"/>
              <a:pathLst>
                <a:path extrusionOk="0" h="1826499" w="1040232">
                  <a:moveTo>
                    <a:pt x="0" y="0"/>
                  </a:moveTo>
                  <a:lnTo>
                    <a:pt x="1040232" y="0"/>
                  </a:lnTo>
                  <a:lnTo>
                    <a:pt x="1040232" y="1826499"/>
                  </a:lnTo>
                  <a:lnTo>
                    <a:pt x="0" y="1826499"/>
                  </a:lnTo>
                  <a:close/>
                </a:path>
              </a:pathLst>
            </a:custGeom>
            <a:solidFill>
              <a:srgbClr val="FFFFFF">
                <a:alpha val="87450"/>
              </a:srgbClr>
            </a:solidFill>
            <a:ln>
              <a:noFill/>
            </a:ln>
          </p:spPr>
        </p:sp>
        <p:sp>
          <p:nvSpPr>
            <p:cNvPr id="448" name="Google Shape;448;p18"/>
            <p:cNvSpPr txBox="1"/>
            <p:nvPr/>
          </p:nvSpPr>
          <p:spPr>
            <a:xfrm>
              <a:off x="0" y="-28575"/>
              <a:ext cx="1040232" cy="18550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275" lIns="58275" spcFirstLastPara="1" rIns="58275" wrap="square" tIns="5827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18"/>
          <p:cNvGrpSpPr/>
          <p:nvPr/>
        </p:nvGrpSpPr>
        <p:grpSpPr>
          <a:xfrm>
            <a:off x="7972315" y="323594"/>
            <a:ext cx="2291694" cy="7344064"/>
            <a:chOff x="0" y="-28575"/>
            <a:chExt cx="578870" cy="1855074"/>
          </a:xfrm>
        </p:grpSpPr>
        <p:sp>
          <p:nvSpPr>
            <p:cNvPr id="450" name="Google Shape;450;p18"/>
            <p:cNvSpPr/>
            <p:nvPr/>
          </p:nvSpPr>
          <p:spPr>
            <a:xfrm>
              <a:off x="0" y="0"/>
              <a:ext cx="578870" cy="1826499"/>
            </a:xfrm>
            <a:custGeom>
              <a:rect b="b" l="l" r="r" t="t"/>
              <a:pathLst>
                <a:path extrusionOk="0" h="1826499" w="578870">
                  <a:moveTo>
                    <a:pt x="0" y="0"/>
                  </a:moveTo>
                  <a:lnTo>
                    <a:pt x="578870" y="0"/>
                  </a:lnTo>
                  <a:lnTo>
                    <a:pt x="578870" y="1826499"/>
                  </a:lnTo>
                  <a:lnTo>
                    <a:pt x="0" y="1826499"/>
                  </a:lnTo>
                  <a:close/>
                </a:path>
              </a:pathLst>
            </a:custGeom>
            <a:solidFill>
              <a:srgbClr val="FFFFFF">
                <a:alpha val="87450"/>
              </a:srgbClr>
            </a:solidFill>
            <a:ln>
              <a:noFill/>
            </a:ln>
          </p:spPr>
        </p:sp>
        <p:sp>
          <p:nvSpPr>
            <p:cNvPr id="451" name="Google Shape;451;p18"/>
            <p:cNvSpPr txBox="1"/>
            <p:nvPr/>
          </p:nvSpPr>
          <p:spPr>
            <a:xfrm>
              <a:off x="0" y="-28575"/>
              <a:ext cx="578869" cy="18550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275" lIns="58275" spcFirstLastPara="1" rIns="58275" wrap="square" tIns="5827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2" name="Google Shape;452;p18"/>
          <p:cNvGrpSpPr/>
          <p:nvPr/>
        </p:nvGrpSpPr>
        <p:grpSpPr>
          <a:xfrm>
            <a:off x="11064124" y="1217224"/>
            <a:ext cx="6955324" cy="3421153"/>
            <a:chOff x="0" y="-390525"/>
            <a:chExt cx="9273766" cy="4561537"/>
          </a:xfrm>
        </p:grpSpPr>
        <p:sp>
          <p:nvSpPr>
            <p:cNvPr id="453" name="Google Shape;453;p18"/>
            <p:cNvSpPr txBox="1"/>
            <p:nvPr/>
          </p:nvSpPr>
          <p:spPr>
            <a:xfrm>
              <a:off x="0" y="-390525"/>
              <a:ext cx="5050028" cy="2011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0" u="none" cap="none" strike="noStrike">
                  <a:solidFill>
                    <a:srgbClr val="0C63AE"/>
                  </a:solidFill>
                  <a:latin typeface="Arial"/>
                  <a:ea typeface="Arial"/>
                  <a:cs typeface="Arial"/>
                  <a:sym typeface="Arial"/>
                </a:rPr>
                <a:t>現象診斷</a:t>
              </a:r>
              <a:endParaRPr/>
            </a:p>
          </p:txBody>
        </p:sp>
        <p:sp>
          <p:nvSpPr>
            <p:cNvPr id="454" name="Google Shape;454;p18"/>
            <p:cNvSpPr txBox="1"/>
            <p:nvPr/>
          </p:nvSpPr>
          <p:spPr>
            <a:xfrm>
              <a:off x="0" y="2256366"/>
              <a:ext cx="9273766" cy="19146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3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該類別為薄利多銷的產品，難以從價格或成本進行調整</a:t>
              </a:r>
              <a:endParaRPr/>
            </a:p>
          </p:txBody>
        </p:sp>
      </p:grpSp>
      <p:grpSp>
        <p:nvGrpSpPr>
          <p:cNvPr id="455" name="Google Shape;455;p18"/>
          <p:cNvGrpSpPr/>
          <p:nvPr/>
        </p:nvGrpSpPr>
        <p:grpSpPr>
          <a:xfrm>
            <a:off x="11064124" y="5146593"/>
            <a:ext cx="6955324" cy="4021528"/>
            <a:chOff x="0" y="-390525"/>
            <a:chExt cx="9273766" cy="5362037"/>
          </a:xfrm>
        </p:grpSpPr>
        <p:sp>
          <p:nvSpPr>
            <p:cNvPr id="456" name="Google Shape;456;p18"/>
            <p:cNvSpPr txBox="1"/>
            <p:nvPr/>
          </p:nvSpPr>
          <p:spPr>
            <a:xfrm>
              <a:off x="309749" y="-390525"/>
              <a:ext cx="5050234" cy="2011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0" u="none" cap="none" strike="noStrike">
                  <a:solidFill>
                    <a:srgbClr val="0C63AE"/>
                  </a:solidFill>
                  <a:latin typeface="Arial"/>
                  <a:ea typeface="Arial"/>
                  <a:cs typeface="Arial"/>
                  <a:sym typeface="Arial"/>
                </a:rPr>
                <a:t>行銷方案</a:t>
              </a:r>
              <a:endParaRPr/>
            </a:p>
          </p:txBody>
        </p:sp>
        <p:sp>
          <p:nvSpPr>
            <p:cNvPr id="457" name="Google Shape;457;p18"/>
            <p:cNvSpPr txBox="1"/>
            <p:nvPr/>
          </p:nvSpPr>
          <p:spPr>
            <a:xfrm>
              <a:off x="0" y="2215250"/>
              <a:ext cx="9273766" cy="27562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833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發展自有品牌，透過策略性成本管理和現有品牌形象，來提升顧客黏著度與獲利率</a:t>
              </a:r>
              <a:endParaRPr/>
            </a:p>
          </p:txBody>
        </p:sp>
      </p:grpSp>
      <p:sp>
        <p:nvSpPr>
          <p:cNvPr id="458" name="Google Shape;458;p18"/>
          <p:cNvSpPr/>
          <p:nvPr/>
        </p:nvSpPr>
        <p:spPr>
          <a:xfrm>
            <a:off x="2194660" y="9226270"/>
            <a:ext cx="2185710" cy="391127"/>
          </a:xfrm>
          <a:custGeom>
            <a:rect b="b" l="l" r="r" t="t"/>
            <a:pathLst>
              <a:path extrusionOk="0" h="391127" w="2185710">
                <a:moveTo>
                  <a:pt x="0" y="0"/>
                </a:moveTo>
                <a:lnTo>
                  <a:pt x="2185710" y="0"/>
                </a:lnTo>
                <a:lnTo>
                  <a:pt x="2185710" y="391127"/>
                </a:lnTo>
                <a:lnTo>
                  <a:pt x="0" y="3911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9" name="Google Shape;459;p18"/>
          <p:cNvSpPr/>
          <p:nvPr/>
        </p:nvSpPr>
        <p:spPr>
          <a:xfrm>
            <a:off x="4027499" y="9226270"/>
            <a:ext cx="2553830" cy="391127"/>
          </a:xfrm>
          <a:custGeom>
            <a:rect b="b" l="l" r="r" t="t"/>
            <a:pathLst>
              <a:path extrusionOk="0" h="391127" w="2553830">
                <a:moveTo>
                  <a:pt x="0" y="0"/>
                </a:moveTo>
                <a:lnTo>
                  <a:pt x="2553829" y="0"/>
                </a:lnTo>
                <a:lnTo>
                  <a:pt x="2553829" y="391127"/>
                </a:lnTo>
                <a:lnTo>
                  <a:pt x="0" y="3911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0" name="Google Shape;460;p18"/>
          <p:cNvSpPr/>
          <p:nvPr/>
        </p:nvSpPr>
        <p:spPr>
          <a:xfrm>
            <a:off x="6581328" y="9253808"/>
            <a:ext cx="2307829" cy="363589"/>
          </a:xfrm>
          <a:custGeom>
            <a:rect b="b" l="l" r="r" t="t"/>
            <a:pathLst>
              <a:path extrusionOk="0" h="363589" w="2307829">
                <a:moveTo>
                  <a:pt x="0" y="0"/>
                </a:moveTo>
                <a:lnTo>
                  <a:pt x="2307829" y="0"/>
                </a:lnTo>
                <a:lnTo>
                  <a:pt x="2307829" y="363589"/>
                </a:lnTo>
                <a:lnTo>
                  <a:pt x="0" y="3635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-15960"/>
            </a:stretch>
          </a:blipFill>
          <a:ln>
            <a:noFill/>
          </a:ln>
        </p:spPr>
      </p:sp>
      <p:sp>
        <p:nvSpPr>
          <p:cNvPr id="461" name="Google Shape;461;p18"/>
          <p:cNvSpPr/>
          <p:nvPr/>
        </p:nvSpPr>
        <p:spPr>
          <a:xfrm>
            <a:off x="2302048" y="9687780"/>
            <a:ext cx="1712372" cy="361769"/>
          </a:xfrm>
          <a:custGeom>
            <a:rect b="b" l="l" r="r" t="t"/>
            <a:pathLst>
              <a:path extrusionOk="0" h="361769" w="1712372">
                <a:moveTo>
                  <a:pt x="0" y="0"/>
                </a:moveTo>
                <a:lnTo>
                  <a:pt x="1712372" y="0"/>
                </a:lnTo>
                <a:lnTo>
                  <a:pt x="1712372" y="361769"/>
                </a:lnTo>
                <a:lnTo>
                  <a:pt x="0" y="361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2" name="Google Shape;462;p18"/>
          <p:cNvSpPr/>
          <p:nvPr/>
        </p:nvSpPr>
        <p:spPr>
          <a:xfrm>
            <a:off x="4027499" y="9627974"/>
            <a:ext cx="3255493" cy="421575"/>
          </a:xfrm>
          <a:custGeom>
            <a:rect b="b" l="l" r="r" t="t"/>
            <a:pathLst>
              <a:path extrusionOk="0" h="421575" w="3255493">
                <a:moveTo>
                  <a:pt x="0" y="0"/>
                </a:moveTo>
                <a:lnTo>
                  <a:pt x="3255493" y="0"/>
                </a:lnTo>
                <a:lnTo>
                  <a:pt x="3255493" y="421575"/>
                </a:lnTo>
                <a:lnTo>
                  <a:pt x="0" y="421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3" name="Google Shape;463;p18"/>
          <p:cNvSpPr/>
          <p:nvPr/>
        </p:nvSpPr>
        <p:spPr>
          <a:xfrm>
            <a:off x="6495365" y="9578015"/>
            <a:ext cx="3639325" cy="550687"/>
          </a:xfrm>
          <a:custGeom>
            <a:rect b="b" l="l" r="r" t="t"/>
            <a:pathLst>
              <a:path extrusionOk="0" h="550687" w="3639325">
                <a:moveTo>
                  <a:pt x="0" y="0"/>
                </a:moveTo>
                <a:lnTo>
                  <a:pt x="3639325" y="0"/>
                </a:lnTo>
                <a:lnTo>
                  <a:pt x="3639325" y="550687"/>
                </a:lnTo>
                <a:lnTo>
                  <a:pt x="0" y="5506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5F5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9"/>
          <p:cNvSpPr txBox="1"/>
          <p:nvPr/>
        </p:nvSpPr>
        <p:spPr>
          <a:xfrm>
            <a:off x="6086332" y="3427872"/>
            <a:ext cx="5869083" cy="25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FF4141"/>
                </a:solidFill>
                <a:latin typeface="Arial"/>
                <a:ea typeface="Arial"/>
                <a:cs typeface="Arial"/>
                <a:sym typeface="Arial"/>
              </a:rPr>
              <a:t>會員享受最惠品牌價</a:t>
            </a:r>
            <a:endParaRPr/>
          </a:p>
        </p:txBody>
      </p:sp>
      <p:sp>
        <p:nvSpPr>
          <p:cNvPr id="469" name="Google Shape;469;p19"/>
          <p:cNvSpPr/>
          <p:nvPr/>
        </p:nvSpPr>
        <p:spPr>
          <a:xfrm>
            <a:off x="11955415" y="2484301"/>
            <a:ext cx="5371255" cy="3578599"/>
          </a:xfrm>
          <a:custGeom>
            <a:rect b="b" l="l" r="r" t="t"/>
            <a:pathLst>
              <a:path extrusionOk="0" h="3578599" w="5371255">
                <a:moveTo>
                  <a:pt x="0" y="0"/>
                </a:moveTo>
                <a:lnTo>
                  <a:pt x="5371255" y="0"/>
                </a:lnTo>
                <a:lnTo>
                  <a:pt x="5371255" y="3578599"/>
                </a:lnTo>
                <a:lnTo>
                  <a:pt x="0" y="3578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0" name="Google Shape;470;p19"/>
          <p:cNvSpPr/>
          <p:nvPr/>
        </p:nvSpPr>
        <p:spPr>
          <a:xfrm>
            <a:off x="15582680" y="4134703"/>
            <a:ext cx="2351476" cy="3529421"/>
          </a:xfrm>
          <a:custGeom>
            <a:rect b="b" l="l" r="r" t="t"/>
            <a:pathLst>
              <a:path extrusionOk="0" h="3529421" w="2351476">
                <a:moveTo>
                  <a:pt x="0" y="0"/>
                </a:moveTo>
                <a:lnTo>
                  <a:pt x="2351476" y="0"/>
                </a:lnTo>
                <a:lnTo>
                  <a:pt x="2351476" y="3529421"/>
                </a:lnTo>
                <a:lnTo>
                  <a:pt x="0" y="35294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1" name="Google Shape;471;p19"/>
          <p:cNvSpPr/>
          <p:nvPr/>
        </p:nvSpPr>
        <p:spPr>
          <a:xfrm rot="-645249">
            <a:off x="366514" y="1344118"/>
            <a:ext cx="3936965" cy="5909140"/>
          </a:xfrm>
          <a:custGeom>
            <a:rect b="b" l="l" r="r" t="t"/>
            <a:pathLst>
              <a:path extrusionOk="0" h="5909140" w="3936965">
                <a:moveTo>
                  <a:pt x="0" y="0"/>
                </a:moveTo>
                <a:lnTo>
                  <a:pt x="3936965" y="0"/>
                </a:lnTo>
                <a:lnTo>
                  <a:pt x="3936965" y="5909140"/>
                </a:lnTo>
                <a:lnTo>
                  <a:pt x="0" y="5909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2" name="Google Shape;472;p19"/>
          <p:cNvSpPr txBox="1"/>
          <p:nvPr/>
        </p:nvSpPr>
        <p:spPr>
          <a:xfrm>
            <a:off x="1028700" y="1000125"/>
            <a:ext cx="2894104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ＴＯＮＹ‘Ｓ  ＣＯ </a:t>
            </a:r>
            <a:endParaRPr/>
          </a:p>
        </p:txBody>
      </p:sp>
      <p:sp>
        <p:nvSpPr>
          <p:cNvPr id="473" name="Google Shape;473;p19"/>
          <p:cNvSpPr txBox="1"/>
          <p:nvPr/>
        </p:nvSpPr>
        <p:spPr>
          <a:xfrm>
            <a:off x="6039031" y="6352084"/>
            <a:ext cx="6209937" cy="154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ＴONY’S CO品牌商品新上市</a:t>
            </a:r>
            <a:endParaRPr/>
          </a:p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所有你能想到的日常用品都在這</a:t>
            </a:r>
            <a:endParaRPr/>
          </a:p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現在就加入會員，讓你以市面上最優惠的價格購入</a:t>
            </a:r>
            <a:endParaRPr/>
          </a:p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99" u="none" cap="none" strike="noStrike">
              <a:solidFill>
                <a:srgbClr val="1919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4" name="Google Shape;474;p19"/>
          <p:cNvSpPr/>
          <p:nvPr/>
        </p:nvSpPr>
        <p:spPr>
          <a:xfrm rot="-1031411">
            <a:off x="1558246" y="3906501"/>
            <a:ext cx="4429977" cy="3907138"/>
          </a:xfrm>
          <a:custGeom>
            <a:rect b="b" l="l" r="r" t="t"/>
            <a:pathLst>
              <a:path extrusionOk="0" h="3907138" w="4429977">
                <a:moveTo>
                  <a:pt x="398095" y="0"/>
                </a:moveTo>
                <a:lnTo>
                  <a:pt x="4429977" y="466504"/>
                </a:lnTo>
                <a:lnTo>
                  <a:pt x="4031882" y="3907137"/>
                </a:lnTo>
                <a:lnTo>
                  <a:pt x="0" y="3440633"/>
                </a:lnTo>
                <a:lnTo>
                  <a:pt x="398095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6398" l="-95876" r="-7549" t="-3727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0"/>
          <p:cNvSpPr txBox="1"/>
          <p:nvPr/>
        </p:nvSpPr>
        <p:spPr>
          <a:xfrm>
            <a:off x="3747776" y="4062024"/>
            <a:ext cx="13910727" cy="1839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81" u="none" cap="none" strike="noStrike">
                <a:solidFill>
                  <a:srgbClr val="173157"/>
                </a:solidFill>
                <a:latin typeface="Arial"/>
                <a:ea typeface="Arial"/>
                <a:cs typeface="Arial"/>
                <a:sym typeface="Arial"/>
              </a:rPr>
              <a:t>品類 2 ：零食餅乾</a:t>
            </a:r>
            <a:endParaRPr/>
          </a:p>
        </p:txBody>
      </p:sp>
      <p:sp>
        <p:nvSpPr>
          <p:cNvPr id="480" name="Google Shape;480;p20"/>
          <p:cNvSpPr/>
          <p:nvPr/>
        </p:nvSpPr>
        <p:spPr>
          <a:xfrm>
            <a:off x="1430600" y="1028700"/>
            <a:ext cx="3025142" cy="2563297"/>
          </a:xfrm>
          <a:custGeom>
            <a:rect b="b" l="l" r="r" t="t"/>
            <a:pathLst>
              <a:path extrusionOk="0" h="2563297" w="3025142">
                <a:moveTo>
                  <a:pt x="0" y="0"/>
                </a:moveTo>
                <a:lnTo>
                  <a:pt x="3025142" y="0"/>
                </a:lnTo>
                <a:lnTo>
                  <a:pt x="3025142" y="2563297"/>
                </a:lnTo>
                <a:lnTo>
                  <a:pt x="0" y="2563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006" l="0" r="0" t="-9006"/>
            </a:stretch>
          </a:blipFill>
          <a:ln>
            <a:noFill/>
          </a:ln>
        </p:spPr>
      </p:sp>
      <p:grpSp>
        <p:nvGrpSpPr>
          <p:cNvPr id="481" name="Google Shape;481;p20"/>
          <p:cNvGrpSpPr/>
          <p:nvPr/>
        </p:nvGrpSpPr>
        <p:grpSpPr>
          <a:xfrm>
            <a:off x="-685800" y="8201323"/>
            <a:ext cx="20659729" cy="1757064"/>
            <a:chOff x="0" y="-482203"/>
            <a:chExt cx="27546305" cy="2342753"/>
          </a:xfrm>
        </p:grpSpPr>
        <p:grpSp>
          <p:nvGrpSpPr>
            <p:cNvPr id="482" name="Google Shape;482;p20"/>
            <p:cNvGrpSpPr/>
            <p:nvPr/>
          </p:nvGrpSpPr>
          <p:grpSpPr>
            <a:xfrm>
              <a:off x="0" y="-482203"/>
              <a:ext cx="27546305" cy="1587103"/>
              <a:chOff x="0" y="-95250"/>
              <a:chExt cx="5441245" cy="313502"/>
            </a:xfrm>
          </p:grpSpPr>
          <p:sp>
            <p:nvSpPr>
              <p:cNvPr id="483" name="Google Shape;483;p20"/>
              <p:cNvSpPr/>
              <p:nvPr/>
            </p:nvSpPr>
            <p:spPr>
              <a:xfrm>
                <a:off x="0" y="0"/>
                <a:ext cx="5441245" cy="218252"/>
              </a:xfrm>
              <a:custGeom>
                <a:rect b="b" l="l" r="r" t="t"/>
                <a:pathLst>
                  <a:path extrusionOk="0" h="218252" w="5441245">
                    <a:moveTo>
                      <a:pt x="0" y="0"/>
                    </a:moveTo>
                    <a:lnTo>
                      <a:pt x="5441245" y="0"/>
                    </a:lnTo>
                    <a:lnTo>
                      <a:pt x="5441245" y="218252"/>
                    </a:lnTo>
                    <a:lnTo>
                      <a:pt x="0" y="218252"/>
                    </a:ln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</p:sp>
          <p:sp>
            <p:nvSpPr>
              <p:cNvPr id="484" name="Google Shape;484;p20"/>
              <p:cNvSpPr txBox="1"/>
              <p:nvPr/>
            </p:nvSpPr>
            <p:spPr>
              <a:xfrm>
                <a:off x="0" y="-95250"/>
                <a:ext cx="5441244" cy="313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0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5" name="Google Shape;485;p20"/>
            <p:cNvGrpSpPr/>
            <p:nvPr/>
          </p:nvGrpSpPr>
          <p:grpSpPr>
            <a:xfrm>
              <a:off x="0" y="1035445"/>
              <a:ext cx="27546305" cy="825105"/>
              <a:chOff x="0" y="-95250"/>
              <a:chExt cx="5441245" cy="162983"/>
            </a:xfrm>
          </p:grpSpPr>
          <p:sp>
            <p:nvSpPr>
              <p:cNvPr id="486" name="Google Shape;486;p20"/>
              <p:cNvSpPr/>
              <p:nvPr/>
            </p:nvSpPr>
            <p:spPr>
              <a:xfrm>
                <a:off x="0" y="0"/>
                <a:ext cx="5441245" cy="67733"/>
              </a:xfrm>
              <a:custGeom>
                <a:rect b="b" l="l" r="r" t="t"/>
                <a:pathLst>
                  <a:path extrusionOk="0" h="67733" w="5441245">
                    <a:moveTo>
                      <a:pt x="0" y="0"/>
                    </a:moveTo>
                    <a:lnTo>
                      <a:pt x="5441245" y="0"/>
                    </a:lnTo>
                    <a:lnTo>
                      <a:pt x="5441245" y="67733"/>
                    </a:lnTo>
                    <a:lnTo>
                      <a:pt x="0" y="67733"/>
                    </a:ln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</p:sp>
          <p:sp>
            <p:nvSpPr>
              <p:cNvPr id="487" name="Google Shape;487;p20"/>
              <p:cNvSpPr txBox="1"/>
              <p:nvPr/>
            </p:nvSpPr>
            <p:spPr>
              <a:xfrm>
                <a:off x="0" y="-95250"/>
                <a:ext cx="5441244" cy="162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0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8" name="Google Shape;488;p20"/>
          <p:cNvSpPr/>
          <p:nvPr/>
        </p:nvSpPr>
        <p:spPr>
          <a:xfrm>
            <a:off x="15705314" y="6680643"/>
            <a:ext cx="1953188" cy="1704156"/>
          </a:xfrm>
          <a:custGeom>
            <a:rect b="b" l="l" r="r" t="t"/>
            <a:pathLst>
              <a:path extrusionOk="0" h="1704156" w="1953188">
                <a:moveTo>
                  <a:pt x="0" y="0"/>
                </a:moveTo>
                <a:lnTo>
                  <a:pt x="1953188" y="0"/>
                </a:lnTo>
                <a:lnTo>
                  <a:pt x="1953188" y="1704157"/>
                </a:lnTo>
                <a:lnTo>
                  <a:pt x="0" y="17041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1"/>
          <p:cNvSpPr txBox="1"/>
          <p:nvPr/>
        </p:nvSpPr>
        <p:spPr>
          <a:xfrm>
            <a:off x="10958622" y="399257"/>
            <a:ext cx="6300678" cy="1606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現況分析</a:t>
            </a:r>
            <a:endParaRPr/>
          </a:p>
        </p:txBody>
      </p:sp>
      <p:graphicFrame>
        <p:nvGraphicFramePr>
          <p:cNvPr id="494" name="Google Shape;494;p21"/>
          <p:cNvGraphicFramePr/>
          <p:nvPr/>
        </p:nvGraphicFramePr>
        <p:xfrm>
          <a:off x="10958622" y="24898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{4C2B6DD9-06C9-47CB-A7B3-0F92CF147B39}</a:tableStyleId>
              </a:tblPr>
              <a:tblGrid>
                <a:gridCol w="3570325"/>
                <a:gridCol w="2730350"/>
              </a:tblGrid>
              <a:tr h="102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總營收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低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毛利率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高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平均價格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最低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平均年齡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高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回購率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高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連帶購買率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高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5" name="Google Shape;495;p21"/>
          <p:cNvSpPr/>
          <p:nvPr/>
        </p:nvSpPr>
        <p:spPr>
          <a:xfrm>
            <a:off x="0" y="-5801"/>
            <a:ext cx="10134168" cy="8648786"/>
          </a:xfrm>
          <a:custGeom>
            <a:rect b="b" l="l" r="r" t="t"/>
            <a:pathLst>
              <a:path extrusionOk="0" h="8648786" w="10134168">
                <a:moveTo>
                  <a:pt x="0" y="0"/>
                </a:moveTo>
                <a:lnTo>
                  <a:pt x="10134168" y="0"/>
                </a:lnTo>
                <a:lnTo>
                  <a:pt x="10134168" y="8648786"/>
                </a:lnTo>
                <a:lnTo>
                  <a:pt x="0" y="86487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25984" t="-566"/>
            </a:stretch>
          </a:blipFill>
          <a:ln>
            <a:noFill/>
          </a:ln>
        </p:spPr>
      </p:sp>
      <p:grpSp>
        <p:nvGrpSpPr>
          <p:cNvPr id="496" name="Google Shape;496;p21"/>
          <p:cNvGrpSpPr/>
          <p:nvPr/>
        </p:nvGrpSpPr>
        <p:grpSpPr>
          <a:xfrm>
            <a:off x="5748270" y="315572"/>
            <a:ext cx="4118183" cy="7344064"/>
            <a:chOff x="0" y="-28575"/>
            <a:chExt cx="1040232" cy="1855074"/>
          </a:xfrm>
        </p:grpSpPr>
        <p:sp>
          <p:nvSpPr>
            <p:cNvPr id="497" name="Google Shape;497;p21"/>
            <p:cNvSpPr/>
            <p:nvPr/>
          </p:nvSpPr>
          <p:spPr>
            <a:xfrm>
              <a:off x="0" y="0"/>
              <a:ext cx="1040232" cy="1826499"/>
            </a:xfrm>
            <a:custGeom>
              <a:rect b="b" l="l" r="r" t="t"/>
              <a:pathLst>
                <a:path extrusionOk="0" h="1826499" w="1040232">
                  <a:moveTo>
                    <a:pt x="0" y="0"/>
                  </a:moveTo>
                  <a:lnTo>
                    <a:pt x="1040232" y="0"/>
                  </a:lnTo>
                  <a:lnTo>
                    <a:pt x="1040232" y="1826499"/>
                  </a:lnTo>
                  <a:lnTo>
                    <a:pt x="0" y="1826499"/>
                  </a:lnTo>
                  <a:close/>
                </a:path>
              </a:pathLst>
            </a:custGeom>
            <a:solidFill>
              <a:srgbClr val="FFFFFF">
                <a:alpha val="87450"/>
              </a:srgbClr>
            </a:solidFill>
            <a:ln>
              <a:noFill/>
            </a:ln>
          </p:spPr>
        </p:sp>
        <p:sp>
          <p:nvSpPr>
            <p:cNvPr id="498" name="Google Shape;498;p21"/>
            <p:cNvSpPr txBox="1"/>
            <p:nvPr/>
          </p:nvSpPr>
          <p:spPr>
            <a:xfrm>
              <a:off x="0" y="-28575"/>
              <a:ext cx="1040232" cy="18550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275" lIns="58275" spcFirstLastPara="1" rIns="58275" wrap="square" tIns="5827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p21"/>
          <p:cNvGrpSpPr/>
          <p:nvPr/>
        </p:nvGrpSpPr>
        <p:grpSpPr>
          <a:xfrm>
            <a:off x="1724575" y="264420"/>
            <a:ext cx="1896933" cy="7344064"/>
            <a:chOff x="0" y="-28575"/>
            <a:chExt cx="479156" cy="1855074"/>
          </a:xfrm>
        </p:grpSpPr>
        <p:sp>
          <p:nvSpPr>
            <p:cNvPr id="500" name="Google Shape;500;p21"/>
            <p:cNvSpPr/>
            <p:nvPr/>
          </p:nvSpPr>
          <p:spPr>
            <a:xfrm>
              <a:off x="0" y="0"/>
              <a:ext cx="479156" cy="1826499"/>
            </a:xfrm>
            <a:custGeom>
              <a:rect b="b" l="l" r="r" t="t"/>
              <a:pathLst>
                <a:path extrusionOk="0" h="1826499" w="479156">
                  <a:moveTo>
                    <a:pt x="0" y="0"/>
                  </a:moveTo>
                  <a:lnTo>
                    <a:pt x="479156" y="0"/>
                  </a:lnTo>
                  <a:lnTo>
                    <a:pt x="479156" y="1826499"/>
                  </a:lnTo>
                  <a:lnTo>
                    <a:pt x="0" y="1826499"/>
                  </a:lnTo>
                  <a:close/>
                </a:path>
              </a:pathLst>
            </a:custGeom>
            <a:solidFill>
              <a:srgbClr val="FFFFFF">
                <a:alpha val="87450"/>
              </a:srgbClr>
            </a:solidFill>
            <a:ln>
              <a:noFill/>
            </a:ln>
          </p:spPr>
        </p:sp>
        <p:sp>
          <p:nvSpPr>
            <p:cNvPr id="501" name="Google Shape;501;p21"/>
            <p:cNvSpPr txBox="1"/>
            <p:nvPr/>
          </p:nvSpPr>
          <p:spPr>
            <a:xfrm>
              <a:off x="0" y="-28575"/>
              <a:ext cx="479156" cy="18550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275" lIns="58275" spcFirstLastPara="1" rIns="58275" wrap="square" tIns="5827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2" name="Google Shape;502;p21"/>
          <p:cNvGrpSpPr/>
          <p:nvPr/>
        </p:nvGrpSpPr>
        <p:grpSpPr>
          <a:xfrm>
            <a:off x="1926424" y="9087599"/>
            <a:ext cx="7940030" cy="902434"/>
            <a:chOff x="0" y="0"/>
            <a:chExt cx="10586706" cy="1203244"/>
          </a:xfrm>
        </p:grpSpPr>
        <p:sp>
          <p:nvSpPr>
            <p:cNvPr id="503" name="Google Shape;503;p21"/>
            <p:cNvSpPr/>
            <p:nvPr/>
          </p:nvSpPr>
          <p:spPr>
            <a:xfrm>
              <a:off x="0" y="0"/>
              <a:ext cx="2914280" cy="521503"/>
            </a:xfrm>
            <a:custGeom>
              <a:rect b="b" l="l" r="r" t="t"/>
              <a:pathLst>
                <a:path extrusionOk="0" h="521503" w="2914280">
                  <a:moveTo>
                    <a:pt x="0" y="0"/>
                  </a:moveTo>
                  <a:lnTo>
                    <a:pt x="2914280" y="0"/>
                  </a:lnTo>
                  <a:lnTo>
                    <a:pt x="2914280" y="521503"/>
                  </a:lnTo>
                  <a:lnTo>
                    <a:pt x="0" y="5215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04" name="Google Shape;504;p21"/>
            <p:cNvSpPr/>
            <p:nvPr/>
          </p:nvSpPr>
          <p:spPr>
            <a:xfrm>
              <a:off x="2443784" y="0"/>
              <a:ext cx="3405106" cy="521503"/>
            </a:xfrm>
            <a:custGeom>
              <a:rect b="b" l="l" r="r" t="t"/>
              <a:pathLst>
                <a:path extrusionOk="0" h="521503" w="3405106">
                  <a:moveTo>
                    <a:pt x="0" y="0"/>
                  </a:moveTo>
                  <a:lnTo>
                    <a:pt x="3405107" y="0"/>
                  </a:lnTo>
                  <a:lnTo>
                    <a:pt x="3405107" y="521503"/>
                  </a:lnTo>
                  <a:lnTo>
                    <a:pt x="0" y="5215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05" name="Google Shape;505;p21"/>
            <p:cNvSpPr/>
            <p:nvPr/>
          </p:nvSpPr>
          <p:spPr>
            <a:xfrm>
              <a:off x="5848891" y="36718"/>
              <a:ext cx="3077105" cy="484785"/>
            </a:xfrm>
            <a:custGeom>
              <a:rect b="b" l="l" r="r" t="t"/>
              <a:pathLst>
                <a:path extrusionOk="0" h="484785" w="3077105">
                  <a:moveTo>
                    <a:pt x="0" y="0"/>
                  </a:moveTo>
                  <a:lnTo>
                    <a:pt x="3077105" y="0"/>
                  </a:lnTo>
                  <a:lnTo>
                    <a:pt x="3077105" y="484785"/>
                  </a:lnTo>
                  <a:lnTo>
                    <a:pt x="0" y="4847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-15960"/>
              </a:stretch>
            </a:blipFill>
            <a:ln>
              <a:noFill/>
            </a:ln>
          </p:spPr>
        </p:sp>
        <p:sp>
          <p:nvSpPr>
            <p:cNvPr id="506" name="Google Shape;506;p21"/>
            <p:cNvSpPr/>
            <p:nvPr/>
          </p:nvSpPr>
          <p:spPr>
            <a:xfrm>
              <a:off x="143183" y="615347"/>
              <a:ext cx="2283163" cy="482358"/>
            </a:xfrm>
            <a:custGeom>
              <a:rect b="b" l="l" r="r" t="t"/>
              <a:pathLst>
                <a:path extrusionOk="0" h="482358" w="2283163">
                  <a:moveTo>
                    <a:pt x="0" y="0"/>
                  </a:moveTo>
                  <a:lnTo>
                    <a:pt x="2283163" y="0"/>
                  </a:lnTo>
                  <a:lnTo>
                    <a:pt x="2283163" y="482358"/>
                  </a:lnTo>
                  <a:lnTo>
                    <a:pt x="0" y="482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07" name="Google Shape;507;p21"/>
            <p:cNvSpPr/>
            <p:nvPr/>
          </p:nvSpPr>
          <p:spPr>
            <a:xfrm>
              <a:off x="2443784" y="535606"/>
              <a:ext cx="4340657" cy="562099"/>
            </a:xfrm>
            <a:custGeom>
              <a:rect b="b" l="l" r="r" t="t"/>
              <a:pathLst>
                <a:path extrusionOk="0" h="562099" w="4340657">
                  <a:moveTo>
                    <a:pt x="0" y="0"/>
                  </a:moveTo>
                  <a:lnTo>
                    <a:pt x="4340658" y="0"/>
                  </a:lnTo>
                  <a:lnTo>
                    <a:pt x="4340658" y="562099"/>
                  </a:lnTo>
                  <a:lnTo>
                    <a:pt x="0" y="5620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08" name="Google Shape;508;p21"/>
            <p:cNvSpPr/>
            <p:nvPr/>
          </p:nvSpPr>
          <p:spPr>
            <a:xfrm>
              <a:off x="5734273" y="468994"/>
              <a:ext cx="4852433" cy="734250"/>
            </a:xfrm>
            <a:custGeom>
              <a:rect b="b" l="l" r="r" t="t"/>
              <a:pathLst>
                <a:path extrusionOk="0" h="734250" w="4852433">
                  <a:moveTo>
                    <a:pt x="0" y="0"/>
                  </a:moveTo>
                  <a:lnTo>
                    <a:pt x="4852433" y="0"/>
                  </a:lnTo>
                  <a:lnTo>
                    <a:pt x="4852433" y="734249"/>
                  </a:lnTo>
                  <a:lnTo>
                    <a:pt x="0" y="734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2"/>
          <p:cNvSpPr/>
          <p:nvPr/>
        </p:nvSpPr>
        <p:spPr>
          <a:xfrm>
            <a:off x="1028700" y="2171759"/>
            <a:ext cx="9421222" cy="6112018"/>
          </a:xfrm>
          <a:custGeom>
            <a:rect b="b" l="l" r="r" t="t"/>
            <a:pathLst>
              <a:path extrusionOk="0" h="6112018" w="9421222">
                <a:moveTo>
                  <a:pt x="0" y="0"/>
                </a:moveTo>
                <a:lnTo>
                  <a:pt x="9421222" y="0"/>
                </a:lnTo>
                <a:lnTo>
                  <a:pt x="9421222" y="6112018"/>
                </a:lnTo>
                <a:lnTo>
                  <a:pt x="0" y="61120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14" name="Google Shape;514;p22"/>
          <p:cNvGrpSpPr/>
          <p:nvPr/>
        </p:nvGrpSpPr>
        <p:grpSpPr>
          <a:xfrm>
            <a:off x="11701075" y="888206"/>
            <a:ext cx="5762817" cy="3354177"/>
            <a:chOff x="0" y="-390525"/>
            <a:chExt cx="7683756" cy="4472236"/>
          </a:xfrm>
        </p:grpSpPr>
        <p:sp>
          <p:nvSpPr>
            <p:cNvPr id="515" name="Google Shape;515;p22"/>
            <p:cNvSpPr txBox="1"/>
            <p:nvPr/>
          </p:nvSpPr>
          <p:spPr>
            <a:xfrm>
              <a:off x="289882" y="2093667"/>
              <a:ext cx="7393874" cy="19880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7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現有零食餅乾的消費者主要為年齡較高的客群</a:t>
              </a:r>
              <a:endParaRPr/>
            </a:p>
          </p:txBody>
        </p:sp>
        <p:sp>
          <p:nvSpPr>
            <p:cNvPr id="516" name="Google Shape;516;p22"/>
            <p:cNvSpPr txBox="1"/>
            <p:nvPr/>
          </p:nvSpPr>
          <p:spPr>
            <a:xfrm>
              <a:off x="0" y="-390525"/>
              <a:ext cx="5418455" cy="2011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0" u="none" cap="none" strike="noStrike">
                  <a:solidFill>
                    <a:srgbClr val="0C63AE"/>
                  </a:solidFill>
                  <a:latin typeface="Arial"/>
                  <a:ea typeface="Arial"/>
                  <a:cs typeface="Arial"/>
                  <a:sym typeface="Arial"/>
                </a:rPr>
                <a:t>現象診斷</a:t>
              </a:r>
              <a:endParaRPr/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11701075" y="5107781"/>
            <a:ext cx="5810635" cy="4207656"/>
            <a:chOff x="0" y="-390525"/>
            <a:chExt cx="7747513" cy="5610208"/>
          </a:xfrm>
        </p:grpSpPr>
        <p:sp>
          <p:nvSpPr>
            <p:cNvPr id="518" name="Google Shape;518;p22"/>
            <p:cNvSpPr txBox="1"/>
            <p:nvPr/>
          </p:nvSpPr>
          <p:spPr>
            <a:xfrm>
              <a:off x="0" y="-390525"/>
              <a:ext cx="5418455" cy="2011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0" u="none" cap="none" strike="noStrike">
                  <a:solidFill>
                    <a:srgbClr val="0C63AE"/>
                  </a:solidFill>
                  <a:latin typeface="Arial"/>
                  <a:ea typeface="Arial"/>
                  <a:cs typeface="Arial"/>
                  <a:sym typeface="Arial"/>
                </a:rPr>
                <a:t>行銷方案</a:t>
              </a:r>
              <a:endParaRPr/>
            </a:p>
          </p:txBody>
        </p:sp>
        <p:sp>
          <p:nvSpPr>
            <p:cNvPr id="519" name="Google Shape;519;p22"/>
            <p:cNvSpPr txBox="1"/>
            <p:nvPr/>
          </p:nvSpPr>
          <p:spPr>
            <a:xfrm>
              <a:off x="289882" y="2268563"/>
              <a:ext cx="7457631" cy="2951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7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擴展商品類別，提升該品類對年輕客群的市場滲透率與黏著度</a:t>
              </a:r>
              <a:endParaRPr/>
            </a:p>
          </p:txBody>
        </p:sp>
      </p:grpSp>
      <p:sp>
        <p:nvSpPr>
          <p:cNvPr id="520" name="Google Shape;520;p22"/>
          <p:cNvSpPr/>
          <p:nvPr/>
        </p:nvSpPr>
        <p:spPr>
          <a:xfrm>
            <a:off x="0" y="-5801"/>
            <a:ext cx="10134168" cy="8648786"/>
          </a:xfrm>
          <a:custGeom>
            <a:rect b="b" l="l" r="r" t="t"/>
            <a:pathLst>
              <a:path extrusionOk="0" h="8648786" w="10134168">
                <a:moveTo>
                  <a:pt x="0" y="0"/>
                </a:moveTo>
                <a:lnTo>
                  <a:pt x="10134168" y="0"/>
                </a:lnTo>
                <a:lnTo>
                  <a:pt x="10134168" y="8648786"/>
                </a:lnTo>
                <a:lnTo>
                  <a:pt x="0" y="86487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5984" t="-566"/>
            </a:stretch>
          </a:blipFill>
          <a:ln>
            <a:noFill/>
          </a:ln>
        </p:spPr>
      </p:sp>
      <p:grpSp>
        <p:nvGrpSpPr>
          <p:cNvPr id="521" name="Google Shape;521;p22"/>
          <p:cNvGrpSpPr/>
          <p:nvPr/>
        </p:nvGrpSpPr>
        <p:grpSpPr>
          <a:xfrm>
            <a:off x="5748270" y="315572"/>
            <a:ext cx="4118183" cy="7344064"/>
            <a:chOff x="0" y="-28575"/>
            <a:chExt cx="1040232" cy="1855074"/>
          </a:xfrm>
        </p:grpSpPr>
        <p:sp>
          <p:nvSpPr>
            <p:cNvPr id="522" name="Google Shape;522;p22"/>
            <p:cNvSpPr/>
            <p:nvPr/>
          </p:nvSpPr>
          <p:spPr>
            <a:xfrm>
              <a:off x="0" y="0"/>
              <a:ext cx="1040232" cy="1826499"/>
            </a:xfrm>
            <a:custGeom>
              <a:rect b="b" l="l" r="r" t="t"/>
              <a:pathLst>
                <a:path extrusionOk="0" h="1826499" w="1040232">
                  <a:moveTo>
                    <a:pt x="0" y="0"/>
                  </a:moveTo>
                  <a:lnTo>
                    <a:pt x="1040232" y="0"/>
                  </a:lnTo>
                  <a:lnTo>
                    <a:pt x="1040232" y="1826499"/>
                  </a:lnTo>
                  <a:lnTo>
                    <a:pt x="0" y="1826499"/>
                  </a:lnTo>
                  <a:close/>
                </a:path>
              </a:pathLst>
            </a:custGeom>
            <a:solidFill>
              <a:srgbClr val="FFFFFF">
                <a:alpha val="87450"/>
              </a:srgbClr>
            </a:solidFill>
            <a:ln>
              <a:noFill/>
            </a:ln>
          </p:spPr>
        </p:sp>
        <p:sp>
          <p:nvSpPr>
            <p:cNvPr id="523" name="Google Shape;523;p22"/>
            <p:cNvSpPr txBox="1"/>
            <p:nvPr/>
          </p:nvSpPr>
          <p:spPr>
            <a:xfrm>
              <a:off x="0" y="-28575"/>
              <a:ext cx="1040232" cy="18550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275" lIns="58275" spcFirstLastPara="1" rIns="58275" wrap="square" tIns="5827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4" name="Google Shape;524;p22"/>
          <p:cNvGrpSpPr/>
          <p:nvPr/>
        </p:nvGrpSpPr>
        <p:grpSpPr>
          <a:xfrm>
            <a:off x="1724575" y="264420"/>
            <a:ext cx="1896933" cy="7344064"/>
            <a:chOff x="0" y="-28575"/>
            <a:chExt cx="479156" cy="1855074"/>
          </a:xfrm>
        </p:grpSpPr>
        <p:sp>
          <p:nvSpPr>
            <p:cNvPr id="525" name="Google Shape;525;p22"/>
            <p:cNvSpPr/>
            <p:nvPr/>
          </p:nvSpPr>
          <p:spPr>
            <a:xfrm>
              <a:off x="0" y="0"/>
              <a:ext cx="479156" cy="1826499"/>
            </a:xfrm>
            <a:custGeom>
              <a:rect b="b" l="l" r="r" t="t"/>
              <a:pathLst>
                <a:path extrusionOk="0" h="1826499" w="479156">
                  <a:moveTo>
                    <a:pt x="0" y="0"/>
                  </a:moveTo>
                  <a:lnTo>
                    <a:pt x="479156" y="0"/>
                  </a:lnTo>
                  <a:lnTo>
                    <a:pt x="479156" y="1826499"/>
                  </a:lnTo>
                  <a:lnTo>
                    <a:pt x="0" y="1826499"/>
                  </a:lnTo>
                  <a:close/>
                </a:path>
              </a:pathLst>
            </a:custGeom>
            <a:solidFill>
              <a:srgbClr val="FFFFFF">
                <a:alpha val="87450"/>
              </a:srgbClr>
            </a:solidFill>
            <a:ln>
              <a:noFill/>
            </a:ln>
          </p:spPr>
        </p:sp>
        <p:sp>
          <p:nvSpPr>
            <p:cNvPr id="526" name="Google Shape;526;p22"/>
            <p:cNvSpPr txBox="1"/>
            <p:nvPr/>
          </p:nvSpPr>
          <p:spPr>
            <a:xfrm>
              <a:off x="0" y="-28575"/>
              <a:ext cx="479156" cy="18550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275" lIns="58275" spcFirstLastPara="1" rIns="58275" wrap="square" tIns="58275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22"/>
          <p:cNvGrpSpPr/>
          <p:nvPr/>
        </p:nvGrpSpPr>
        <p:grpSpPr>
          <a:xfrm>
            <a:off x="1926424" y="9087599"/>
            <a:ext cx="7940030" cy="902434"/>
            <a:chOff x="0" y="0"/>
            <a:chExt cx="10586706" cy="1203244"/>
          </a:xfrm>
        </p:grpSpPr>
        <p:sp>
          <p:nvSpPr>
            <p:cNvPr id="528" name="Google Shape;528;p22"/>
            <p:cNvSpPr/>
            <p:nvPr/>
          </p:nvSpPr>
          <p:spPr>
            <a:xfrm>
              <a:off x="0" y="0"/>
              <a:ext cx="2914280" cy="521503"/>
            </a:xfrm>
            <a:custGeom>
              <a:rect b="b" l="l" r="r" t="t"/>
              <a:pathLst>
                <a:path extrusionOk="0" h="521503" w="2914280">
                  <a:moveTo>
                    <a:pt x="0" y="0"/>
                  </a:moveTo>
                  <a:lnTo>
                    <a:pt x="2914280" y="0"/>
                  </a:lnTo>
                  <a:lnTo>
                    <a:pt x="2914280" y="521503"/>
                  </a:lnTo>
                  <a:lnTo>
                    <a:pt x="0" y="5215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29" name="Google Shape;529;p22"/>
            <p:cNvSpPr/>
            <p:nvPr/>
          </p:nvSpPr>
          <p:spPr>
            <a:xfrm>
              <a:off x="2443784" y="0"/>
              <a:ext cx="3405106" cy="521503"/>
            </a:xfrm>
            <a:custGeom>
              <a:rect b="b" l="l" r="r" t="t"/>
              <a:pathLst>
                <a:path extrusionOk="0" h="521503" w="3405106">
                  <a:moveTo>
                    <a:pt x="0" y="0"/>
                  </a:moveTo>
                  <a:lnTo>
                    <a:pt x="3405107" y="0"/>
                  </a:lnTo>
                  <a:lnTo>
                    <a:pt x="3405107" y="521503"/>
                  </a:lnTo>
                  <a:lnTo>
                    <a:pt x="0" y="5215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30" name="Google Shape;530;p22"/>
            <p:cNvSpPr/>
            <p:nvPr/>
          </p:nvSpPr>
          <p:spPr>
            <a:xfrm>
              <a:off x="5848891" y="36718"/>
              <a:ext cx="3077105" cy="484785"/>
            </a:xfrm>
            <a:custGeom>
              <a:rect b="b" l="l" r="r" t="t"/>
              <a:pathLst>
                <a:path extrusionOk="0" h="484785" w="3077105">
                  <a:moveTo>
                    <a:pt x="0" y="0"/>
                  </a:moveTo>
                  <a:lnTo>
                    <a:pt x="3077105" y="0"/>
                  </a:lnTo>
                  <a:lnTo>
                    <a:pt x="3077105" y="484785"/>
                  </a:lnTo>
                  <a:lnTo>
                    <a:pt x="0" y="4847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-15960"/>
              </a:stretch>
            </a:blipFill>
            <a:ln>
              <a:noFill/>
            </a:ln>
          </p:spPr>
        </p:sp>
        <p:sp>
          <p:nvSpPr>
            <p:cNvPr id="531" name="Google Shape;531;p22"/>
            <p:cNvSpPr/>
            <p:nvPr/>
          </p:nvSpPr>
          <p:spPr>
            <a:xfrm>
              <a:off x="143183" y="615347"/>
              <a:ext cx="2283163" cy="482358"/>
            </a:xfrm>
            <a:custGeom>
              <a:rect b="b" l="l" r="r" t="t"/>
              <a:pathLst>
                <a:path extrusionOk="0" h="482358" w="2283163">
                  <a:moveTo>
                    <a:pt x="0" y="0"/>
                  </a:moveTo>
                  <a:lnTo>
                    <a:pt x="2283163" y="0"/>
                  </a:lnTo>
                  <a:lnTo>
                    <a:pt x="2283163" y="482358"/>
                  </a:lnTo>
                  <a:lnTo>
                    <a:pt x="0" y="482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32" name="Google Shape;532;p22"/>
            <p:cNvSpPr/>
            <p:nvPr/>
          </p:nvSpPr>
          <p:spPr>
            <a:xfrm>
              <a:off x="2443784" y="535606"/>
              <a:ext cx="4340657" cy="562099"/>
            </a:xfrm>
            <a:custGeom>
              <a:rect b="b" l="l" r="r" t="t"/>
              <a:pathLst>
                <a:path extrusionOk="0" h="562099" w="4340657">
                  <a:moveTo>
                    <a:pt x="0" y="0"/>
                  </a:moveTo>
                  <a:lnTo>
                    <a:pt x="4340658" y="0"/>
                  </a:lnTo>
                  <a:lnTo>
                    <a:pt x="4340658" y="562099"/>
                  </a:lnTo>
                  <a:lnTo>
                    <a:pt x="0" y="5620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33" name="Google Shape;533;p22"/>
            <p:cNvSpPr/>
            <p:nvPr/>
          </p:nvSpPr>
          <p:spPr>
            <a:xfrm>
              <a:off x="5734273" y="468994"/>
              <a:ext cx="4852433" cy="734250"/>
            </a:xfrm>
            <a:custGeom>
              <a:rect b="b" l="l" r="r" t="t"/>
              <a:pathLst>
                <a:path extrusionOk="0" h="734250" w="4852433">
                  <a:moveTo>
                    <a:pt x="0" y="0"/>
                  </a:moveTo>
                  <a:lnTo>
                    <a:pt x="4852433" y="0"/>
                  </a:lnTo>
                  <a:lnTo>
                    <a:pt x="4852433" y="734249"/>
                  </a:lnTo>
                  <a:lnTo>
                    <a:pt x="0" y="734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23"/>
          <p:cNvGrpSpPr/>
          <p:nvPr/>
        </p:nvGrpSpPr>
        <p:grpSpPr>
          <a:xfrm>
            <a:off x="8765121" y="-235594"/>
            <a:ext cx="11684936" cy="11650232"/>
            <a:chOff x="0" y="-28575"/>
            <a:chExt cx="3077514" cy="3068374"/>
          </a:xfrm>
        </p:grpSpPr>
        <p:sp>
          <p:nvSpPr>
            <p:cNvPr id="539" name="Google Shape;539;p23"/>
            <p:cNvSpPr/>
            <p:nvPr/>
          </p:nvSpPr>
          <p:spPr>
            <a:xfrm>
              <a:off x="0" y="0"/>
              <a:ext cx="3077514" cy="3039799"/>
            </a:xfrm>
            <a:custGeom>
              <a:rect b="b" l="l" r="r" t="t"/>
              <a:pathLst>
                <a:path extrusionOk="0" h="3039799" w="3077514">
                  <a:moveTo>
                    <a:pt x="0" y="0"/>
                  </a:moveTo>
                  <a:lnTo>
                    <a:pt x="3077514" y="0"/>
                  </a:lnTo>
                  <a:lnTo>
                    <a:pt x="3077514" y="3039799"/>
                  </a:lnTo>
                  <a:lnTo>
                    <a:pt x="0" y="3039799"/>
                  </a:lnTo>
                  <a:close/>
                </a:path>
              </a:pathLst>
            </a:custGeom>
            <a:solidFill>
              <a:srgbClr val="F9F5F5"/>
            </a:solidFill>
            <a:ln>
              <a:noFill/>
            </a:ln>
          </p:spPr>
        </p:sp>
        <p:sp>
          <p:nvSpPr>
            <p:cNvPr id="540" name="Google Shape;540;p23"/>
            <p:cNvSpPr txBox="1"/>
            <p:nvPr/>
          </p:nvSpPr>
          <p:spPr>
            <a:xfrm>
              <a:off x="0" y="-28575"/>
              <a:ext cx="3077514" cy="3068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1" name="Google Shape;541;p23"/>
          <p:cNvGrpSpPr/>
          <p:nvPr/>
        </p:nvGrpSpPr>
        <p:grpSpPr>
          <a:xfrm>
            <a:off x="13715357" y="7985036"/>
            <a:ext cx="2816071" cy="1111477"/>
            <a:chOff x="0" y="-28575"/>
            <a:chExt cx="741681" cy="292735"/>
          </a:xfrm>
        </p:grpSpPr>
        <p:sp>
          <p:nvSpPr>
            <p:cNvPr id="542" name="Google Shape;542;p23"/>
            <p:cNvSpPr/>
            <p:nvPr/>
          </p:nvSpPr>
          <p:spPr>
            <a:xfrm>
              <a:off x="0" y="0"/>
              <a:ext cx="741681" cy="264160"/>
            </a:xfrm>
            <a:custGeom>
              <a:rect b="b" l="l" r="r" t="t"/>
              <a:pathLst>
                <a:path extrusionOk="0" h="264160" w="741681">
                  <a:moveTo>
                    <a:pt x="46736" y="0"/>
                  </a:moveTo>
                  <a:lnTo>
                    <a:pt x="694945" y="0"/>
                  </a:lnTo>
                  <a:cubicBezTo>
                    <a:pt x="720757" y="0"/>
                    <a:pt x="741681" y="20925"/>
                    <a:pt x="741681" y="46736"/>
                  </a:cubicBezTo>
                  <a:lnTo>
                    <a:pt x="741681" y="217423"/>
                  </a:lnTo>
                  <a:cubicBezTo>
                    <a:pt x="741681" y="243235"/>
                    <a:pt x="720757" y="264160"/>
                    <a:pt x="694945" y="264160"/>
                  </a:cubicBezTo>
                  <a:lnTo>
                    <a:pt x="46736" y="264160"/>
                  </a:lnTo>
                  <a:cubicBezTo>
                    <a:pt x="20925" y="264160"/>
                    <a:pt x="0" y="243235"/>
                    <a:pt x="0" y="217423"/>
                  </a:cubicBezTo>
                  <a:lnTo>
                    <a:pt x="0" y="46736"/>
                  </a:lnTo>
                  <a:cubicBezTo>
                    <a:pt x="0" y="20925"/>
                    <a:pt x="20925" y="0"/>
                    <a:pt x="467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3"/>
            <p:cNvSpPr txBox="1"/>
            <p:nvPr/>
          </p:nvSpPr>
          <p:spPr>
            <a:xfrm>
              <a:off x="0" y="-28575"/>
              <a:ext cx="741681" cy="292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4" name="Google Shape;544;p23"/>
          <p:cNvSpPr txBox="1"/>
          <p:nvPr/>
        </p:nvSpPr>
        <p:spPr>
          <a:xfrm>
            <a:off x="449565" y="5400689"/>
            <a:ext cx="8252147" cy="3725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250" lvl="1" marL="646500" marR="0" rtl="0" algn="l">
              <a:lnSpc>
                <a:spcPct val="25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4"/>
              <a:buFont typeface="Arial"/>
              <a:buChar char="•"/>
            </a:pPr>
            <a:r>
              <a:rPr b="0" i="0" lang="en-US" sz="29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情緒性消費的比例高（如舒壓、獎勵自己等）</a:t>
            </a:r>
            <a:endParaRPr/>
          </a:p>
          <a:p>
            <a:pPr indent="-323250" lvl="1" marL="646500" marR="0" rtl="0" algn="l">
              <a:lnSpc>
                <a:spcPct val="25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4"/>
              <a:buFont typeface="Arial"/>
              <a:buChar char="•"/>
            </a:pPr>
            <a:r>
              <a:rPr b="0" i="0" lang="en-US" sz="29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高度重視「分享」與「群體認同」</a:t>
            </a:r>
            <a:endParaRPr/>
          </a:p>
          <a:p>
            <a:pPr indent="-323250" lvl="1" marL="646500" marR="0" rtl="0" algn="l">
              <a:lnSpc>
                <a:spcPct val="25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4"/>
              <a:buFont typeface="Arial"/>
              <a:buChar char="•"/>
            </a:pPr>
            <a:r>
              <a:rPr b="0" i="0" lang="en-US" sz="29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喜歡透過方便性高的零食餅乾快速補充能量</a:t>
            </a:r>
            <a:endParaRPr/>
          </a:p>
          <a:p>
            <a:pPr indent="-323250" lvl="1" marL="646500" marR="0" rtl="0" algn="l">
              <a:lnSpc>
                <a:spcPct val="25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4"/>
              <a:buFont typeface="Arial"/>
              <a:buChar char="•"/>
            </a:pPr>
            <a:r>
              <a:rPr b="0" i="0" lang="en-US" sz="29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具備強烈的社交及娛樂需求</a:t>
            </a:r>
            <a:endParaRPr/>
          </a:p>
        </p:txBody>
      </p:sp>
      <p:grpSp>
        <p:nvGrpSpPr>
          <p:cNvPr id="545" name="Google Shape;545;p23"/>
          <p:cNvGrpSpPr/>
          <p:nvPr/>
        </p:nvGrpSpPr>
        <p:grpSpPr>
          <a:xfrm>
            <a:off x="13715357" y="7985036"/>
            <a:ext cx="2816071" cy="1111477"/>
            <a:chOff x="0" y="-28575"/>
            <a:chExt cx="741681" cy="292735"/>
          </a:xfrm>
        </p:grpSpPr>
        <p:sp>
          <p:nvSpPr>
            <p:cNvPr id="546" name="Google Shape;546;p23"/>
            <p:cNvSpPr/>
            <p:nvPr/>
          </p:nvSpPr>
          <p:spPr>
            <a:xfrm>
              <a:off x="0" y="0"/>
              <a:ext cx="741681" cy="264160"/>
            </a:xfrm>
            <a:custGeom>
              <a:rect b="b" l="l" r="r" t="t"/>
              <a:pathLst>
                <a:path extrusionOk="0" h="264160" w="741681">
                  <a:moveTo>
                    <a:pt x="46736" y="0"/>
                  </a:moveTo>
                  <a:lnTo>
                    <a:pt x="694945" y="0"/>
                  </a:lnTo>
                  <a:cubicBezTo>
                    <a:pt x="720757" y="0"/>
                    <a:pt x="741681" y="20925"/>
                    <a:pt x="741681" y="46736"/>
                  </a:cubicBezTo>
                  <a:lnTo>
                    <a:pt x="741681" y="217423"/>
                  </a:lnTo>
                  <a:cubicBezTo>
                    <a:pt x="741681" y="243235"/>
                    <a:pt x="720757" y="264160"/>
                    <a:pt x="694945" y="264160"/>
                  </a:cubicBezTo>
                  <a:lnTo>
                    <a:pt x="46736" y="264160"/>
                  </a:lnTo>
                  <a:cubicBezTo>
                    <a:pt x="20925" y="264160"/>
                    <a:pt x="0" y="243235"/>
                    <a:pt x="0" y="217423"/>
                  </a:cubicBezTo>
                  <a:lnTo>
                    <a:pt x="0" y="46736"/>
                  </a:lnTo>
                  <a:cubicBezTo>
                    <a:pt x="0" y="20925"/>
                    <a:pt x="20925" y="0"/>
                    <a:pt x="467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3"/>
            <p:cNvSpPr txBox="1"/>
            <p:nvPr/>
          </p:nvSpPr>
          <p:spPr>
            <a:xfrm>
              <a:off x="0" y="-28575"/>
              <a:ext cx="741681" cy="292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8360028" y="3349584"/>
            <a:ext cx="9476960" cy="5245438"/>
          </a:xfrm>
          <a:custGeom>
            <a:rect b="b" l="l" r="r" t="t"/>
            <a:pathLst>
              <a:path extrusionOk="0" h="5245438" w="9476960">
                <a:moveTo>
                  <a:pt x="0" y="0"/>
                </a:moveTo>
                <a:lnTo>
                  <a:pt x="9476960" y="0"/>
                </a:lnTo>
                <a:lnTo>
                  <a:pt x="9476960" y="5245438"/>
                </a:lnTo>
                <a:lnTo>
                  <a:pt x="0" y="5245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0"/>
            </a:stretch>
          </a:blipFill>
          <a:ln>
            <a:noFill/>
          </a:ln>
        </p:spPr>
      </p:sp>
      <p:sp>
        <p:nvSpPr>
          <p:cNvPr id="549" name="Google Shape;549;p23"/>
          <p:cNvSpPr txBox="1"/>
          <p:nvPr/>
        </p:nvSpPr>
        <p:spPr>
          <a:xfrm>
            <a:off x="2269035" y="1834269"/>
            <a:ext cx="4613207" cy="1828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14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大學生</a:t>
            </a:r>
            <a:endParaRPr/>
          </a:p>
        </p:txBody>
      </p:sp>
      <p:sp>
        <p:nvSpPr>
          <p:cNvPr id="550" name="Google Shape;550;p23"/>
          <p:cNvSpPr txBox="1"/>
          <p:nvPr/>
        </p:nvSpPr>
        <p:spPr>
          <a:xfrm>
            <a:off x="907510" y="4375180"/>
            <a:ext cx="2461320" cy="76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族群特徵：</a:t>
            </a:r>
            <a:endParaRPr/>
          </a:p>
        </p:txBody>
      </p:sp>
      <p:grpSp>
        <p:nvGrpSpPr>
          <p:cNvPr id="551" name="Google Shape;551;p23"/>
          <p:cNvGrpSpPr/>
          <p:nvPr/>
        </p:nvGrpSpPr>
        <p:grpSpPr>
          <a:xfrm>
            <a:off x="15516554" y="8394997"/>
            <a:ext cx="2029750" cy="1067478"/>
            <a:chOff x="0" y="-266700"/>
            <a:chExt cx="2706333" cy="1423304"/>
          </a:xfrm>
        </p:grpSpPr>
        <p:sp>
          <p:nvSpPr>
            <p:cNvPr id="552" name="Google Shape;552;p23"/>
            <p:cNvSpPr txBox="1"/>
            <p:nvPr/>
          </p:nvSpPr>
          <p:spPr>
            <a:xfrm>
              <a:off x="0" y="-266700"/>
              <a:ext cx="1922185" cy="1423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706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250</a:t>
              </a:r>
              <a:endParaRPr/>
            </a:p>
          </p:txBody>
        </p:sp>
        <p:sp>
          <p:nvSpPr>
            <p:cNvPr id="553" name="Google Shape;553;p23"/>
            <p:cNvSpPr txBox="1"/>
            <p:nvPr/>
          </p:nvSpPr>
          <p:spPr>
            <a:xfrm>
              <a:off x="1991335" y="223788"/>
              <a:ext cx="714998" cy="5462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11" u="none" cap="none" strike="sng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360</a:t>
              </a:r>
              <a:endParaRPr/>
            </a:p>
          </p:txBody>
        </p:sp>
      </p:grpSp>
      <p:sp>
        <p:nvSpPr>
          <p:cNvPr id="554" name="Google Shape;554;p23"/>
          <p:cNvSpPr txBox="1"/>
          <p:nvPr/>
        </p:nvSpPr>
        <p:spPr>
          <a:xfrm>
            <a:off x="9643069" y="557901"/>
            <a:ext cx="9358705" cy="3015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9113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WHAT‘S</a:t>
            </a:r>
            <a:endParaRPr/>
          </a:p>
          <a:p>
            <a:pPr indent="0" lvl="0" marL="0" marR="0" rtl="0" algn="l">
              <a:lnSpc>
                <a:spcPct val="11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9113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/>
          </a:p>
        </p:txBody>
      </p:sp>
      <p:sp>
        <p:nvSpPr>
          <p:cNvPr id="555" name="Google Shape;555;p23"/>
          <p:cNvSpPr txBox="1"/>
          <p:nvPr/>
        </p:nvSpPr>
        <p:spPr>
          <a:xfrm>
            <a:off x="449565" y="487225"/>
            <a:ext cx="4437786" cy="1326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目標客群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4"/>
          <p:cNvSpPr txBox="1"/>
          <p:nvPr/>
        </p:nvSpPr>
        <p:spPr>
          <a:xfrm>
            <a:off x="3747776" y="4062024"/>
            <a:ext cx="13910727" cy="1839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81" u="none" cap="none" strike="noStrike">
                <a:solidFill>
                  <a:srgbClr val="173157"/>
                </a:solidFill>
                <a:latin typeface="Arial"/>
                <a:ea typeface="Arial"/>
                <a:cs typeface="Arial"/>
                <a:sym typeface="Arial"/>
              </a:rPr>
              <a:t>品類 3 ：電子產品</a:t>
            </a:r>
            <a:endParaRPr/>
          </a:p>
        </p:txBody>
      </p:sp>
      <p:sp>
        <p:nvSpPr>
          <p:cNvPr id="561" name="Google Shape;561;p24"/>
          <p:cNvSpPr/>
          <p:nvPr/>
        </p:nvSpPr>
        <p:spPr>
          <a:xfrm>
            <a:off x="1430600" y="1028700"/>
            <a:ext cx="3025142" cy="2563297"/>
          </a:xfrm>
          <a:custGeom>
            <a:rect b="b" l="l" r="r" t="t"/>
            <a:pathLst>
              <a:path extrusionOk="0" h="2563297" w="3025142">
                <a:moveTo>
                  <a:pt x="0" y="0"/>
                </a:moveTo>
                <a:lnTo>
                  <a:pt x="3025142" y="0"/>
                </a:lnTo>
                <a:lnTo>
                  <a:pt x="3025142" y="2563297"/>
                </a:lnTo>
                <a:lnTo>
                  <a:pt x="0" y="2563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006" l="0" r="0" t="-9006"/>
            </a:stretch>
          </a:blipFill>
          <a:ln>
            <a:noFill/>
          </a:ln>
        </p:spPr>
      </p:sp>
      <p:grpSp>
        <p:nvGrpSpPr>
          <p:cNvPr id="562" name="Google Shape;562;p24"/>
          <p:cNvGrpSpPr/>
          <p:nvPr/>
        </p:nvGrpSpPr>
        <p:grpSpPr>
          <a:xfrm>
            <a:off x="-685800" y="8201323"/>
            <a:ext cx="20659729" cy="1757064"/>
            <a:chOff x="0" y="-482203"/>
            <a:chExt cx="27546305" cy="2342753"/>
          </a:xfrm>
        </p:grpSpPr>
        <p:grpSp>
          <p:nvGrpSpPr>
            <p:cNvPr id="563" name="Google Shape;563;p24"/>
            <p:cNvGrpSpPr/>
            <p:nvPr/>
          </p:nvGrpSpPr>
          <p:grpSpPr>
            <a:xfrm>
              <a:off x="0" y="-482203"/>
              <a:ext cx="27546305" cy="1587103"/>
              <a:chOff x="0" y="-95250"/>
              <a:chExt cx="5441245" cy="313502"/>
            </a:xfrm>
          </p:grpSpPr>
          <p:sp>
            <p:nvSpPr>
              <p:cNvPr id="564" name="Google Shape;564;p24"/>
              <p:cNvSpPr/>
              <p:nvPr/>
            </p:nvSpPr>
            <p:spPr>
              <a:xfrm>
                <a:off x="0" y="0"/>
                <a:ext cx="5441245" cy="218252"/>
              </a:xfrm>
              <a:custGeom>
                <a:rect b="b" l="l" r="r" t="t"/>
                <a:pathLst>
                  <a:path extrusionOk="0" h="218252" w="5441245">
                    <a:moveTo>
                      <a:pt x="0" y="0"/>
                    </a:moveTo>
                    <a:lnTo>
                      <a:pt x="5441245" y="0"/>
                    </a:lnTo>
                    <a:lnTo>
                      <a:pt x="5441245" y="218252"/>
                    </a:lnTo>
                    <a:lnTo>
                      <a:pt x="0" y="218252"/>
                    </a:ln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</p:sp>
          <p:sp>
            <p:nvSpPr>
              <p:cNvPr id="565" name="Google Shape;565;p24"/>
              <p:cNvSpPr txBox="1"/>
              <p:nvPr/>
            </p:nvSpPr>
            <p:spPr>
              <a:xfrm>
                <a:off x="0" y="-95250"/>
                <a:ext cx="5441244" cy="313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0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6" name="Google Shape;566;p24"/>
            <p:cNvGrpSpPr/>
            <p:nvPr/>
          </p:nvGrpSpPr>
          <p:grpSpPr>
            <a:xfrm>
              <a:off x="0" y="1035445"/>
              <a:ext cx="27546305" cy="825105"/>
              <a:chOff x="0" y="-95250"/>
              <a:chExt cx="5441245" cy="162983"/>
            </a:xfrm>
          </p:grpSpPr>
          <p:sp>
            <p:nvSpPr>
              <p:cNvPr id="567" name="Google Shape;567;p24"/>
              <p:cNvSpPr/>
              <p:nvPr/>
            </p:nvSpPr>
            <p:spPr>
              <a:xfrm>
                <a:off x="0" y="0"/>
                <a:ext cx="5441245" cy="67733"/>
              </a:xfrm>
              <a:custGeom>
                <a:rect b="b" l="l" r="r" t="t"/>
                <a:pathLst>
                  <a:path extrusionOk="0" h="67733" w="5441245">
                    <a:moveTo>
                      <a:pt x="0" y="0"/>
                    </a:moveTo>
                    <a:lnTo>
                      <a:pt x="5441245" y="0"/>
                    </a:lnTo>
                    <a:lnTo>
                      <a:pt x="5441245" y="67733"/>
                    </a:lnTo>
                    <a:lnTo>
                      <a:pt x="0" y="67733"/>
                    </a:ln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</p:sp>
          <p:sp>
            <p:nvSpPr>
              <p:cNvPr id="568" name="Google Shape;568;p24"/>
              <p:cNvSpPr txBox="1"/>
              <p:nvPr/>
            </p:nvSpPr>
            <p:spPr>
              <a:xfrm>
                <a:off x="0" y="-95250"/>
                <a:ext cx="5441244" cy="162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0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69" name="Google Shape;569;p24"/>
          <p:cNvSpPr/>
          <p:nvPr/>
        </p:nvSpPr>
        <p:spPr>
          <a:xfrm>
            <a:off x="15705314" y="6680643"/>
            <a:ext cx="1953188" cy="1704156"/>
          </a:xfrm>
          <a:custGeom>
            <a:rect b="b" l="l" r="r" t="t"/>
            <a:pathLst>
              <a:path extrusionOk="0" h="1704156" w="1953188">
                <a:moveTo>
                  <a:pt x="0" y="0"/>
                </a:moveTo>
                <a:lnTo>
                  <a:pt x="1953188" y="0"/>
                </a:lnTo>
                <a:lnTo>
                  <a:pt x="1953188" y="1704157"/>
                </a:lnTo>
                <a:lnTo>
                  <a:pt x="0" y="17041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5"/>
          <p:cNvSpPr txBox="1"/>
          <p:nvPr/>
        </p:nvSpPr>
        <p:spPr>
          <a:xfrm>
            <a:off x="10385373" y="561881"/>
            <a:ext cx="10941043" cy="1606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分析現況</a:t>
            </a:r>
            <a:endParaRPr/>
          </a:p>
        </p:txBody>
      </p:sp>
      <p:graphicFrame>
        <p:nvGraphicFramePr>
          <p:cNvPr id="575" name="Google Shape;575;p25"/>
          <p:cNvGraphicFramePr/>
          <p:nvPr/>
        </p:nvGraphicFramePr>
        <p:xfrm>
          <a:off x="10385373" y="26944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{4C2B6DD9-06C9-47CB-A7B3-0F92CF147B39}</a:tableStyleId>
              </a:tblPr>
              <a:tblGrid>
                <a:gridCol w="3570325"/>
                <a:gridCol w="2730350"/>
              </a:tblGrid>
              <a:tr h="102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總營收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低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毛利率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最高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平均價格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次高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平均年齡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高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回購率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低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連帶購買率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高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76" name="Google Shape;576;p25"/>
          <p:cNvGrpSpPr/>
          <p:nvPr/>
        </p:nvGrpSpPr>
        <p:grpSpPr>
          <a:xfrm>
            <a:off x="759631" y="1560418"/>
            <a:ext cx="8384372" cy="7315133"/>
            <a:chOff x="0" y="0"/>
            <a:chExt cx="11179163" cy="9753511"/>
          </a:xfrm>
        </p:grpSpPr>
        <p:sp>
          <p:nvSpPr>
            <p:cNvPr id="577" name="Google Shape;577;p25"/>
            <p:cNvSpPr/>
            <p:nvPr/>
          </p:nvSpPr>
          <p:spPr>
            <a:xfrm>
              <a:off x="0" y="0"/>
              <a:ext cx="11179159" cy="9753511"/>
            </a:xfrm>
            <a:custGeom>
              <a:rect b="b" l="l" r="r" t="t"/>
              <a:pathLst>
                <a:path extrusionOk="0" h="9753511" w="11179159">
                  <a:moveTo>
                    <a:pt x="0" y="0"/>
                  </a:moveTo>
                  <a:lnTo>
                    <a:pt x="11179159" y="0"/>
                  </a:lnTo>
                  <a:lnTo>
                    <a:pt x="11179159" y="9753511"/>
                  </a:lnTo>
                  <a:lnTo>
                    <a:pt x="0" y="97535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-28792" t="-566"/>
              </a:stretch>
            </a:blipFill>
            <a:ln>
              <a:noFill/>
            </a:ln>
          </p:spPr>
        </p:sp>
        <p:grpSp>
          <p:nvGrpSpPr>
            <p:cNvPr id="578" name="Google Shape;578;p25"/>
            <p:cNvGrpSpPr/>
            <p:nvPr/>
          </p:nvGrpSpPr>
          <p:grpSpPr>
            <a:xfrm>
              <a:off x="1919404" y="10837"/>
              <a:ext cx="4644206" cy="8282135"/>
              <a:chOff x="0" y="-28575"/>
              <a:chExt cx="1040232" cy="1855074"/>
            </a:xfrm>
          </p:grpSpPr>
          <p:sp>
            <p:nvSpPr>
              <p:cNvPr id="579" name="Google Shape;579;p25"/>
              <p:cNvSpPr/>
              <p:nvPr/>
            </p:nvSpPr>
            <p:spPr>
              <a:xfrm>
                <a:off x="0" y="0"/>
                <a:ext cx="1040232" cy="1826499"/>
              </a:xfrm>
              <a:custGeom>
                <a:rect b="b" l="l" r="r" t="t"/>
                <a:pathLst>
                  <a:path extrusionOk="0" h="1826499" w="1040232">
                    <a:moveTo>
                      <a:pt x="0" y="0"/>
                    </a:moveTo>
                    <a:lnTo>
                      <a:pt x="1040232" y="0"/>
                    </a:lnTo>
                    <a:lnTo>
                      <a:pt x="1040232" y="1826499"/>
                    </a:lnTo>
                    <a:lnTo>
                      <a:pt x="0" y="1826499"/>
                    </a:lnTo>
                    <a:close/>
                  </a:path>
                </a:pathLst>
              </a:custGeom>
              <a:solidFill>
                <a:srgbClr val="FFFFFF">
                  <a:alpha val="87450"/>
                </a:srgbClr>
              </a:solidFill>
              <a:ln>
                <a:noFill/>
              </a:ln>
            </p:spPr>
          </p:sp>
          <p:sp>
            <p:nvSpPr>
              <p:cNvPr id="580" name="Google Shape;580;p25"/>
              <p:cNvSpPr txBox="1"/>
              <p:nvPr/>
            </p:nvSpPr>
            <p:spPr>
              <a:xfrm>
                <a:off x="0" y="-28575"/>
                <a:ext cx="1040232" cy="1855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8275" lIns="58275" spcFirstLastPara="1" rIns="58275" wrap="square" tIns="58275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1" name="Google Shape;581;p25"/>
            <p:cNvGrpSpPr/>
            <p:nvPr/>
          </p:nvGrpSpPr>
          <p:grpSpPr>
            <a:xfrm>
              <a:off x="8594747" y="10837"/>
              <a:ext cx="2584416" cy="8282135"/>
              <a:chOff x="0" y="-28575"/>
              <a:chExt cx="578870" cy="1855074"/>
            </a:xfrm>
          </p:grpSpPr>
          <p:sp>
            <p:nvSpPr>
              <p:cNvPr id="582" name="Google Shape;582;p25"/>
              <p:cNvSpPr/>
              <p:nvPr/>
            </p:nvSpPr>
            <p:spPr>
              <a:xfrm>
                <a:off x="0" y="0"/>
                <a:ext cx="578870" cy="1826499"/>
              </a:xfrm>
              <a:custGeom>
                <a:rect b="b" l="l" r="r" t="t"/>
                <a:pathLst>
                  <a:path extrusionOk="0" h="1826499" w="578870">
                    <a:moveTo>
                      <a:pt x="0" y="0"/>
                    </a:moveTo>
                    <a:lnTo>
                      <a:pt x="578870" y="0"/>
                    </a:lnTo>
                    <a:lnTo>
                      <a:pt x="578870" y="1826499"/>
                    </a:lnTo>
                    <a:lnTo>
                      <a:pt x="0" y="1826499"/>
                    </a:lnTo>
                    <a:close/>
                  </a:path>
                </a:pathLst>
              </a:custGeom>
              <a:solidFill>
                <a:srgbClr val="FFFFFF">
                  <a:alpha val="87450"/>
                </a:srgbClr>
              </a:solidFill>
              <a:ln>
                <a:noFill/>
              </a:ln>
            </p:spPr>
          </p:sp>
          <p:sp>
            <p:nvSpPr>
              <p:cNvPr id="583" name="Google Shape;583;p25"/>
              <p:cNvSpPr txBox="1"/>
              <p:nvPr/>
            </p:nvSpPr>
            <p:spPr>
              <a:xfrm>
                <a:off x="0" y="-28575"/>
                <a:ext cx="578869" cy="1855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8275" lIns="58275" spcFirstLastPara="1" rIns="58275" wrap="square" tIns="58275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4" name="Google Shape;584;p25"/>
          <p:cNvGrpSpPr/>
          <p:nvPr/>
        </p:nvGrpSpPr>
        <p:grpSpPr>
          <a:xfrm>
            <a:off x="2111310" y="9068180"/>
            <a:ext cx="7940030" cy="902434"/>
            <a:chOff x="0" y="0"/>
            <a:chExt cx="10586706" cy="1203244"/>
          </a:xfrm>
        </p:grpSpPr>
        <p:sp>
          <p:nvSpPr>
            <p:cNvPr id="585" name="Google Shape;585;p25"/>
            <p:cNvSpPr/>
            <p:nvPr/>
          </p:nvSpPr>
          <p:spPr>
            <a:xfrm>
              <a:off x="0" y="0"/>
              <a:ext cx="2914280" cy="521503"/>
            </a:xfrm>
            <a:custGeom>
              <a:rect b="b" l="l" r="r" t="t"/>
              <a:pathLst>
                <a:path extrusionOk="0" h="521503" w="2914280">
                  <a:moveTo>
                    <a:pt x="0" y="0"/>
                  </a:moveTo>
                  <a:lnTo>
                    <a:pt x="2914280" y="0"/>
                  </a:lnTo>
                  <a:lnTo>
                    <a:pt x="2914280" y="521503"/>
                  </a:lnTo>
                  <a:lnTo>
                    <a:pt x="0" y="5215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86" name="Google Shape;586;p25"/>
            <p:cNvSpPr/>
            <p:nvPr/>
          </p:nvSpPr>
          <p:spPr>
            <a:xfrm>
              <a:off x="2443784" y="0"/>
              <a:ext cx="3405106" cy="521503"/>
            </a:xfrm>
            <a:custGeom>
              <a:rect b="b" l="l" r="r" t="t"/>
              <a:pathLst>
                <a:path extrusionOk="0" h="521503" w="3405106">
                  <a:moveTo>
                    <a:pt x="0" y="0"/>
                  </a:moveTo>
                  <a:lnTo>
                    <a:pt x="3405107" y="0"/>
                  </a:lnTo>
                  <a:lnTo>
                    <a:pt x="3405107" y="521503"/>
                  </a:lnTo>
                  <a:lnTo>
                    <a:pt x="0" y="5215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87" name="Google Shape;587;p25"/>
            <p:cNvSpPr/>
            <p:nvPr/>
          </p:nvSpPr>
          <p:spPr>
            <a:xfrm>
              <a:off x="5848891" y="36718"/>
              <a:ext cx="3077105" cy="484785"/>
            </a:xfrm>
            <a:custGeom>
              <a:rect b="b" l="l" r="r" t="t"/>
              <a:pathLst>
                <a:path extrusionOk="0" h="484785" w="3077105">
                  <a:moveTo>
                    <a:pt x="0" y="0"/>
                  </a:moveTo>
                  <a:lnTo>
                    <a:pt x="3077105" y="0"/>
                  </a:lnTo>
                  <a:lnTo>
                    <a:pt x="3077105" y="484785"/>
                  </a:lnTo>
                  <a:lnTo>
                    <a:pt x="0" y="4847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-15960"/>
              </a:stretch>
            </a:blipFill>
            <a:ln>
              <a:noFill/>
            </a:ln>
          </p:spPr>
        </p:sp>
        <p:sp>
          <p:nvSpPr>
            <p:cNvPr id="588" name="Google Shape;588;p25"/>
            <p:cNvSpPr/>
            <p:nvPr/>
          </p:nvSpPr>
          <p:spPr>
            <a:xfrm>
              <a:off x="143183" y="615347"/>
              <a:ext cx="2283163" cy="482358"/>
            </a:xfrm>
            <a:custGeom>
              <a:rect b="b" l="l" r="r" t="t"/>
              <a:pathLst>
                <a:path extrusionOk="0" h="482358" w="2283163">
                  <a:moveTo>
                    <a:pt x="0" y="0"/>
                  </a:moveTo>
                  <a:lnTo>
                    <a:pt x="2283163" y="0"/>
                  </a:lnTo>
                  <a:lnTo>
                    <a:pt x="2283163" y="482358"/>
                  </a:lnTo>
                  <a:lnTo>
                    <a:pt x="0" y="482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89" name="Google Shape;589;p25"/>
            <p:cNvSpPr/>
            <p:nvPr/>
          </p:nvSpPr>
          <p:spPr>
            <a:xfrm>
              <a:off x="2443784" y="535606"/>
              <a:ext cx="4340657" cy="562099"/>
            </a:xfrm>
            <a:custGeom>
              <a:rect b="b" l="l" r="r" t="t"/>
              <a:pathLst>
                <a:path extrusionOk="0" h="562099" w="4340657">
                  <a:moveTo>
                    <a:pt x="0" y="0"/>
                  </a:moveTo>
                  <a:lnTo>
                    <a:pt x="4340658" y="0"/>
                  </a:lnTo>
                  <a:lnTo>
                    <a:pt x="4340658" y="562099"/>
                  </a:lnTo>
                  <a:lnTo>
                    <a:pt x="0" y="5620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90" name="Google Shape;590;p25"/>
            <p:cNvSpPr/>
            <p:nvPr/>
          </p:nvSpPr>
          <p:spPr>
            <a:xfrm>
              <a:off x="5734273" y="468994"/>
              <a:ext cx="4852433" cy="734250"/>
            </a:xfrm>
            <a:custGeom>
              <a:rect b="b" l="l" r="r" t="t"/>
              <a:pathLst>
                <a:path extrusionOk="0" h="734250" w="4852433">
                  <a:moveTo>
                    <a:pt x="0" y="0"/>
                  </a:moveTo>
                  <a:lnTo>
                    <a:pt x="4852433" y="0"/>
                  </a:lnTo>
                  <a:lnTo>
                    <a:pt x="4852433" y="734249"/>
                  </a:lnTo>
                  <a:lnTo>
                    <a:pt x="0" y="734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oogle Shape;595;p26"/>
          <p:cNvGrpSpPr/>
          <p:nvPr/>
        </p:nvGrpSpPr>
        <p:grpSpPr>
          <a:xfrm>
            <a:off x="10497032" y="1001665"/>
            <a:ext cx="6292237" cy="4047280"/>
            <a:chOff x="0" y="-390525"/>
            <a:chExt cx="8389650" cy="5396373"/>
          </a:xfrm>
        </p:grpSpPr>
        <p:sp>
          <p:nvSpPr>
            <p:cNvPr id="596" name="Google Shape;596;p26"/>
            <p:cNvSpPr txBox="1"/>
            <p:nvPr/>
          </p:nvSpPr>
          <p:spPr>
            <a:xfrm>
              <a:off x="428034" y="-390525"/>
              <a:ext cx="5418455" cy="2011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0" u="none" cap="none" strike="noStrike">
                  <a:solidFill>
                    <a:srgbClr val="0C63AE"/>
                  </a:solidFill>
                  <a:latin typeface="Arial"/>
                  <a:ea typeface="Arial"/>
                  <a:cs typeface="Arial"/>
                  <a:sym typeface="Arial"/>
                </a:rPr>
                <a:t>現象診斷</a:t>
              </a:r>
              <a:endParaRPr/>
            </a:p>
          </p:txBody>
        </p:sp>
        <p:sp>
          <p:nvSpPr>
            <p:cNvPr id="597" name="Google Shape;597;p26"/>
            <p:cNvSpPr txBox="1"/>
            <p:nvPr/>
          </p:nvSpPr>
          <p:spPr>
            <a:xfrm>
              <a:off x="0" y="1921408"/>
              <a:ext cx="8389650" cy="3084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78538" lvl="1" marL="557079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80"/>
                <a:buFont typeface="Arial"/>
                <a:buChar char="•"/>
              </a:pPr>
              <a:r>
                <a:rPr b="0" i="0" lang="en-US" sz="258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營收低、價格次高，且毛利高 → 定價保有調整空間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78538" lvl="1" marL="557079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80"/>
                <a:buFont typeface="Arial"/>
                <a:buChar char="•"/>
              </a:pPr>
              <a:r>
                <a:rPr b="0" i="0" lang="en-US" sz="258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回購率低 → 由於產品生命週期長，又為耐久財，因此不易回購。</a:t>
              </a:r>
              <a:endParaRPr/>
            </a:p>
          </p:txBody>
        </p:sp>
      </p:grpSp>
      <p:grpSp>
        <p:nvGrpSpPr>
          <p:cNvPr id="598" name="Google Shape;598;p26"/>
          <p:cNvGrpSpPr/>
          <p:nvPr/>
        </p:nvGrpSpPr>
        <p:grpSpPr>
          <a:xfrm>
            <a:off x="759631" y="1560418"/>
            <a:ext cx="8384372" cy="7315133"/>
            <a:chOff x="0" y="0"/>
            <a:chExt cx="11179163" cy="9753511"/>
          </a:xfrm>
        </p:grpSpPr>
        <p:sp>
          <p:nvSpPr>
            <p:cNvPr id="599" name="Google Shape;599;p26"/>
            <p:cNvSpPr/>
            <p:nvPr/>
          </p:nvSpPr>
          <p:spPr>
            <a:xfrm>
              <a:off x="0" y="0"/>
              <a:ext cx="11179159" cy="9753511"/>
            </a:xfrm>
            <a:custGeom>
              <a:rect b="b" l="l" r="r" t="t"/>
              <a:pathLst>
                <a:path extrusionOk="0" h="9753511" w="11179159">
                  <a:moveTo>
                    <a:pt x="0" y="0"/>
                  </a:moveTo>
                  <a:lnTo>
                    <a:pt x="11179159" y="0"/>
                  </a:lnTo>
                  <a:lnTo>
                    <a:pt x="11179159" y="9753511"/>
                  </a:lnTo>
                  <a:lnTo>
                    <a:pt x="0" y="97535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-28792" t="-566"/>
              </a:stretch>
            </a:blipFill>
            <a:ln>
              <a:noFill/>
            </a:ln>
          </p:spPr>
        </p:sp>
        <p:grpSp>
          <p:nvGrpSpPr>
            <p:cNvPr id="600" name="Google Shape;600;p26"/>
            <p:cNvGrpSpPr/>
            <p:nvPr/>
          </p:nvGrpSpPr>
          <p:grpSpPr>
            <a:xfrm>
              <a:off x="1919404" y="10837"/>
              <a:ext cx="4644206" cy="8282135"/>
              <a:chOff x="0" y="-28575"/>
              <a:chExt cx="1040232" cy="1855074"/>
            </a:xfrm>
          </p:grpSpPr>
          <p:sp>
            <p:nvSpPr>
              <p:cNvPr id="601" name="Google Shape;601;p26"/>
              <p:cNvSpPr/>
              <p:nvPr/>
            </p:nvSpPr>
            <p:spPr>
              <a:xfrm>
                <a:off x="0" y="0"/>
                <a:ext cx="1040232" cy="1826499"/>
              </a:xfrm>
              <a:custGeom>
                <a:rect b="b" l="l" r="r" t="t"/>
                <a:pathLst>
                  <a:path extrusionOk="0" h="1826499" w="1040232">
                    <a:moveTo>
                      <a:pt x="0" y="0"/>
                    </a:moveTo>
                    <a:lnTo>
                      <a:pt x="1040232" y="0"/>
                    </a:lnTo>
                    <a:lnTo>
                      <a:pt x="1040232" y="1826499"/>
                    </a:lnTo>
                    <a:lnTo>
                      <a:pt x="0" y="1826499"/>
                    </a:lnTo>
                    <a:close/>
                  </a:path>
                </a:pathLst>
              </a:custGeom>
              <a:solidFill>
                <a:srgbClr val="FFFFFF">
                  <a:alpha val="87450"/>
                </a:srgbClr>
              </a:solidFill>
              <a:ln>
                <a:noFill/>
              </a:ln>
            </p:spPr>
          </p:sp>
          <p:sp>
            <p:nvSpPr>
              <p:cNvPr id="602" name="Google Shape;602;p26"/>
              <p:cNvSpPr txBox="1"/>
              <p:nvPr/>
            </p:nvSpPr>
            <p:spPr>
              <a:xfrm>
                <a:off x="0" y="-28575"/>
                <a:ext cx="1040232" cy="1855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8275" lIns="58275" spcFirstLastPara="1" rIns="58275" wrap="square" tIns="58275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8594747" y="10837"/>
              <a:ext cx="2584416" cy="8282135"/>
              <a:chOff x="0" y="-28575"/>
              <a:chExt cx="578870" cy="1855074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0" y="0"/>
                <a:ext cx="578870" cy="1826499"/>
              </a:xfrm>
              <a:custGeom>
                <a:rect b="b" l="l" r="r" t="t"/>
                <a:pathLst>
                  <a:path extrusionOk="0" h="1826499" w="578870">
                    <a:moveTo>
                      <a:pt x="0" y="0"/>
                    </a:moveTo>
                    <a:lnTo>
                      <a:pt x="578870" y="0"/>
                    </a:lnTo>
                    <a:lnTo>
                      <a:pt x="578870" y="1826499"/>
                    </a:lnTo>
                    <a:lnTo>
                      <a:pt x="0" y="1826499"/>
                    </a:lnTo>
                    <a:close/>
                  </a:path>
                </a:pathLst>
              </a:custGeom>
              <a:solidFill>
                <a:srgbClr val="FFFFFF">
                  <a:alpha val="87450"/>
                </a:srgbClr>
              </a:solidFill>
              <a:ln>
                <a:noFill/>
              </a:ln>
            </p:spPr>
          </p:sp>
          <p:sp>
            <p:nvSpPr>
              <p:cNvPr id="605" name="Google Shape;605;p26"/>
              <p:cNvSpPr txBox="1"/>
              <p:nvPr/>
            </p:nvSpPr>
            <p:spPr>
              <a:xfrm>
                <a:off x="0" y="-28575"/>
                <a:ext cx="578869" cy="1855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8275" lIns="58275" spcFirstLastPara="1" rIns="58275" wrap="square" tIns="58275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06" name="Google Shape;606;p26"/>
          <p:cNvGrpSpPr/>
          <p:nvPr/>
        </p:nvGrpSpPr>
        <p:grpSpPr>
          <a:xfrm>
            <a:off x="2111310" y="9068180"/>
            <a:ext cx="7940030" cy="902434"/>
            <a:chOff x="0" y="0"/>
            <a:chExt cx="10586706" cy="1203244"/>
          </a:xfrm>
        </p:grpSpPr>
        <p:sp>
          <p:nvSpPr>
            <p:cNvPr id="607" name="Google Shape;607;p26"/>
            <p:cNvSpPr/>
            <p:nvPr/>
          </p:nvSpPr>
          <p:spPr>
            <a:xfrm>
              <a:off x="0" y="0"/>
              <a:ext cx="2914280" cy="521503"/>
            </a:xfrm>
            <a:custGeom>
              <a:rect b="b" l="l" r="r" t="t"/>
              <a:pathLst>
                <a:path extrusionOk="0" h="521503" w="2914280">
                  <a:moveTo>
                    <a:pt x="0" y="0"/>
                  </a:moveTo>
                  <a:lnTo>
                    <a:pt x="2914280" y="0"/>
                  </a:lnTo>
                  <a:lnTo>
                    <a:pt x="2914280" y="521503"/>
                  </a:lnTo>
                  <a:lnTo>
                    <a:pt x="0" y="5215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08" name="Google Shape;608;p26"/>
            <p:cNvSpPr/>
            <p:nvPr/>
          </p:nvSpPr>
          <p:spPr>
            <a:xfrm>
              <a:off x="2443784" y="0"/>
              <a:ext cx="3405106" cy="521503"/>
            </a:xfrm>
            <a:custGeom>
              <a:rect b="b" l="l" r="r" t="t"/>
              <a:pathLst>
                <a:path extrusionOk="0" h="521503" w="3405106">
                  <a:moveTo>
                    <a:pt x="0" y="0"/>
                  </a:moveTo>
                  <a:lnTo>
                    <a:pt x="3405107" y="0"/>
                  </a:lnTo>
                  <a:lnTo>
                    <a:pt x="3405107" y="521503"/>
                  </a:lnTo>
                  <a:lnTo>
                    <a:pt x="0" y="5215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09" name="Google Shape;609;p26"/>
            <p:cNvSpPr/>
            <p:nvPr/>
          </p:nvSpPr>
          <p:spPr>
            <a:xfrm>
              <a:off x="5848891" y="36718"/>
              <a:ext cx="3077105" cy="484785"/>
            </a:xfrm>
            <a:custGeom>
              <a:rect b="b" l="l" r="r" t="t"/>
              <a:pathLst>
                <a:path extrusionOk="0" h="484785" w="3077105">
                  <a:moveTo>
                    <a:pt x="0" y="0"/>
                  </a:moveTo>
                  <a:lnTo>
                    <a:pt x="3077105" y="0"/>
                  </a:lnTo>
                  <a:lnTo>
                    <a:pt x="3077105" y="484785"/>
                  </a:lnTo>
                  <a:lnTo>
                    <a:pt x="0" y="4847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-15960"/>
              </a:stretch>
            </a:blipFill>
            <a:ln>
              <a:noFill/>
            </a:ln>
          </p:spPr>
        </p:sp>
        <p:sp>
          <p:nvSpPr>
            <p:cNvPr id="610" name="Google Shape;610;p26"/>
            <p:cNvSpPr/>
            <p:nvPr/>
          </p:nvSpPr>
          <p:spPr>
            <a:xfrm>
              <a:off x="143183" y="615347"/>
              <a:ext cx="2283163" cy="482358"/>
            </a:xfrm>
            <a:custGeom>
              <a:rect b="b" l="l" r="r" t="t"/>
              <a:pathLst>
                <a:path extrusionOk="0" h="482358" w="2283163">
                  <a:moveTo>
                    <a:pt x="0" y="0"/>
                  </a:moveTo>
                  <a:lnTo>
                    <a:pt x="2283163" y="0"/>
                  </a:lnTo>
                  <a:lnTo>
                    <a:pt x="2283163" y="482358"/>
                  </a:lnTo>
                  <a:lnTo>
                    <a:pt x="0" y="482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11" name="Google Shape;611;p26"/>
            <p:cNvSpPr/>
            <p:nvPr/>
          </p:nvSpPr>
          <p:spPr>
            <a:xfrm>
              <a:off x="2443784" y="535606"/>
              <a:ext cx="4340657" cy="562099"/>
            </a:xfrm>
            <a:custGeom>
              <a:rect b="b" l="l" r="r" t="t"/>
              <a:pathLst>
                <a:path extrusionOk="0" h="562099" w="4340657">
                  <a:moveTo>
                    <a:pt x="0" y="0"/>
                  </a:moveTo>
                  <a:lnTo>
                    <a:pt x="4340658" y="0"/>
                  </a:lnTo>
                  <a:lnTo>
                    <a:pt x="4340658" y="562099"/>
                  </a:lnTo>
                  <a:lnTo>
                    <a:pt x="0" y="5620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12" name="Google Shape;612;p26"/>
            <p:cNvSpPr/>
            <p:nvPr/>
          </p:nvSpPr>
          <p:spPr>
            <a:xfrm>
              <a:off x="5734273" y="468994"/>
              <a:ext cx="4852433" cy="734250"/>
            </a:xfrm>
            <a:custGeom>
              <a:rect b="b" l="l" r="r" t="t"/>
              <a:pathLst>
                <a:path extrusionOk="0" h="734250" w="4852433">
                  <a:moveTo>
                    <a:pt x="0" y="0"/>
                  </a:moveTo>
                  <a:lnTo>
                    <a:pt x="4852433" y="0"/>
                  </a:lnTo>
                  <a:lnTo>
                    <a:pt x="4852433" y="734249"/>
                  </a:lnTo>
                  <a:lnTo>
                    <a:pt x="0" y="734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613" name="Google Shape;613;p26"/>
          <p:cNvGrpSpPr/>
          <p:nvPr/>
        </p:nvGrpSpPr>
        <p:grpSpPr>
          <a:xfrm>
            <a:off x="10818057" y="5322087"/>
            <a:ext cx="5971212" cy="3819323"/>
            <a:chOff x="0" y="-390525"/>
            <a:chExt cx="7961616" cy="5092430"/>
          </a:xfrm>
        </p:grpSpPr>
        <p:sp>
          <p:nvSpPr>
            <p:cNvPr id="614" name="Google Shape;614;p26"/>
            <p:cNvSpPr txBox="1"/>
            <p:nvPr/>
          </p:nvSpPr>
          <p:spPr>
            <a:xfrm>
              <a:off x="0" y="-390525"/>
              <a:ext cx="5418455" cy="2011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0" u="none" cap="none" strike="noStrike">
                  <a:solidFill>
                    <a:srgbClr val="0C63AE"/>
                  </a:solidFill>
                  <a:latin typeface="Arial"/>
                  <a:ea typeface="Arial"/>
                  <a:cs typeface="Arial"/>
                  <a:sym typeface="Arial"/>
                </a:rPr>
                <a:t>行銷策略</a:t>
              </a:r>
              <a:endParaRPr/>
            </a:p>
          </p:txBody>
        </p:sp>
        <p:sp>
          <p:nvSpPr>
            <p:cNvPr id="615" name="Google Shape;615;p26"/>
            <p:cNvSpPr txBox="1"/>
            <p:nvPr/>
          </p:nvSpPr>
          <p:spPr>
            <a:xfrm>
              <a:off x="371790" y="2110731"/>
              <a:ext cx="7589826" cy="2591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根據「產品生命週期」對於每一個階段提出相對應適合的行銷策略，提升銷量和轉換率，-持續強化顧客關係管理，增加回購率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27"/>
          <p:cNvGrpSpPr/>
          <p:nvPr/>
        </p:nvGrpSpPr>
        <p:grpSpPr>
          <a:xfrm>
            <a:off x="5774432" y="-108496"/>
            <a:ext cx="12665968" cy="10547896"/>
            <a:chOff x="0" y="-28575"/>
            <a:chExt cx="3335893" cy="2778047"/>
          </a:xfrm>
        </p:grpSpPr>
        <p:sp>
          <p:nvSpPr>
            <p:cNvPr id="621" name="Google Shape;621;p27"/>
            <p:cNvSpPr/>
            <p:nvPr/>
          </p:nvSpPr>
          <p:spPr>
            <a:xfrm>
              <a:off x="0" y="0"/>
              <a:ext cx="3335893" cy="2749472"/>
            </a:xfrm>
            <a:custGeom>
              <a:rect b="b" l="l" r="r" t="t"/>
              <a:pathLst>
                <a:path extrusionOk="0" h="2749472" w="3335893">
                  <a:moveTo>
                    <a:pt x="0" y="0"/>
                  </a:moveTo>
                  <a:lnTo>
                    <a:pt x="3335893" y="0"/>
                  </a:lnTo>
                  <a:lnTo>
                    <a:pt x="3335893" y="2749472"/>
                  </a:lnTo>
                  <a:lnTo>
                    <a:pt x="0" y="2749472"/>
                  </a:lnTo>
                  <a:close/>
                </a:path>
              </a:pathLst>
            </a:custGeom>
            <a:solidFill>
              <a:srgbClr val="989898">
                <a:alpha val="12549"/>
              </a:srgbClr>
            </a:solidFill>
            <a:ln>
              <a:noFill/>
            </a:ln>
          </p:spPr>
        </p:sp>
        <p:sp>
          <p:nvSpPr>
            <p:cNvPr id="622" name="Google Shape;622;p27"/>
            <p:cNvSpPr txBox="1"/>
            <p:nvPr/>
          </p:nvSpPr>
          <p:spPr>
            <a:xfrm>
              <a:off x="0" y="-28575"/>
              <a:ext cx="3335893" cy="2778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3" name="Google Shape;623;p27"/>
          <p:cNvGrpSpPr/>
          <p:nvPr/>
        </p:nvGrpSpPr>
        <p:grpSpPr>
          <a:xfrm>
            <a:off x="12618393" y="-108496"/>
            <a:ext cx="5669607" cy="10395496"/>
            <a:chOff x="0" y="-28575"/>
            <a:chExt cx="1493230" cy="2737908"/>
          </a:xfrm>
        </p:grpSpPr>
        <p:sp>
          <p:nvSpPr>
            <p:cNvPr id="624" name="Google Shape;624;p27"/>
            <p:cNvSpPr/>
            <p:nvPr/>
          </p:nvSpPr>
          <p:spPr>
            <a:xfrm>
              <a:off x="0" y="0"/>
              <a:ext cx="1493230" cy="2709333"/>
            </a:xfrm>
            <a:custGeom>
              <a:rect b="b" l="l" r="r" t="t"/>
              <a:pathLst>
                <a:path extrusionOk="0" h="2709333" w="1493230">
                  <a:moveTo>
                    <a:pt x="0" y="0"/>
                  </a:moveTo>
                  <a:lnTo>
                    <a:pt x="1493230" y="0"/>
                  </a:lnTo>
                  <a:lnTo>
                    <a:pt x="14932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89898">
                <a:alpha val="12549"/>
              </a:srgbClr>
            </a:solidFill>
            <a:ln>
              <a:noFill/>
            </a:ln>
          </p:spPr>
        </p:sp>
        <p:sp>
          <p:nvSpPr>
            <p:cNvPr id="625" name="Google Shape;625;p27"/>
            <p:cNvSpPr txBox="1"/>
            <p:nvPr/>
          </p:nvSpPr>
          <p:spPr>
            <a:xfrm>
              <a:off x="0" y="-28575"/>
              <a:ext cx="1493230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6" name="Google Shape;626;p27"/>
          <p:cNvSpPr txBox="1"/>
          <p:nvPr/>
        </p:nvSpPr>
        <p:spPr>
          <a:xfrm>
            <a:off x="6349975" y="771525"/>
            <a:ext cx="5588050" cy="206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穩定期</a:t>
            </a:r>
            <a:endParaRPr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（建立長期循環）</a:t>
            </a:r>
            <a:endParaRPr/>
          </a:p>
        </p:txBody>
      </p:sp>
      <p:sp>
        <p:nvSpPr>
          <p:cNvPr id="627" name="Google Shape;627;p27"/>
          <p:cNvSpPr txBox="1"/>
          <p:nvPr/>
        </p:nvSpPr>
        <p:spPr>
          <a:xfrm>
            <a:off x="7114282" y="8471345"/>
            <a:ext cx="4478560" cy="12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持續強化顧客關係管理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提升顧客留存與回購</a:t>
            </a:r>
            <a:endParaRPr/>
          </a:p>
        </p:txBody>
      </p:sp>
      <p:sp>
        <p:nvSpPr>
          <p:cNvPr id="628" name="Google Shape;628;p27"/>
          <p:cNvSpPr txBox="1"/>
          <p:nvPr/>
        </p:nvSpPr>
        <p:spPr>
          <a:xfrm>
            <a:off x="6600974" y="6700182"/>
            <a:ext cx="5086052" cy="707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舊換新方案、延保訂閱制</a:t>
            </a:r>
            <a:endParaRPr/>
          </a:p>
        </p:txBody>
      </p:sp>
      <p:grpSp>
        <p:nvGrpSpPr>
          <p:cNvPr id="629" name="Google Shape;629;p27"/>
          <p:cNvGrpSpPr/>
          <p:nvPr/>
        </p:nvGrpSpPr>
        <p:grpSpPr>
          <a:xfrm>
            <a:off x="359864" y="999088"/>
            <a:ext cx="5192472" cy="8712412"/>
            <a:chOff x="0" y="-257175"/>
            <a:chExt cx="6923296" cy="11616550"/>
          </a:xfrm>
        </p:grpSpPr>
        <p:grpSp>
          <p:nvGrpSpPr>
            <p:cNvPr id="630" name="Google Shape;630;p27"/>
            <p:cNvGrpSpPr/>
            <p:nvPr/>
          </p:nvGrpSpPr>
          <p:grpSpPr>
            <a:xfrm>
              <a:off x="436052" y="2556581"/>
              <a:ext cx="6487244" cy="4343944"/>
              <a:chOff x="0" y="-123825"/>
              <a:chExt cx="1281431" cy="858063"/>
            </a:xfrm>
          </p:grpSpPr>
          <p:sp>
            <p:nvSpPr>
              <p:cNvPr id="631" name="Google Shape;631;p27"/>
              <p:cNvSpPr/>
              <p:nvPr/>
            </p:nvSpPr>
            <p:spPr>
              <a:xfrm>
                <a:off x="0" y="0"/>
                <a:ext cx="1281431" cy="734238"/>
              </a:xfrm>
              <a:custGeom>
                <a:rect b="b" l="l" r="r" t="t"/>
                <a:pathLst>
                  <a:path extrusionOk="0" h="734238" w="1281431">
                    <a:moveTo>
                      <a:pt x="0" y="0"/>
                    </a:moveTo>
                    <a:lnTo>
                      <a:pt x="1281431" y="0"/>
                    </a:lnTo>
                    <a:lnTo>
                      <a:pt x="1281431" y="734238"/>
                    </a:lnTo>
                    <a:lnTo>
                      <a:pt x="0" y="734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632" name="Google Shape;632;p27"/>
              <p:cNvSpPr txBox="1"/>
              <p:nvPr/>
            </p:nvSpPr>
            <p:spPr>
              <a:xfrm>
                <a:off x="0" y="-123825"/>
                <a:ext cx="1281431" cy="8580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4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33" name="Google Shape;633;p27"/>
            <p:cNvSpPr txBox="1"/>
            <p:nvPr/>
          </p:nvSpPr>
          <p:spPr>
            <a:xfrm>
              <a:off x="436052" y="-257175"/>
              <a:ext cx="5728806" cy="2661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導入期</a:t>
              </a:r>
              <a:endParaRPr/>
            </a:p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（吸引流量）</a:t>
              </a:r>
              <a:endParaRPr/>
            </a:p>
          </p:txBody>
        </p:sp>
        <p:sp>
          <p:nvSpPr>
            <p:cNvPr id="634" name="Google Shape;634;p27"/>
            <p:cNvSpPr txBox="1"/>
            <p:nvPr/>
          </p:nvSpPr>
          <p:spPr>
            <a:xfrm>
              <a:off x="774351" y="9759810"/>
              <a:ext cx="5412581" cy="1599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提升客單價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建立新品曝光與體驗</a:t>
              </a:r>
              <a:endParaRPr/>
            </a:p>
          </p:txBody>
        </p:sp>
        <p:sp>
          <p:nvSpPr>
            <p:cNvPr id="635" name="Google Shape;635;p27"/>
            <p:cNvSpPr txBox="1"/>
            <p:nvPr/>
          </p:nvSpPr>
          <p:spPr>
            <a:xfrm>
              <a:off x="0" y="7517512"/>
              <a:ext cx="6781403" cy="8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4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新品體驗活動、搶先預購</a:t>
              </a:r>
              <a:endParaRPr/>
            </a:p>
          </p:txBody>
        </p:sp>
        <p:sp>
          <p:nvSpPr>
            <p:cNvPr id="636" name="Google Shape;636;p27"/>
            <p:cNvSpPr txBox="1"/>
            <p:nvPr/>
          </p:nvSpPr>
          <p:spPr>
            <a:xfrm>
              <a:off x="1172416" y="4154695"/>
              <a:ext cx="5014516" cy="1160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76" u="none" cap="none" strike="noStrike">
                  <a:solidFill>
                    <a:srgbClr val="0CC0DF"/>
                  </a:solidFill>
                  <a:latin typeface="Arial"/>
                  <a:ea typeface="Arial"/>
                  <a:cs typeface="Arial"/>
                  <a:sym typeface="Arial"/>
                </a:rPr>
                <a:t>TONY’S CO Smart Series</a:t>
              </a:r>
              <a:endParaRPr/>
            </a:p>
            <a:p>
              <a:pPr indent="0" lvl="0" marL="0" marR="0" rtl="0" algn="ctr">
                <a:lnSpc>
                  <a:spcPct val="13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76" u="none" cap="none" strike="noStrike">
                  <a:solidFill>
                    <a:srgbClr val="0CC0DF"/>
                  </a:solidFill>
                  <a:latin typeface="Arial"/>
                  <a:ea typeface="Arial"/>
                  <a:cs typeface="Arial"/>
                  <a:sym typeface="Arial"/>
                </a:rPr>
                <a:t>智慧生活・全面升級體驗會</a:t>
              </a:r>
              <a:endParaRPr/>
            </a:p>
          </p:txBody>
        </p:sp>
      </p:grpSp>
      <p:sp>
        <p:nvSpPr>
          <p:cNvPr id="637" name="Google Shape;637;p27"/>
          <p:cNvSpPr txBox="1"/>
          <p:nvPr/>
        </p:nvSpPr>
        <p:spPr>
          <a:xfrm>
            <a:off x="1219548" y="5668058"/>
            <a:ext cx="4066361" cy="370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地點：指定體驗區（數位與家電區旁）</a:t>
            </a:r>
            <a:endParaRPr/>
          </a:p>
        </p:txBody>
      </p:sp>
      <p:sp>
        <p:nvSpPr>
          <p:cNvPr id="638" name="Google Shape;638;p27"/>
          <p:cNvSpPr/>
          <p:nvPr/>
        </p:nvSpPr>
        <p:spPr>
          <a:xfrm>
            <a:off x="6276429" y="3178781"/>
            <a:ext cx="3212921" cy="2117618"/>
          </a:xfrm>
          <a:custGeom>
            <a:rect b="b" l="l" r="r" t="t"/>
            <a:pathLst>
              <a:path extrusionOk="0" h="2117618" w="3212921">
                <a:moveTo>
                  <a:pt x="0" y="0"/>
                </a:moveTo>
                <a:lnTo>
                  <a:pt x="3212922" y="0"/>
                </a:lnTo>
                <a:lnTo>
                  <a:pt x="3212922" y="2117618"/>
                </a:lnTo>
                <a:lnTo>
                  <a:pt x="0" y="2117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3081" l="-31141" r="-28289" t="0"/>
            </a:stretch>
          </a:blipFill>
          <a:ln>
            <a:noFill/>
          </a:ln>
        </p:spPr>
      </p:sp>
      <p:sp>
        <p:nvSpPr>
          <p:cNvPr id="639" name="Google Shape;639;p27"/>
          <p:cNvSpPr/>
          <p:nvPr/>
        </p:nvSpPr>
        <p:spPr>
          <a:xfrm>
            <a:off x="8937542" y="3178781"/>
            <a:ext cx="3321265" cy="3683326"/>
          </a:xfrm>
          <a:custGeom>
            <a:rect b="b" l="l" r="r" t="t"/>
            <a:pathLst>
              <a:path extrusionOk="0" h="3683326" w="3321265">
                <a:moveTo>
                  <a:pt x="0" y="0"/>
                </a:moveTo>
                <a:lnTo>
                  <a:pt x="3321265" y="0"/>
                </a:lnTo>
                <a:lnTo>
                  <a:pt x="3321265" y="3683326"/>
                </a:lnTo>
                <a:lnTo>
                  <a:pt x="0" y="3683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35338"/>
            </a:stretch>
          </a:blipFill>
          <a:ln>
            <a:noFill/>
          </a:ln>
        </p:spPr>
      </p:sp>
      <p:sp>
        <p:nvSpPr>
          <p:cNvPr id="640" name="Google Shape;640;p27"/>
          <p:cNvSpPr/>
          <p:nvPr/>
        </p:nvSpPr>
        <p:spPr>
          <a:xfrm>
            <a:off x="13484960" y="3529414"/>
            <a:ext cx="3548588" cy="2684994"/>
          </a:xfrm>
          <a:custGeom>
            <a:rect b="b" l="l" r="r" t="t"/>
            <a:pathLst>
              <a:path extrusionOk="0" h="2684994" w="3548588">
                <a:moveTo>
                  <a:pt x="0" y="0"/>
                </a:moveTo>
                <a:lnTo>
                  <a:pt x="3548588" y="0"/>
                </a:lnTo>
                <a:lnTo>
                  <a:pt x="3548588" y="2684993"/>
                </a:lnTo>
                <a:lnTo>
                  <a:pt x="0" y="2684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9872" l="-5740" r="-8838" t="-31558"/>
            </a:stretch>
          </a:blipFill>
          <a:ln>
            <a:noFill/>
          </a:ln>
        </p:spPr>
      </p:sp>
      <p:sp>
        <p:nvSpPr>
          <p:cNvPr id="641" name="Google Shape;641;p27"/>
          <p:cNvSpPr txBox="1"/>
          <p:nvPr/>
        </p:nvSpPr>
        <p:spPr>
          <a:xfrm>
            <a:off x="12438600" y="752475"/>
            <a:ext cx="6029193" cy="3176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衰退期 </a:t>
            </a:r>
            <a:endParaRPr/>
          </a:p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（促銷 產品轉換）</a:t>
            </a:r>
            <a:endParaRPr/>
          </a:p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7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7"/>
          <p:cNvSpPr txBox="1"/>
          <p:nvPr/>
        </p:nvSpPr>
        <p:spPr>
          <a:xfrm>
            <a:off x="13702174" y="7893586"/>
            <a:ext cx="2802136" cy="182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快速清理庫存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回收現金流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吸引顧客回流</a:t>
            </a:r>
            <a:endParaRPr/>
          </a:p>
        </p:txBody>
      </p:sp>
      <p:sp>
        <p:nvSpPr>
          <p:cNvPr id="643" name="Google Shape;643;p27"/>
          <p:cNvSpPr txBox="1"/>
          <p:nvPr/>
        </p:nvSpPr>
        <p:spPr>
          <a:xfrm>
            <a:off x="13484960" y="6700182"/>
            <a:ext cx="3236565" cy="707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會員回饋大特價</a:t>
            </a:r>
            <a:endParaRPr/>
          </a:p>
        </p:txBody>
      </p:sp>
      <p:grpSp>
        <p:nvGrpSpPr>
          <p:cNvPr id="644" name="Google Shape;644;p27"/>
          <p:cNvGrpSpPr/>
          <p:nvPr/>
        </p:nvGrpSpPr>
        <p:grpSpPr>
          <a:xfrm>
            <a:off x="5774432" y="-442384"/>
            <a:ext cx="13115298" cy="10846280"/>
            <a:chOff x="0" y="-85725"/>
            <a:chExt cx="3454235" cy="2856634"/>
          </a:xfrm>
        </p:grpSpPr>
        <p:sp>
          <p:nvSpPr>
            <p:cNvPr id="645" name="Google Shape;645;p27"/>
            <p:cNvSpPr/>
            <p:nvPr/>
          </p:nvSpPr>
          <p:spPr>
            <a:xfrm>
              <a:off x="0" y="0"/>
              <a:ext cx="3454235" cy="2770909"/>
            </a:xfrm>
            <a:custGeom>
              <a:rect b="b" l="l" r="r" t="t"/>
              <a:pathLst>
                <a:path extrusionOk="0" h="2770909" w="3454235">
                  <a:moveTo>
                    <a:pt x="0" y="0"/>
                  </a:moveTo>
                  <a:lnTo>
                    <a:pt x="3454235" y="0"/>
                  </a:lnTo>
                  <a:lnTo>
                    <a:pt x="3454235" y="2770909"/>
                  </a:lnTo>
                  <a:lnTo>
                    <a:pt x="0" y="2770909"/>
                  </a:lnTo>
                  <a:close/>
                </a:path>
              </a:pathLst>
            </a:custGeom>
            <a:solidFill>
              <a:srgbClr val="FFFFFF">
                <a:alpha val="91764"/>
              </a:srgbClr>
            </a:solidFill>
            <a:ln>
              <a:noFill/>
            </a:ln>
          </p:spPr>
        </p:sp>
        <p:sp>
          <p:nvSpPr>
            <p:cNvPr id="646" name="Google Shape;646;p27"/>
            <p:cNvSpPr txBox="1"/>
            <p:nvPr/>
          </p:nvSpPr>
          <p:spPr>
            <a:xfrm>
              <a:off x="0" y="-85725"/>
              <a:ext cx="3454235" cy="2856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1" name="Google Shape;651;p28"/>
          <p:cNvGrpSpPr/>
          <p:nvPr/>
        </p:nvGrpSpPr>
        <p:grpSpPr>
          <a:xfrm>
            <a:off x="5774432" y="-108496"/>
            <a:ext cx="12665968" cy="10547896"/>
            <a:chOff x="0" y="-28575"/>
            <a:chExt cx="3335893" cy="2778047"/>
          </a:xfrm>
        </p:grpSpPr>
        <p:sp>
          <p:nvSpPr>
            <p:cNvPr id="652" name="Google Shape;652;p28"/>
            <p:cNvSpPr/>
            <p:nvPr/>
          </p:nvSpPr>
          <p:spPr>
            <a:xfrm>
              <a:off x="0" y="0"/>
              <a:ext cx="3335893" cy="2749472"/>
            </a:xfrm>
            <a:custGeom>
              <a:rect b="b" l="l" r="r" t="t"/>
              <a:pathLst>
                <a:path extrusionOk="0" h="2749472" w="3335893">
                  <a:moveTo>
                    <a:pt x="0" y="0"/>
                  </a:moveTo>
                  <a:lnTo>
                    <a:pt x="3335893" y="0"/>
                  </a:lnTo>
                  <a:lnTo>
                    <a:pt x="3335893" y="2749472"/>
                  </a:lnTo>
                  <a:lnTo>
                    <a:pt x="0" y="2749472"/>
                  </a:lnTo>
                  <a:close/>
                </a:path>
              </a:pathLst>
            </a:custGeom>
            <a:solidFill>
              <a:srgbClr val="989898">
                <a:alpha val="12549"/>
              </a:srgbClr>
            </a:solidFill>
            <a:ln>
              <a:noFill/>
            </a:ln>
          </p:spPr>
        </p:sp>
        <p:sp>
          <p:nvSpPr>
            <p:cNvPr id="653" name="Google Shape;653;p28"/>
            <p:cNvSpPr txBox="1"/>
            <p:nvPr/>
          </p:nvSpPr>
          <p:spPr>
            <a:xfrm>
              <a:off x="0" y="-28575"/>
              <a:ext cx="3335893" cy="2778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4" name="Google Shape;654;p28"/>
          <p:cNvGrpSpPr/>
          <p:nvPr/>
        </p:nvGrpSpPr>
        <p:grpSpPr>
          <a:xfrm>
            <a:off x="12618393" y="-108496"/>
            <a:ext cx="5669607" cy="10395496"/>
            <a:chOff x="0" y="-28575"/>
            <a:chExt cx="1493230" cy="2737908"/>
          </a:xfrm>
        </p:grpSpPr>
        <p:sp>
          <p:nvSpPr>
            <p:cNvPr id="655" name="Google Shape;655;p28"/>
            <p:cNvSpPr/>
            <p:nvPr/>
          </p:nvSpPr>
          <p:spPr>
            <a:xfrm>
              <a:off x="0" y="0"/>
              <a:ext cx="1493230" cy="2709333"/>
            </a:xfrm>
            <a:custGeom>
              <a:rect b="b" l="l" r="r" t="t"/>
              <a:pathLst>
                <a:path extrusionOk="0" h="2709333" w="1493230">
                  <a:moveTo>
                    <a:pt x="0" y="0"/>
                  </a:moveTo>
                  <a:lnTo>
                    <a:pt x="1493230" y="0"/>
                  </a:lnTo>
                  <a:lnTo>
                    <a:pt x="14932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89898">
                <a:alpha val="12549"/>
              </a:srgbClr>
            </a:solidFill>
            <a:ln>
              <a:noFill/>
            </a:ln>
          </p:spPr>
        </p:sp>
        <p:sp>
          <p:nvSpPr>
            <p:cNvPr id="656" name="Google Shape;656;p28"/>
            <p:cNvSpPr txBox="1"/>
            <p:nvPr/>
          </p:nvSpPr>
          <p:spPr>
            <a:xfrm>
              <a:off x="0" y="-28575"/>
              <a:ext cx="1493230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28"/>
          <p:cNvSpPr txBox="1"/>
          <p:nvPr/>
        </p:nvSpPr>
        <p:spPr>
          <a:xfrm>
            <a:off x="6349975" y="771525"/>
            <a:ext cx="5588050" cy="206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穩定期</a:t>
            </a:r>
            <a:endParaRPr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（建立長期循環）</a:t>
            </a:r>
            <a:endParaRPr/>
          </a:p>
        </p:txBody>
      </p:sp>
      <p:sp>
        <p:nvSpPr>
          <p:cNvPr id="658" name="Google Shape;658;p28"/>
          <p:cNvSpPr txBox="1"/>
          <p:nvPr/>
        </p:nvSpPr>
        <p:spPr>
          <a:xfrm>
            <a:off x="7114282" y="8471345"/>
            <a:ext cx="4478560" cy="12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持續強化顧客關係管理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提升顧客留存與回購</a:t>
            </a:r>
            <a:endParaRPr/>
          </a:p>
        </p:txBody>
      </p:sp>
      <p:sp>
        <p:nvSpPr>
          <p:cNvPr id="659" name="Google Shape;659;p28"/>
          <p:cNvSpPr txBox="1"/>
          <p:nvPr/>
        </p:nvSpPr>
        <p:spPr>
          <a:xfrm>
            <a:off x="6600974" y="6700182"/>
            <a:ext cx="5086052" cy="707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舊換新方案、延保訂閱制</a:t>
            </a:r>
            <a:endParaRPr/>
          </a:p>
        </p:txBody>
      </p:sp>
      <p:grpSp>
        <p:nvGrpSpPr>
          <p:cNvPr id="660" name="Google Shape;660;p28"/>
          <p:cNvGrpSpPr/>
          <p:nvPr/>
        </p:nvGrpSpPr>
        <p:grpSpPr>
          <a:xfrm>
            <a:off x="359864" y="999088"/>
            <a:ext cx="5192472" cy="8712412"/>
            <a:chOff x="0" y="-257175"/>
            <a:chExt cx="6923296" cy="11616550"/>
          </a:xfrm>
        </p:grpSpPr>
        <p:grpSp>
          <p:nvGrpSpPr>
            <p:cNvPr id="661" name="Google Shape;661;p28"/>
            <p:cNvGrpSpPr/>
            <p:nvPr/>
          </p:nvGrpSpPr>
          <p:grpSpPr>
            <a:xfrm>
              <a:off x="436052" y="2556581"/>
              <a:ext cx="6487244" cy="4343944"/>
              <a:chOff x="0" y="-123825"/>
              <a:chExt cx="1281431" cy="858063"/>
            </a:xfrm>
          </p:grpSpPr>
          <p:sp>
            <p:nvSpPr>
              <p:cNvPr id="662" name="Google Shape;662;p28"/>
              <p:cNvSpPr/>
              <p:nvPr/>
            </p:nvSpPr>
            <p:spPr>
              <a:xfrm>
                <a:off x="0" y="0"/>
                <a:ext cx="1281431" cy="734238"/>
              </a:xfrm>
              <a:custGeom>
                <a:rect b="b" l="l" r="r" t="t"/>
                <a:pathLst>
                  <a:path extrusionOk="0" h="734238" w="1281431">
                    <a:moveTo>
                      <a:pt x="0" y="0"/>
                    </a:moveTo>
                    <a:lnTo>
                      <a:pt x="1281431" y="0"/>
                    </a:lnTo>
                    <a:lnTo>
                      <a:pt x="1281431" y="734238"/>
                    </a:lnTo>
                    <a:lnTo>
                      <a:pt x="0" y="734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663" name="Google Shape;663;p28"/>
              <p:cNvSpPr txBox="1"/>
              <p:nvPr/>
            </p:nvSpPr>
            <p:spPr>
              <a:xfrm>
                <a:off x="0" y="-123825"/>
                <a:ext cx="1281431" cy="8580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4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64" name="Google Shape;664;p28"/>
            <p:cNvSpPr txBox="1"/>
            <p:nvPr/>
          </p:nvSpPr>
          <p:spPr>
            <a:xfrm>
              <a:off x="436052" y="-257175"/>
              <a:ext cx="5728806" cy="2661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導入期</a:t>
              </a:r>
              <a:endParaRPr/>
            </a:p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（吸引流量）</a:t>
              </a:r>
              <a:endParaRPr/>
            </a:p>
          </p:txBody>
        </p:sp>
        <p:sp>
          <p:nvSpPr>
            <p:cNvPr id="665" name="Google Shape;665;p28"/>
            <p:cNvSpPr txBox="1"/>
            <p:nvPr/>
          </p:nvSpPr>
          <p:spPr>
            <a:xfrm>
              <a:off x="774351" y="9759810"/>
              <a:ext cx="5412581" cy="1599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提升客單價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建立新品曝光與體驗</a:t>
              </a:r>
              <a:endParaRPr/>
            </a:p>
          </p:txBody>
        </p:sp>
        <p:sp>
          <p:nvSpPr>
            <p:cNvPr id="666" name="Google Shape;666;p28"/>
            <p:cNvSpPr txBox="1"/>
            <p:nvPr/>
          </p:nvSpPr>
          <p:spPr>
            <a:xfrm>
              <a:off x="0" y="7517512"/>
              <a:ext cx="6781403" cy="8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4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新品體驗活動、搶先預購</a:t>
              </a:r>
              <a:endParaRPr/>
            </a:p>
          </p:txBody>
        </p:sp>
        <p:sp>
          <p:nvSpPr>
            <p:cNvPr id="667" name="Google Shape;667;p28"/>
            <p:cNvSpPr txBox="1"/>
            <p:nvPr/>
          </p:nvSpPr>
          <p:spPr>
            <a:xfrm>
              <a:off x="1172416" y="4154695"/>
              <a:ext cx="5014516" cy="1160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76" u="none" cap="none" strike="noStrike">
                  <a:solidFill>
                    <a:srgbClr val="0CC0DF"/>
                  </a:solidFill>
                  <a:latin typeface="Arial"/>
                  <a:ea typeface="Arial"/>
                  <a:cs typeface="Arial"/>
                  <a:sym typeface="Arial"/>
                </a:rPr>
                <a:t>TONY’S CO Smart Series</a:t>
              </a:r>
              <a:endParaRPr/>
            </a:p>
            <a:p>
              <a:pPr indent="0" lvl="0" marL="0" marR="0" rtl="0" algn="ctr">
                <a:lnSpc>
                  <a:spcPct val="13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76" u="none" cap="none" strike="noStrike">
                  <a:solidFill>
                    <a:srgbClr val="0CC0DF"/>
                  </a:solidFill>
                  <a:latin typeface="Arial"/>
                  <a:ea typeface="Arial"/>
                  <a:cs typeface="Arial"/>
                  <a:sym typeface="Arial"/>
                </a:rPr>
                <a:t>智慧生活・全面升級體驗會</a:t>
              </a:r>
              <a:endParaRPr/>
            </a:p>
          </p:txBody>
        </p:sp>
      </p:grpSp>
      <p:sp>
        <p:nvSpPr>
          <p:cNvPr id="668" name="Google Shape;668;p28"/>
          <p:cNvSpPr txBox="1"/>
          <p:nvPr/>
        </p:nvSpPr>
        <p:spPr>
          <a:xfrm>
            <a:off x="1219548" y="5668058"/>
            <a:ext cx="4066361" cy="370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地點：指定體驗區（數位與家電區旁）</a:t>
            </a:r>
            <a:endParaRPr/>
          </a:p>
        </p:txBody>
      </p:sp>
      <p:sp>
        <p:nvSpPr>
          <p:cNvPr id="669" name="Google Shape;669;p28"/>
          <p:cNvSpPr/>
          <p:nvPr/>
        </p:nvSpPr>
        <p:spPr>
          <a:xfrm>
            <a:off x="6276429" y="3178781"/>
            <a:ext cx="3212921" cy="2117618"/>
          </a:xfrm>
          <a:custGeom>
            <a:rect b="b" l="l" r="r" t="t"/>
            <a:pathLst>
              <a:path extrusionOk="0" h="2117618" w="3212921">
                <a:moveTo>
                  <a:pt x="0" y="0"/>
                </a:moveTo>
                <a:lnTo>
                  <a:pt x="3212922" y="0"/>
                </a:lnTo>
                <a:lnTo>
                  <a:pt x="3212922" y="2117618"/>
                </a:lnTo>
                <a:lnTo>
                  <a:pt x="0" y="2117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3081" l="-31141" r="-28289" t="0"/>
            </a:stretch>
          </a:blipFill>
          <a:ln>
            <a:noFill/>
          </a:ln>
        </p:spPr>
      </p:sp>
      <p:sp>
        <p:nvSpPr>
          <p:cNvPr id="670" name="Google Shape;670;p28"/>
          <p:cNvSpPr/>
          <p:nvPr/>
        </p:nvSpPr>
        <p:spPr>
          <a:xfrm>
            <a:off x="8937542" y="3178781"/>
            <a:ext cx="3321265" cy="3683326"/>
          </a:xfrm>
          <a:custGeom>
            <a:rect b="b" l="l" r="r" t="t"/>
            <a:pathLst>
              <a:path extrusionOk="0" h="3683326" w="3321265">
                <a:moveTo>
                  <a:pt x="0" y="0"/>
                </a:moveTo>
                <a:lnTo>
                  <a:pt x="3321265" y="0"/>
                </a:lnTo>
                <a:lnTo>
                  <a:pt x="3321265" y="3683326"/>
                </a:lnTo>
                <a:lnTo>
                  <a:pt x="0" y="3683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35338"/>
            </a:stretch>
          </a:blipFill>
          <a:ln>
            <a:noFill/>
          </a:ln>
        </p:spPr>
      </p:sp>
      <p:sp>
        <p:nvSpPr>
          <p:cNvPr id="671" name="Google Shape;671;p28"/>
          <p:cNvSpPr/>
          <p:nvPr/>
        </p:nvSpPr>
        <p:spPr>
          <a:xfrm>
            <a:off x="13484960" y="3529414"/>
            <a:ext cx="3548588" cy="2684994"/>
          </a:xfrm>
          <a:custGeom>
            <a:rect b="b" l="l" r="r" t="t"/>
            <a:pathLst>
              <a:path extrusionOk="0" h="2684994" w="3548588">
                <a:moveTo>
                  <a:pt x="0" y="0"/>
                </a:moveTo>
                <a:lnTo>
                  <a:pt x="3548588" y="0"/>
                </a:lnTo>
                <a:lnTo>
                  <a:pt x="3548588" y="2684993"/>
                </a:lnTo>
                <a:lnTo>
                  <a:pt x="0" y="2684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9872" l="-5740" r="-8838" t="-31558"/>
            </a:stretch>
          </a:blipFill>
          <a:ln>
            <a:noFill/>
          </a:ln>
        </p:spPr>
      </p:sp>
      <p:sp>
        <p:nvSpPr>
          <p:cNvPr id="672" name="Google Shape;672;p28"/>
          <p:cNvSpPr txBox="1"/>
          <p:nvPr/>
        </p:nvSpPr>
        <p:spPr>
          <a:xfrm>
            <a:off x="12438600" y="752475"/>
            <a:ext cx="6029193" cy="3176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衰退期 </a:t>
            </a:r>
            <a:endParaRPr/>
          </a:p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（促銷 產品轉換）</a:t>
            </a:r>
            <a:endParaRPr/>
          </a:p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7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8"/>
          <p:cNvSpPr txBox="1"/>
          <p:nvPr/>
        </p:nvSpPr>
        <p:spPr>
          <a:xfrm>
            <a:off x="13702174" y="7893586"/>
            <a:ext cx="2802136" cy="182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快速清理庫存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回收現金流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吸引顧客回流</a:t>
            </a:r>
            <a:endParaRPr/>
          </a:p>
        </p:txBody>
      </p:sp>
      <p:sp>
        <p:nvSpPr>
          <p:cNvPr id="674" name="Google Shape;674;p28"/>
          <p:cNvSpPr txBox="1"/>
          <p:nvPr/>
        </p:nvSpPr>
        <p:spPr>
          <a:xfrm>
            <a:off x="13484960" y="6700182"/>
            <a:ext cx="3236565" cy="707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會員回饋大特價</a:t>
            </a:r>
            <a:endParaRPr/>
          </a:p>
        </p:txBody>
      </p:sp>
      <p:grpSp>
        <p:nvGrpSpPr>
          <p:cNvPr id="675" name="Google Shape;675;p28"/>
          <p:cNvGrpSpPr/>
          <p:nvPr/>
        </p:nvGrpSpPr>
        <p:grpSpPr>
          <a:xfrm>
            <a:off x="12618393" y="-442384"/>
            <a:ext cx="13115298" cy="10846280"/>
            <a:chOff x="0" y="-85725"/>
            <a:chExt cx="3454235" cy="2856634"/>
          </a:xfrm>
        </p:grpSpPr>
        <p:sp>
          <p:nvSpPr>
            <p:cNvPr id="676" name="Google Shape;676;p28"/>
            <p:cNvSpPr/>
            <p:nvPr/>
          </p:nvSpPr>
          <p:spPr>
            <a:xfrm>
              <a:off x="0" y="0"/>
              <a:ext cx="3454235" cy="2770909"/>
            </a:xfrm>
            <a:custGeom>
              <a:rect b="b" l="l" r="r" t="t"/>
              <a:pathLst>
                <a:path extrusionOk="0" h="2770909" w="3454235">
                  <a:moveTo>
                    <a:pt x="0" y="0"/>
                  </a:moveTo>
                  <a:lnTo>
                    <a:pt x="3454235" y="0"/>
                  </a:lnTo>
                  <a:lnTo>
                    <a:pt x="3454235" y="2770909"/>
                  </a:lnTo>
                  <a:lnTo>
                    <a:pt x="0" y="2770909"/>
                  </a:lnTo>
                  <a:close/>
                </a:path>
              </a:pathLst>
            </a:custGeom>
            <a:solidFill>
              <a:srgbClr val="FFFFFF">
                <a:alpha val="91764"/>
              </a:srgbClr>
            </a:solidFill>
            <a:ln>
              <a:noFill/>
            </a:ln>
          </p:spPr>
        </p:sp>
        <p:sp>
          <p:nvSpPr>
            <p:cNvPr id="677" name="Google Shape;677;p28"/>
            <p:cNvSpPr txBox="1"/>
            <p:nvPr/>
          </p:nvSpPr>
          <p:spPr>
            <a:xfrm>
              <a:off x="0" y="-85725"/>
              <a:ext cx="3454235" cy="2856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8" name="Google Shape;678;p28"/>
          <p:cNvGrpSpPr/>
          <p:nvPr/>
        </p:nvGrpSpPr>
        <p:grpSpPr>
          <a:xfrm>
            <a:off x="-7340866" y="-559280"/>
            <a:ext cx="13115298" cy="10846280"/>
            <a:chOff x="0" y="-85725"/>
            <a:chExt cx="3454235" cy="2856634"/>
          </a:xfrm>
        </p:grpSpPr>
        <p:sp>
          <p:nvSpPr>
            <p:cNvPr id="679" name="Google Shape;679;p28"/>
            <p:cNvSpPr/>
            <p:nvPr/>
          </p:nvSpPr>
          <p:spPr>
            <a:xfrm>
              <a:off x="0" y="0"/>
              <a:ext cx="3454235" cy="2770909"/>
            </a:xfrm>
            <a:custGeom>
              <a:rect b="b" l="l" r="r" t="t"/>
              <a:pathLst>
                <a:path extrusionOk="0" h="2770909" w="3454235">
                  <a:moveTo>
                    <a:pt x="0" y="0"/>
                  </a:moveTo>
                  <a:lnTo>
                    <a:pt x="3454235" y="0"/>
                  </a:lnTo>
                  <a:lnTo>
                    <a:pt x="3454235" y="2770909"/>
                  </a:lnTo>
                  <a:lnTo>
                    <a:pt x="0" y="2770909"/>
                  </a:lnTo>
                  <a:close/>
                </a:path>
              </a:pathLst>
            </a:custGeom>
            <a:solidFill>
              <a:srgbClr val="FFFFFF">
                <a:alpha val="91764"/>
              </a:srgbClr>
            </a:solidFill>
            <a:ln>
              <a:noFill/>
            </a:ln>
          </p:spPr>
        </p:sp>
        <p:sp>
          <p:nvSpPr>
            <p:cNvPr id="680" name="Google Shape;680;p28"/>
            <p:cNvSpPr txBox="1"/>
            <p:nvPr/>
          </p:nvSpPr>
          <p:spPr>
            <a:xfrm>
              <a:off x="0" y="-85725"/>
              <a:ext cx="3454235" cy="2856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29"/>
          <p:cNvGrpSpPr/>
          <p:nvPr/>
        </p:nvGrpSpPr>
        <p:grpSpPr>
          <a:xfrm>
            <a:off x="5774432" y="-108496"/>
            <a:ext cx="12665968" cy="10547896"/>
            <a:chOff x="0" y="-28575"/>
            <a:chExt cx="3335893" cy="2778047"/>
          </a:xfrm>
        </p:grpSpPr>
        <p:sp>
          <p:nvSpPr>
            <p:cNvPr id="686" name="Google Shape;686;p29"/>
            <p:cNvSpPr/>
            <p:nvPr/>
          </p:nvSpPr>
          <p:spPr>
            <a:xfrm>
              <a:off x="0" y="0"/>
              <a:ext cx="3335893" cy="2749472"/>
            </a:xfrm>
            <a:custGeom>
              <a:rect b="b" l="l" r="r" t="t"/>
              <a:pathLst>
                <a:path extrusionOk="0" h="2749472" w="3335893">
                  <a:moveTo>
                    <a:pt x="0" y="0"/>
                  </a:moveTo>
                  <a:lnTo>
                    <a:pt x="3335893" y="0"/>
                  </a:lnTo>
                  <a:lnTo>
                    <a:pt x="3335893" y="2749472"/>
                  </a:lnTo>
                  <a:lnTo>
                    <a:pt x="0" y="2749472"/>
                  </a:lnTo>
                  <a:close/>
                </a:path>
              </a:pathLst>
            </a:custGeom>
            <a:solidFill>
              <a:srgbClr val="989898">
                <a:alpha val="12549"/>
              </a:srgbClr>
            </a:solidFill>
            <a:ln>
              <a:noFill/>
            </a:ln>
          </p:spPr>
        </p:sp>
        <p:sp>
          <p:nvSpPr>
            <p:cNvPr id="687" name="Google Shape;687;p29"/>
            <p:cNvSpPr txBox="1"/>
            <p:nvPr/>
          </p:nvSpPr>
          <p:spPr>
            <a:xfrm>
              <a:off x="0" y="-28575"/>
              <a:ext cx="3335893" cy="2778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8" name="Google Shape;688;p29"/>
          <p:cNvGrpSpPr/>
          <p:nvPr/>
        </p:nvGrpSpPr>
        <p:grpSpPr>
          <a:xfrm>
            <a:off x="12618393" y="-108496"/>
            <a:ext cx="5669607" cy="10395496"/>
            <a:chOff x="0" y="-28575"/>
            <a:chExt cx="1493230" cy="2737908"/>
          </a:xfrm>
        </p:grpSpPr>
        <p:sp>
          <p:nvSpPr>
            <p:cNvPr id="689" name="Google Shape;689;p29"/>
            <p:cNvSpPr/>
            <p:nvPr/>
          </p:nvSpPr>
          <p:spPr>
            <a:xfrm>
              <a:off x="0" y="0"/>
              <a:ext cx="1493230" cy="2709333"/>
            </a:xfrm>
            <a:custGeom>
              <a:rect b="b" l="l" r="r" t="t"/>
              <a:pathLst>
                <a:path extrusionOk="0" h="2709333" w="1493230">
                  <a:moveTo>
                    <a:pt x="0" y="0"/>
                  </a:moveTo>
                  <a:lnTo>
                    <a:pt x="1493230" y="0"/>
                  </a:lnTo>
                  <a:lnTo>
                    <a:pt x="14932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89898">
                <a:alpha val="12549"/>
              </a:srgbClr>
            </a:solidFill>
            <a:ln>
              <a:noFill/>
            </a:ln>
          </p:spPr>
        </p:sp>
        <p:sp>
          <p:nvSpPr>
            <p:cNvPr id="690" name="Google Shape;690;p29"/>
            <p:cNvSpPr txBox="1"/>
            <p:nvPr/>
          </p:nvSpPr>
          <p:spPr>
            <a:xfrm>
              <a:off x="0" y="-28575"/>
              <a:ext cx="1493230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1" name="Google Shape;691;p29"/>
          <p:cNvSpPr txBox="1"/>
          <p:nvPr/>
        </p:nvSpPr>
        <p:spPr>
          <a:xfrm>
            <a:off x="6349975" y="771525"/>
            <a:ext cx="5588050" cy="206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穩定期</a:t>
            </a:r>
            <a:endParaRPr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（建立長期循環）</a:t>
            </a:r>
            <a:endParaRPr/>
          </a:p>
        </p:txBody>
      </p:sp>
      <p:sp>
        <p:nvSpPr>
          <p:cNvPr id="692" name="Google Shape;692;p29"/>
          <p:cNvSpPr txBox="1"/>
          <p:nvPr/>
        </p:nvSpPr>
        <p:spPr>
          <a:xfrm>
            <a:off x="7114282" y="8471345"/>
            <a:ext cx="4478560" cy="12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持續強化顧客關係管理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提升顧客留存與回購</a:t>
            </a:r>
            <a:endParaRPr/>
          </a:p>
        </p:txBody>
      </p:sp>
      <p:sp>
        <p:nvSpPr>
          <p:cNvPr id="693" name="Google Shape;693;p29"/>
          <p:cNvSpPr txBox="1"/>
          <p:nvPr/>
        </p:nvSpPr>
        <p:spPr>
          <a:xfrm>
            <a:off x="6600974" y="6700182"/>
            <a:ext cx="5086052" cy="707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舊換新方案、延保訂閱制</a:t>
            </a:r>
            <a:endParaRPr/>
          </a:p>
        </p:txBody>
      </p:sp>
      <p:grpSp>
        <p:nvGrpSpPr>
          <p:cNvPr id="694" name="Google Shape;694;p29"/>
          <p:cNvGrpSpPr/>
          <p:nvPr/>
        </p:nvGrpSpPr>
        <p:grpSpPr>
          <a:xfrm>
            <a:off x="359864" y="999088"/>
            <a:ext cx="5192472" cy="8712412"/>
            <a:chOff x="0" y="-257175"/>
            <a:chExt cx="6923296" cy="11616550"/>
          </a:xfrm>
        </p:grpSpPr>
        <p:grpSp>
          <p:nvGrpSpPr>
            <p:cNvPr id="695" name="Google Shape;695;p29"/>
            <p:cNvGrpSpPr/>
            <p:nvPr/>
          </p:nvGrpSpPr>
          <p:grpSpPr>
            <a:xfrm>
              <a:off x="436052" y="2556581"/>
              <a:ext cx="6487244" cy="4343944"/>
              <a:chOff x="0" y="-123825"/>
              <a:chExt cx="1281431" cy="858063"/>
            </a:xfrm>
          </p:grpSpPr>
          <p:sp>
            <p:nvSpPr>
              <p:cNvPr id="696" name="Google Shape;696;p29"/>
              <p:cNvSpPr/>
              <p:nvPr/>
            </p:nvSpPr>
            <p:spPr>
              <a:xfrm>
                <a:off x="0" y="0"/>
                <a:ext cx="1281431" cy="734238"/>
              </a:xfrm>
              <a:custGeom>
                <a:rect b="b" l="l" r="r" t="t"/>
                <a:pathLst>
                  <a:path extrusionOk="0" h="734238" w="1281431">
                    <a:moveTo>
                      <a:pt x="0" y="0"/>
                    </a:moveTo>
                    <a:lnTo>
                      <a:pt x="1281431" y="0"/>
                    </a:lnTo>
                    <a:lnTo>
                      <a:pt x="1281431" y="734238"/>
                    </a:lnTo>
                    <a:lnTo>
                      <a:pt x="0" y="734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697" name="Google Shape;697;p29"/>
              <p:cNvSpPr txBox="1"/>
              <p:nvPr/>
            </p:nvSpPr>
            <p:spPr>
              <a:xfrm>
                <a:off x="0" y="-123825"/>
                <a:ext cx="1281431" cy="8580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4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8" name="Google Shape;698;p29"/>
            <p:cNvSpPr txBox="1"/>
            <p:nvPr/>
          </p:nvSpPr>
          <p:spPr>
            <a:xfrm>
              <a:off x="436052" y="-257175"/>
              <a:ext cx="5728806" cy="2661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導入期</a:t>
              </a:r>
              <a:endParaRPr/>
            </a:p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（吸引流量）</a:t>
              </a:r>
              <a:endParaRPr/>
            </a:p>
          </p:txBody>
        </p:sp>
        <p:sp>
          <p:nvSpPr>
            <p:cNvPr id="699" name="Google Shape;699;p29"/>
            <p:cNvSpPr txBox="1"/>
            <p:nvPr/>
          </p:nvSpPr>
          <p:spPr>
            <a:xfrm>
              <a:off x="774351" y="9759810"/>
              <a:ext cx="5412581" cy="1599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提升客單價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建立新品曝光與體驗</a:t>
              </a:r>
              <a:endParaRPr/>
            </a:p>
          </p:txBody>
        </p:sp>
        <p:sp>
          <p:nvSpPr>
            <p:cNvPr id="700" name="Google Shape;700;p29"/>
            <p:cNvSpPr txBox="1"/>
            <p:nvPr/>
          </p:nvSpPr>
          <p:spPr>
            <a:xfrm>
              <a:off x="0" y="7517512"/>
              <a:ext cx="6781403" cy="8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4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新品體驗活動、搶先預購</a:t>
              </a:r>
              <a:endParaRPr/>
            </a:p>
          </p:txBody>
        </p:sp>
        <p:sp>
          <p:nvSpPr>
            <p:cNvPr id="701" name="Google Shape;701;p29"/>
            <p:cNvSpPr txBox="1"/>
            <p:nvPr/>
          </p:nvSpPr>
          <p:spPr>
            <a:xfrm>
              <a:off x="1172416" y="4154695"/>
              <a:ext cx="5014516" cy="1160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76" u="none" cap="none" strike="noStrike">
                  <a:solidFill>
                    <a:srgbClr val="0CC0DF"/>
                  </a:solidFill>
                  <a:latin typeface="Arial"/>
                  <a:ea typeface="Arial"/>
                  <a:cs typeface="Arial"/>
                  <a:sym typeface="Arial"/>
                </a:rPr>
                <a:t>TONY’S CO Smart Series</a:t>
              </a:r>
              <a:endParaRPr/>
            </a:p>
            <a:p>
              <a:pPr indent="0" lvl="0" marL="0" marR="0" rtl="0" algn="ctr">
                <a:lnSpc>
                  <a:spcPct val="13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76" u="none" cap="none" strike="noStrike">
                  <a:solidFill>
                    <a:srgbClr val="0CC0DF"/>
                  </a:solidFill>
                  <a:latin typeface="Arial"/>
                  <a:ea typeface="Arial"/>
                  <a:cs typeface="Arial"/>
                  <a:sym typeface="Arial"/>
                </a:rPr>
                <a:t>智慧生活・全面升級體驗會</a:t>
              </a:r>
              <a:endParaRPr/>
            </a:p>
          </p:txBody>
        </p:sp>
      </p:grpSp>
      <p:sp>
        <p:nvSpPr>
          <p:cNvPr id="702" name="Google Shape;702;p29"/>
          <p:cNvSpPr txBox="1"/>
          <p:nvPr/>
        </p:nvSpPr>
        <p:spPr>
          <a:xfrm>
            <a:off x="1219548" y="5668058"/>
            <a:ext cx="4066361" cy="370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地點：指定體驗區（數位與家電區旁）</a:t>
            </a:r>
            <a:endParaRPr/>
          </a:p>
        </p:txBody>
      </p:sp>
      <p:sp>
        <p:nvSpPr>
          <p:cNvPr id="703" name="Google Shape;703;p29"/>
          <p:cNvSpPr/>
          <p:nvPr/>
        </p:nvSpPr>
        <p:spPr>
          <a:xfrm>
            <a:off x="6276429" y="3178781"/>
            <a:ext cx="3212921" cy="2117618"/>
          </a:xfrm>
          <a:custGeom>
            <a:rect b="b" l="l" r="r" t="t"/>
            <a:pathLst>
              <a:path extrusionOk="0" h="2117618" w="3212921">
                <a:moveTo>
                  <a:pt x="0" y="0"/>
                </a:moveTo>
                <a:lnTo>
                  <a:pt x="3212922" y="0"/>
                </a:lnTo>
                <a:lnTo>
                  <a:pt x="3212922" y="2117618"/>
                </a:lnTo>
                <a:lnTo>
                  <a:pt x="0" y="2117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3081" l="-31141" r="-28289" t="0"/>
            </a:stretch>
          </a:blipFill>
          <a:ln>
            <a:noFill/>
          </a:ln>
        </p:spPr>
      </p:sp>
      <p:sp>
        <p:nvSpPr>
          <p:cNvPr id="704" name="Google Shape;704;p29"/>
          <p:cNvSpPr/>
          <p:nvPr/>
        </p:nvSpPr>
        <p:spPr>
          <a:xfrm>
            <a:off x="8937542" y="3178781"/>
            <a:ext cx="3321265" cy="3683326"/>
          </a:xfrm>
          <a:custGeom>
            <a:rect b="b" l="l" r="r" t="t"/>
            <a:pathLst>
              <a:path extrusionOk="0" h="3683326" w="3321265">
                <a:moveTo>
                  <a:pt x="0" y="0"/>
                </a:moveTo>
                <a:lnTo>
                  <a:pt x="3321265" y="0"/>
                </a:lnTo>
                <a:lnTo>
                  <a:pt x="3321265" y="3683326"/>
                </a:lnTo>
                <a:lnTo>
                  <a:pt x="0" y="3683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35338"/>
            </a:stretch>
          </a:blipFill>
          <a:ln>
            <a:noFill/>
          </a:ln>
        </p:spPr>
      </p:sp>
      <p:sp>
        <p:nvSpPr>
          <p:cNvPr id="705" name="Google Shape;705;p29"/>
          <p:cNvSpPr/>
          <p:nvPr/>
        </p:nvSpPr>
        <p:spPr>
          <a:xfrm>
            <a:off x="13484960" y="3529414"/>
            <a:ext cx="3548588" cy="2684994"/>
          </a:xfrm>
          <a:custGeom>
            <a:rect b="b" l="l" r="r" t="t"/>
            <a:pathLst>
              <a:path extrusionOk="0" h="2684994" w="3548588">
                <a:moveTo>
                  <a:pt x="0" y="0"/>
                </a:moveTo>
                <a:lnTo>
                  <a:pt x="3548588" y="0"/>
                </a:lnTo>
                <a:lnTo>
                  <a:pt x="3548588" y="2684993"/>
                </a:lnTo>
                <a:lnTo>
                  <a:pt x="0" y="2684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9872" l="-5740" r="-8838" t="-31558"/>
            </a:stretch>
          </a:blipFill>
          <a:ln>
            <a:noFill/>
          </a:ln>
        </p:spPr>
      </p:sp>
      <p:sp>
        <p:nvSpPr>
          <p:cNvPr id="706" name="Google Shape;706;p29"/>
          <p:cNvSpPr txBox="1"/>
          <p:nvPr/>
        </p:nvSpPr>
        <p:spPr>
          <a:xfrm>
            <a:off x="12438600" y="752475"/>
            <a:ext cx="6029193" cy="3176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衰退期 </a:t>
            </a:r>
            <a:endParaRPr/>
          </a:p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（促銷 產品轉換）</a:t>
            </a:r>
            <a:endParaRPr/>
          </a:p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7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9"/>
          <p:cNvSpPr txBox="1"/>
          <p:nvPr/>
        </p:nvSpPr>
        <p:spPr>
          <a:xfrm>
            <a:off x="13702174" y="7893586"/>
            <a:ext cx="2802136" cy="182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快速清理庫存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回收現金流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吸引顧客回流</a:t>
            </a:r>
            <a:endParaRPr/>
          </a:p>
        </p:txBody>
      </p:sp>
      <p:sp>
        <p:nvSpPr>
          <p:cNvPr id="708" name="Google Shape;708;p29"/>
          <p:cNvSpPr txBox="1"/>
          <p:nvPr/>
        </p:nvSpPr>
        <p:spPr>
          <a:xfrm>
            <a:off x="13484960" y="6700182"/>
            <a:ext cx="3236565" cy="707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會員回饋大特價</a:t>
            </a:r>
            <a:endParaRPr/>
          </a:p>
        </p:txBody>
      </p:sp>
      <p:grpSp>
        <p:nvGrpSpPr>
          <p:cNvPr id="709" name="Google Shape;709;p29"/>
          <p:cNvGrpSpPr/>
          <p:nvPr/>
        </p:nvGrpSpPr>
        <p:grpSpPr>
          <a:xfrm>
            <a:off x="-496905" y="-442384"/>
            <a:ext cx="13115298" cy="10846280"/>
            <a:chOff x="0" y="-85725"/>
            <a:chExt cx="3454235" cy="2856634"/>
          </a:xfrm>
        </p:grpSpPr>
        <p:sp>
          <p:nvSpPr>
            <p:cNvPr id="710" name="Google Shape;710;p29"/>
            <p:cNvSpPr/>
            <p:nvPr/>
          </p:nvSpPr>
          <p:spPr>
            <a:xfrm>
              <a:off x="0" y="0"/>
              <a:ext cx="3454235" cy="2770909"/>
            </a:xfrm>
            <a:custGeom>
              <a:rect b="b" l="l" r="r" t="t"/>
              <a:pathLst>
                <a:path extrusionOk="0" h="2770909" w="3454235">
                  <a:moveTo>
                    <a:pt x="0" y="0"/>
                  </a:moveTo>
                  <a:lnTo>
                    <a:pt x="3454235" y="0"/>
                  </a:lnTo>
                  <a:lnTo>
                    <a:pt x="3454235" y="2770909"/>
                  </a:lnTo>
                  <a:lnTo>
                    <a:pt x="0" y="2770909"/>
                  </a:lnTo>
                  <a:close/>
                </a:path>
              </a:pathLst>
            </a:custGeom>
            <a:solidFill>
              <a:srgbClr val="FFFFFF">
                <a:alpha val="91764"/>
              </a:srgbClr>
            </a:solidFill>
            <a:ln>
              <a:noFill/>
            </a:ln>
          </p:spPr>
        </p:sp>
        <p:sp>
          <p:nvSpPr>
            <p:cNvPr id="711" name="Google Shape;711;p29"/>
            <p:cNvSpPr txBox="1"/>
            <p:nvPr/>
          </p:nvSpPr>
          <p:spPr>
            <a:xfrm>
              <a:off x="0" y="-85725"/>
              <a:ext cx="3454235" cy="2856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0"/>
          <p:cNvSpPr txBox="1"/>
          <p:nvPr/>
        </p:nvSpPr>
        <p:spPr>
          <a:xfrm>
            <a:off x="3747776" y="4062024"/>
            <a:ext cx="13910727" cy="1839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81" u="none" cap="none" strike="noStrike">
                <a:solidFill>
                  <a:srgbClr val="173157"/>
                </a:solidFill>
                <a:latin typeface="Arial"/>
                <a:ea typeface="Arial"/>
                <a:cs typeface="Arial"/>
                <a:sym typeface="Arial"/>
              </a:rPr>
              <a:t>品類 4 ：黃金飾品</a:t>
            </a:r>
            <a:endParaRPr/>
          </a:p>
        </p:txBody>
      </p:sp>
      <p:sp>
        <p:nvSpPr>
          <p:cNvPr id="717" name="Google Shape;717;p30"/>
          <p:cNvSpPr/>
          <p:nvPr/>
        </p:nvSpPr>
        <p:spPr>
          <a:xfrm>
            <a:off x="1430600" y="1028700"/>
            <a:ext cx="3025142" cy="2563297"/>
          </a:xfrm>
          <a:custGeom>
            <a:rect b="b" l="l" r="r" t="t"/>
            <a:pathLst>
              <a:path extrusionOk="0" h="2563297" w="3025142">
                <a:moveTo>
                  <a:pt x="0" y="0"/>
                </a:moveTo>
                <a:lnTo>
                  <a:pt x="3025142" y="0"/>
                </a:lnTo>
                <a:lnTo>
                  <a:pt x="3025142" y="2563297"/>
                </a:lnTo>
                <a:lnTo>
                  <a:pt x="0" y="2563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006" l="0" r="0" t="-9006"/>
            </a:stretch>
          </a:blipFill>
          <a:ln>
            <a:noFill/>
          </a:ln>
        </p:spPr>
      </p:sp>
      <p:grpSp>
        <p:nvGrpSpPr>
          <p:cNvPr id="718" name="Google Shape;718;p30"/>
          <p:cNvGrpSpPr/>
          <p:nvPr/>
        </p:nvGrpSpPr>
        <p:grpSpPr>
          <a:xfrm>
            <a:off x="-685800" y="8201323"/>
            <a:ext cx="20659729" cy="1757064"/>
            <a:chOff x="0" y="-482203"/>
            <a:chExt cx="27546305" cy="2342753"/>
          </a:xfrm>
        </p:grpSpPr>
        <p:grpSp>
          <p:nvGrpSpPr>
            <p:cNvPr id="719" name="Google Shape;719;p30"/>
            <p:cNvGrpSpPr/>
            <p:nvPr/>
          </p:nvGrpSpPr>
          <p:grpSpPr>
            <a:xfrm>
              <a:off x="0" y="-482203"/>
              <a:ext cx="27546305" cy="1587103"/>
              <a:chOff x="0" y="-95250"/>
              <a:chExt cx="5441245" cy="313502"/>
            </a:xfrm>
          </p:grpSpPr>
          <p:sp>
            <p:nvSpPr>
              <p:cNvPr id="720" name="Google Shape;720;p30"/>
              <p:cNvSpPr/>
              <p:nvPr/>
            </p:nvSpPr>
            <p:spPr>
              <a:xfrm>
                <a:off x="0" y="0"/>
                <a:ext cx="5441245" cy="218252"/>
              </a:xfrm>
              <a:custGeom>
                <a:rect b="b" l="l" r="r" t="t"/>
                <a:pathLst>
                  <a:path extrusionOk="0" h="218252" w="5441245">
                    <a:moveTo>
                      <a:pt x="0" y="0"/>
                    </a:moveTo>
                    <a:lnTo>
                      <a:pt x="5441245" y="0"/>
                    </a:lnTo>
                    <a:lnTo>
                      <a:pt x="5441245" y="218252"/>
                    </a:lnTo>
                    <a:lnTo>
                      <a:pt x="0" y="218252"/>
                    </a:ln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</p:sp>
          <p:sp>
            <p:nvSpPr>
              <p:cNvPr id="721" name="Google Shape;721;p30"/>
              <p:cNvSpPr txBox="1"/>
              <p:nvPr/>
            </p:nvSpPr>
            <p:spPr>
              <a:xfrm>
                <a:off x="0" y="-95250"/>
                <a:ext cx="5441244" cy="313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0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2" name="Google Shape;722;p30"/>
            <p:cNvGrpSpPr/>
            <p:nvPr/>
          </p:nvGrpSpPr>
          <p:grpSpPr>
            <a:xfrm>
              <a:off x="0" y="1035445"/>
              <a:ext cx="27546305" cy="825105"/>
              <a:chOff x="0" y="-95250"/>
              <a:chExt cx="5441245" cy="162983"/>
            </a:xfrm>
          </p:grpSpPr>
          <p:sp>
            <p:nvSpPr>
              <p:cNvPr id="723" name="Google Shape;723;p30"/>
              <p:cNvSpPr/>
              <p:nvPr/>
            </p:nvSpPr>
            <p:spPr>
              <a:xfrm>
                <a:off x="0" y="0"/>
                <a:ext cx="5441245" cy="67733"/>
              </a:xfrm>
              <a:custGeom>
                <a:rect b="b" l="l" r="r" t="t"/>
                <a:pathLst>
                  <a:path extrusionOk="0" h="67733" w="5441245">
                    <a:moveTo>
                      <a:pt x="0" y="0"/>
                    </a:moveTo>
                    <a:lnTo>
                      <a:pt x="5441245" y="0"/>
                    </a:lnTo>
                    <a:lnTo>
                      <a:pt x="5441245" y="67733"/>
                    </a:lnTo>
                    <a:lnTo>
                      <a:pt x="0" y="67733"/>
                    </a:ln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</p:sp>
          <p:sp>
            <p:nvSpPr>
              <p:cNvPr id="724" name="Google Shape;724;p30"/>
              <p:cNvSpPr txBox="1"/>
              <p:nvPr/>
            </p:nvSpPr>
            <p:spPr>
              <a:xfrm>
                <a:off x="0" y="-95250"/>
                <a:ext cx="5441244" cy="162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0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25" name="Google Shape;725;p30"/>
          <p:cNvSpPr/>
          <p:nvPr/>
        </p:nvSpPr>
        <p:spPr>
          <a:xfrm>
            <a:off x="15705314" y="6680643"/>
            <a:ext cx="1953188" cy="1704156"/>
          </a:xfrm>
          <a:custGeom>
            <a:rect b="b" l="l" r="r" t="t"/>
            <a:pathLst>
              <a:path extrusionOk="0" h="1704156" w="1953188">
                <a:moveTo>
                  <a:pt x="0" y="0"/>
                </a:moveTo>
                <a:lnTo>
                  <a:pt x="1953188" y="0"/>
                </a:lnTo>
                <a:lnTo>
                  <a:pt x="1953188" y="1704157"/>
                </a:lnTo>
                <a:lnTo>
                  <a:pt x="0" y="17041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1"/>
          <p:cNvSpPr txBox="1"/>
          <p:nvPr/>
        </p:nvSpPr>
        <p:spPr>
          <a:xfrm>
            <a:off x="10958622" y="638175"/>
            <a:ext cx="10941043" cy="1606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分析現況</a:t>
            </a:r>
            <a:endParaRPr/>
          </a:p>
        </p:txBody>
      </p:sp>
      <p:graphicFrame>
        <p:nvGraphicFramePr>
          <p:cNvPr id="731" name="Google Shape;731;p31"/>
          <p:cNvGraphicFramePr/>
          <p:nvPr/>
        </p:nvGraphicFramePr>
        <p:xfrm>
          <a:off x="10958622" y="2856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{4C2B6DD9-06C9-47CB-A7B3-0F92CF147B39}</a:tableStyleId>
              </a:tblPr>
              <a:tblGrid>
                <a:gridCol w="3570325"/>
                <a:gridCol w="2730350"/>
              </a:tblGrid>
              <a:tr h="102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總營收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低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毛利率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低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平均價格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最高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平均年齡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高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回購率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低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連帶購買率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低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4545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732" name="Google Shape;732;p31"/>
          <p:cNvGrpSpPr/>
          <p:nvPr/>
        </p:nvGrpSpPr>
        <p:grpSpPr>
          <a:xfrm>
            <a:off x="1028700" y="1417096"/>
            <a:ext cx="8283717" cy="7069558"/>
            <a:chOff x="0" y="0"/>
            <a:chExt cx="11044956" cy="9426078"/>
          </a:xfrm>
        </p:grpSpPr>
        <p:sp>
          <p:nvSpPr>
            <p:cNvPr id="733" name="Google Shape;733;p31"/>
            <p:cNvSpPr/>
            <p:nvPr/>
          </p:nvSpPr>
          <p:spPr>
            <a:xfrm>
              <a:off x="0" y="0"/>
              <a:ext cx="11044956" cy="9426078"/>
            </a:xfrm>
            <a:custGeom>
              <a:rect b="b" l="l" r="r" t="t"/>
              <a:pathLst>
                <a:path extrusionOk="0" h="9426078" w="11044956">
                  <a:moveTo>
                    <a:pt x="0" y="0"/>
                  </a:moveTo>
                  <a:lnTo>
                    <a:pt x="11044956" y="0"/>
                  </a:lnTo>
                  <a:lnTo>
                    <a:pt x="11044956" y="9426078"/>
                  </a:lnTo>
                  <a:lnTo>
                    <a:pt x="0" y="94260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-25984" t="-566"/>
              </a:stretch>
            </a:blipFill>
            <a:ln>
              <a:noFill/>
            </a:ln>
          </p:spPr>
        </p:sp>
        <p:grpSp>
          <p:nvGrpSpPr>
            <p:cNvPr id="734" name="Google Shape;734;p31"/>
            <p:cNvGrpSpPr/>
            <p:nvPr/>
          </p:nvGrpSpPr>
          <p:grpSpPr>
            <a:xfrm>
              <a:off x="1802399" y="10473"/>
              <a:ext cx="6503815" cy="8004097"/>
              <a:chOff x="0" y="-28575"/>
              <a:chExt cx="1507360" cy="1855074"/>
            </a:xfrm>
          </p:grpSpPr>
          <p:sp>
            <p:nvSpPr>
              <p:cNvPr id="735" name="Google Shape;735;p31"/>
              <p:cNvSpPr/>
              <p:nvPr/>
            </p:nvSpPr>
            <p:spPr>
              <a:xfrm>
                <a:off x="0" y="0"/>
                <a:ext cx="1507360" cy="1826499"/>
              </a:xfrm>
              <a:custGeom>
                <a:rect b="b" l="l" r="r" t="t"/>
                <a:pathLst>
                  <a:path extrusionOk="0" h="1826499" w="1507360">
                    <a:moveTo>
                      <a:pt x="0" y="0"/>
                    </a:moveTo>
                    <a:lnTo>
                      <a:pt x="1507360" y="0"/>
                    </a:lnTo>
                    <a:lnTo>
                      <a:pt x="1507360" y="1826499"/>
                    </a:lnTo>
                    <a:lnTo>
                      <a:pt x="0" y="1826499"/>
                    </a:lnTo>
                    <a:close/>
                  </a:path>
                </a:pathLst>
              </a:custGeom>
              <a:solidFill>
                <a:srgbClr val="FFFFFF">
                  <a:alpha val="87450"/>
                </a:srgbClr>
              </a:solidFill>
              <a:ln>
                <a:noFill/>
              </a:ln>
            </p:spPr>
          </p:sp>
          <p:sp>
            <p:nvSpPr>
              <p:cNvPr id="736" name="Google Shape;736;p31"/>
              <p:cNvSpPr txBox="1"/>
              <p:nvPr/>
            </p:nvSpPr>
            <p:spPr>
              <a:xfrm>
                <a:off x="0" y="-28575"/>
                <a:ext cx="1507360" cy="1855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8275" lIns="58275" spcFirstLastPara="1" rIns="58275" wrap="square" tIns="58275">
                <a:noAutofit/>
              </a:bodyPr>
              <a:lstStyle/>
              <a:p>
                <a:pPr indent="0" lvl="0" marL="0" marR="0" rtl="0" algn="ctr">
                  <a:lnSpc>
                    <a:spcPct val="13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7" name="Google Shape;737;p31"/>
          <p:cNvGrpSpPr/>
          <p:nvPr/>
        </p:nvGrpSpPr>
        <p:grpSpPr>
          <a:xfrm>
            <a:off x="1626885" y="8807084"/>
            <a:ext cx="7940030" cy="902434"/>
            <a:chOff x="0" y="0"/>
            <a:chExt cx="10586706" cy="1203244"/>
          </a:xfrm>
        </p:grpSpPr>
        <p:sp>
          <p:nvSpPr>
            <p:cNvPr id="738" name="Google Shape;738;p31"/>
            <p:cNvSpPr/>
            <p:nvPr/>
          </p:nvSpPr>
          <p:spPr>
            <a:xfrm>
              <a:off x="0" y="0"/>
              <a:ext cx="2914280" cy="521503"/>
            </a:xfrm>
            <a:custGeom>
              <a:rect b="b" l="l" r="r" t="t"/>
              <a:pathLst>
                <a:path extrusionOk="0" h="521503" w="2914280">
                  <a:moveTo>
                    <a:pt x="0" y="0"/>
                  </a:moveTo>
                  <a:lnTo>
                    <a:pt x="2914280" y="0"/>
                  </a:lnTo>
                  <a:lnTo>
                    <a:pt x="2914280" y="521503"/>
                  </a:lnTo>
                  <a:lnTo>
                    <a:pt x="0" y="5215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739" name="Google Shape;739;p31"/>
            <p:cNvSpPr/>
            <p:nvPr/>
          </p:nvSpPr>
          <p:spPr>
            <a:xfrm>
              <a:off x="2443784" y="0"/>
              <a:ext cx="3405106" cy="521503"/>
            </a:xfrm>
            <a:custGeom>
              <a:rect b="b" l="l" r="r" t="t"/>
              <a:pathLst>
                <a:path extrusionOk="0" h="521503" w="3405106">
                  <a:moveTo>
                    <a:pt x="0" y="0"/>
                  </a:moveTo>
                  <a:lnTo>
                    <a:pt x="3405107" y="0"/>
                  </a:lnTo>
                  <a:lnTo>
                    <a:pt x="3405107" y="521503"/>
                  </a:lnTo>
                  <a:lnTo>
                    <a:pt x="0" y="5215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740" name="Google Shape;740;p31"/>
            <p:cNvSpPr/>
            <p:nvPr/>
          </p:nvSpPr>
          <p:spPr>
            <a:xfrm>
              <a:off x="5848891" y="36718"/>
              <a:ext cx="3077105" cy="484785"/>
            </a:xfrm>
            <a:custGeom>
              <a:rect b="b" l="l" r="r" t="t"/>
              <a:pathLst>
                <a:path extrusionOk="0" h="484785" w="3077105">
                  <a:moveTo>
                    <a:pt x="0" y="0"/>
                  </a:moveTo>
                  <a:lnTo>
                    <a:pt x="3077105" y="0"/>
                  </a:lnTo>
                  <a:lnTo>
                    <a:pt x="3077105" y="484785"/>
                  </a:lnTo>
                  <a:lnTo>
                    <a:pt x="0" y="4847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-15960"/>
              </a:stretch>
            </a:blipFill>
            <a:ln>
              <a:noFill/>
            </a:ln>
          </p:spPr>
        </p:sp>
        <p:sp>
          <p:nvSpPr>
            <p:cNvPr id="741" name="Google Shape;741;p31"/>
            <p:cNvSpPr/>
            <p:nvPr/>
          </p:nvSpPr>
          <p:spPr>
            <a:xfrm>
              <a:off x="143183" y="615347"/>
              <a:ext cx="2283163" cy="482358"/>
            </a:xfrm>
            <a:custGeom>
              <a:rect b="b" l="l" r="r" t="t"/>
              <a:pathLst>
                <a:path extrusionOk="0" h="482358" w="2283163">
                  <a:moveTo>
                    <a:pt x="0" y="0"/>
                  </a:moveTo>
                  <a:lnTo>
                    <a:pt x="2283163" y="0"/>
                  </a:lnTo>
                  <a:lnTo>
                    <a:pt x="2283163" y="482358"/>
                  </a:lnTo>
                  <a:lnTo>
                    <a:pt x="0" y="482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742" name="Google Shape;742;p31"/>
            <p:cNvSpPr/>
            <p:nvPr/>
          </p:nvSpPr>
          <p:spPr>
            <a:xfrm>
              <a:off x="2443784" y="535606"/>
              <a:ext cx="4340657" cy="562099"/>
            </a:xfrm>
            <a:custGeom>
              <a:rect b="b" l="l" r="r" t="t"/>
              <a:pathLst>
                <a:path extrusionOk="0" h="562099" w="4340657">
                  <a:moveTo>
                    <a:pt x="0" y="0"/>
                  </a:moveTo>
                  <a:lnTo>
                    <a:pt x="4340658" y="0"/>
                  </a:lnTo>
                  <a:lnTo>
                    <a:pt x="4340658" y="562099"/>
                  </a:lnTo>
                  <a:lnTo>
                    <a:pt x="0" y="5620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743" name="Google Shape;743;p31"/>
            <p:cNvSpPr/>
            <p:nvPr/>
          </p:nvSpPr>
          <p:spPr>
            <a:xfrm>
              <a:off x="5734273" y="468994"/>
              <a:ext cx="4852433" cy="734250"/>
            </a:xfrm>
            <a:custGeom>
              <a:rect b="b" l="l" r="r" t="t"/>
              <a:pathLst>
                <a:path extrusionOk="0" h="734250" w="4852433">
                  <a:moveTo>
                    <a:pt x="0" y="0"/>
                  </a:moveTo>
                  <a:lnTo>
                    <a:pt x="4852433" y="0"/>
                  </a:lnTo>
                  <a:lnTo>
                    <a:pt x="4852433" y="734249"/>
                  </a:lnTo>
                  <a:lnTo>
                    <a:pt x="0" y="734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8" name="Google Shape;748;p32"/>
          <p:cNvGrpSpPr/>
          <p:nvPr/>
        </p:nvGrpSpPr>
        <p:grpSpPr>
          <a:xfrm>
            <a:off x="10573294" y="735806"/>
            <a:ext cx="7217083" cy="4213569"/>
            <a:chOff x="0" y="-390525"/>
            <a:chExt cx="9622778" cy="5618091"/>
          </a:xfrm>
        </p:grpSpPr>
        <p:sp>
          <p:nvSpPr>
            <p:cNvPr id="749" name="Google Shape;749;p32"/>
            <p:cNvSpPr txBox="1"/>
            <p:nvPr/>
          </p:nvSpPr>
          <p:spPr>
            <a:xfrm>
              <a:off x="315858" y="-390525"/>
              <a:ext cx="5418455" cy="2011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0" u="none" cap="none" strike="noStrike">
                  <a:solidFill>
                    <a:srgbClr val="0C63AE"/>
                  </a:solidFill>
                  <a:latin typeface="Arial"/>
                  <a:ea typeface="Arial"/>
                  <a:cs typeface="Arial"/>
                  <a:sym typeface="Arial"/>
                </a:rPr>
                <a:t>現象診斷</a:t>
              </a:r>
              <a:endParaRPr/>
            </a:p>
          </p:txBody>
        </p:sp>
        <p:sp>
          <p:nvSpPr>
            <p:cNvPr id="750" name="Google Shape;750;p32"/>
            <p:cNvSpPr txBox="1"/>
            <p:nvPr/>
          </p:nvSpPr>
          <p:spPr>
            <a:xfrm>
              <a:off x="0" y="1525736"/>
              <a:ext cx="9622778" cy="3701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9306" lvl="1" marL="578611" marR="0" rtl="0" algn="l">
                <a:lnSpc>
                  <a:spcPct val="21104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79"/>
                <a:buFont typeface="Arial"/>
                <a:buChar char="•"/>
              </a:pPr>
              <a:r>
                <a:rPr b="0" i="0" lang="en-US" sz="267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高單價、低銷量：黃金飾品為高價、耐久材，並多為一次性購買。</a:t>
              </a:r>
              <a:endParaRPr/>
            </a:p>
            <a:p>
              <a:pPr indent="-289306" lvl="1" marL="578611" marR="0" rtl="0" algn="l">
                <a:lnSpc>
                  <a:spcPct val="21104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79"/>
                <a:buFont typeface="Arial"/>
                <a:buChar char="•"/>
              </a:pPr>
              <a:r>
                <a:rPr b="0" i="0" lang="en-US" sz="267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客群年齡偏高：主力顧客集中於中高齡層，購買動機可能為贈禮、自用、收藏或保值。</a:t>
              </a:r>
              <a:endParaRPr/>
            </a:p>
          </p:txBody>
        </p:sp>
      </p:grpSp>
      <p:grpSp>
        <p:nvGrpSpPr>
          <p:cNvPr id="751" name="Google Shape;751;p32"/>
          <p:cNvGrpSpPr/>
          <p:nvPr/>
        </p:nvGrpSpPr>
        <p:grpSpPr>
          <a:xfrm>
            <a:off x="10810188" y="5440400"/>
            <a:ext cx="6734961" cy="3817900"/>
            <a:chOff x="0" y="-390525"/>
            <a:chExt cx="8979948" cy="5090533"/>
          </a:xfrm>
        </p:grpSpPr>
        <p:sp>
          <p:nvSpPr>
            <p:cNvPr id="752" name="Google Shape;752;p32"/>
            <p:cNvSpPr txBox="1"/>
            <p:nvPr/>
          </p:nvSpPr>
          <p:spPr>
            <a:xfrm>
              <a:off x="0" y="-390525"/>
              <a:ext cx="5418455" cy="2011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0" u="none" cap="none" strike="noStrike">
                  <a:solidFill>
                    <a:srgbClr val="0C63AE"/>
                  </a:solidFill>
                  <a:latin typeface="Arial"/>
                  <a:ea typeface="Arial"/>
                  <a:cs typeface="Arial"/>
                  <a:sym typeface="Arial"/>
                </a:rPr>
                <a:t>行銷策略</a:t>
              </a:r>
              <a:endParaRPr/>
            </a:p>
          </p:txBody>
        </p:sp>
        <p:sp>
          <p:nvSpPr>
            <p:cNvPr id="753" name="Google Shape;753;p32"/>
            <p:cNvSpPr txBox="1"/>
            <p:nvPr/>
          </p:nvSpPr>
          <p:spPr>
            <a:xfrm>
              <a:off x="0" y="1803230"/>
              <a:ext cx="8979948" cy="28967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32485" lvl="1" marL="664969" marR="0" rtl="0" algn="l">
                <a:lnSpc>
                  <a:spcPct val="19103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79"/>
                <a:buFont typeface="Arial"/>
                <a:buChar char="•"/>
              </a:pPr>
              <a:r>
                <a:rPr b="0" i="0" lang="en-US" sz="307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配合節日，舉辦抽獎活動</a:t>
              </a:r>
              <a:endParaRPr/>
            </a:p>
            <a:p>
              <a:pPr indent="-332485" lvl="1" marL="664969" marR="0" rtl="0" algn="l">
                <a:lnSpc>
                  <a:spcPct val="19103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79"/>
                <a:buFont typeface="Arial"/>
                <a:buChar char="•"/>
              </a:pPr>
              <a:r>
                <a:rPr b="0" i="0" lang="en-US" sz="307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拓展喜愛飾品配件、且追求時尚的年齡族群</a:t>
              </a:r>
              <a:endParaRPr/>
            </a:p>
          </p:txBody>
        </p:sp>
      </p:grpSp>
      <p:grpSp>
        <p:nvGrpSpPr>
          <p:cNvPr id="754" name="Google Shape;754;p32"/>
          <p:cNvGrpSpPr/>
          <p:nvPr/>
        </p:nvGrpSpPr>
        <p:grpSpPr>
          <a:xfrm>
            <a:off x="1028700" y="1417096"/>
            <a:ext cx="8283717" cy="7069558"/>
            <a:chOff x="0" y="0"/>
            <a:chExt cx="11044956" cy="9426078"/>
          </a:xfrm>
        </p:grpSpPr>
        <p:sp>
          <p:nvSpPr>
            <p:cNvPr id="755" name="Google Shape;755;p32"/>
            <p:cNvSpPr/>
            <p:nvPr/>
          </p:nvSpPr>
          <p:spPr>
            <a:xfrm>
              <a:off x="0" y="0"/>
              <a:ext cx="11044956" cy="9426078"/>
            </a:xfrm>
            <a:custGeom>
              <a:rect b="b" l="l" r="r" t="t"/>
              <a:pathLst>
                <a:path extrusionOk="0" h="9426078" w="11044956">
                  <a:moveTo>
                    <a:pt x="0" y="0"/>
                  </a:moveTo>
                  <a:lnTo>
                    <a:pt x="11044956" y="0"/>
                  </a:lnTo>
                  <a:lnTo>
                    <a:pt x="11044956" y="9426078"/>
                  </a:lnTo>
                  <a:lnTo>
                    <a:pt x="0" y="94260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-25984" t="-566"/>
              </a:stretch>
            </a:blipFill>
            <a:ln>
              <a:noFill/>
            </a:ln>
          </p:spPr>
        </p:sp>
        <p:grpSp>
          <p:nvGrpSpPr>
            <p:cNvPr id="756" name="Google Shape;756;p32"/>
            <p:cNvGrpSpPr/>
            <p:nvPr/>
          </p:nvGrpSpPr>
          <p:grpSpPr>
            <a:xfrm>
              <a:off x="1802399" y="10473"/>
              <a:ext cx="6503815" cy="8004097"/>
              <a:chOff x="0" y="-28575"/>
              <a:chExt cx="1507360" cy="1855074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0" y="0"/>
                <a:ext cx="1507360" cy="1826499"/>
              </a:xfrm>
              <a:custGeom>
                <a:rect b="b" l="l" r="r" t="t"/>
                <a:pathLst>
                  <a:path extrusionOk="0" h="1826499" w="1507360">
                    <a:moveTo>
                      <a:pt x="0" y="0"/>
                    </a:moveTo>
                    <a:lnTo>
                      <a:pt x="1507360" y="0"/>
                    </a:lnTo>
                    <a:lnTo>
                      <a:pt x="1507360" y="1826499"/>
                    </a:lnTo>
                    <a:lnTo>
                      <a:pt x="0" y="1826499"/>
                    </a:lnTo>
                    <a:close/>
                  </a:path>
                </a:pathLst>
              </a:custGeom>
              <a:solidFill>
                <a:srgbClr val="FFFFFF">
                  <a:alpha val="87450"/>
                </a:srgbClr>
              </a:solidFill>
              <a:ln>
                <a:noFill/>
              </a:ln>
            </p:spPr>
          </p:sp>
          <p:sp>
            <p:nvSpPr>
              <p:cNvPr id="758" name="Google Shape;758;p32"/>
              <p:cNvSpPr txBox="1"/>
              <p:nvPr/>
            </p:nvSpPr>
            <p:spPr>
              <a:xfrm>
                <a:off x="0" y="-28575"/>
                <a:ext cx="1507360" cy="1855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8275" lIns="58275" spcFirstLastPara="1" rIns="58275" wrap="square" tIns="58275">
                <a:noAutofit/>
              </a:bodyPr>
              <a:lstStyle/>
              <a:p>
                <a:pPr indent="0" lvl="0" marL="0" marR="0" rtl="0" algn="ctr">
                  <a:lnSpc>
                    <a:spcPct val="13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9" name="Google Shape;759;p32"/>
          <p:cNvGrpSpPr/>
          <p:nvPr/>
        </p:nvGrpSpPr>
        <p:grpSpPr>
          <a:xfrm>
            <a:off x="1626885" y="8807084"/>
            <a:ext cx="7940030" cy="902434"/>
            <a:chOff x="0" y="0"/>
            <a:chExt cx="10586706" cy="1203244"/>
          </a:xfrm>
        </p:grpSpPr>
        <p:sp>
          <p:nvSpPr>
            <p:cNvPr id="760" name="Google Shape;760;p32"/>
            <p:cNvSpPr/>
            <p:nvPr/>
          </p:nvSpPr>
          <p:spPr>
            <a:xfrm>
              <a:off x="0" y="0"/>
              <a:ext cx="2914280" cy="521503"/>
            </a:xfrm>
            <a:custGeom>
              <a:rect b="b" l="l" r="r" t="t"/>
              <a:pathLst>
                <a:path extrusionOk="0" h="521503" w="2914280">
                  <a:moveTo>
                    <a:pt x="0" y="0"/>
                  </a:moveTo>
                  <a:lnTo>
                    <a:pt x="2914280" y="0"/>
                  </a:lnTo>
                  <a:lnTo>
                    <a:pt x="2914280" y="521503"/>
                  </a:lnTo>
                  <a:lnTo>
                    <a:pt x="0" y="5215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761" name="Google Shape;761;p32"/>
            <p:cNvSpPr/>
            <p:nvPr/>
          </p:nvSpPr>
          <p:spPr>
            <a:xfrm>
              <a:off x="2443784" y="0"/>
              <a:ext cx="3405106" cy="521503"/>
            </a:xfrm>
            <a:custGeom>
              <a:rect b="b" l="l" r="r" t="t"/>
              <a:pathLst>
                <a:path extrusionOk="0" h="521503" w="3405106">
                  <a:moveTo>
                    <a:pt x="0" y="0"/>
                  </a:moveTo>
                  <a:lnTo>
                    <a:pt x="3405107" y="0"/>
                  </a:lnTo>
                  <a:lnTo>
                    <a:pt x="3405107" y="521503"/>
                  </a:lnTo>
                  <a:lnTo>
                    <a:pt x="0" y="5215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762" name="Google Shape;762;p32"/>
            <p:cNvSpPr/>
            <p:nvPr/>
          </p:nvSpPr>
          <p:spPr>
            <a:xfrm>
              <a:off x="5848891" y="36718"/>
              <a:ext cx="3077105" cy="484785"/>
            </a:xfrm>
            <a:custGeom>
              <a:rect b="b" l="l" r="r" t="t"/>
              <a:pathLst>
                <a:path extrusionOk="0" h="484785" w="3077105">
                  <a:moveTo>
                    <a:pt x="0" y="0"/>
                  </a:moveTo>
                  <a:lnTo>
                    <a:pt x="3077105" y="0"/>
                  </a:lnTo>
                  <a:lnTo>
                    <a:pt x="3077105" y="484785"/>
                  </a:lnTo>
                  <a:lnTo>
                    <a:pt x="0" y="4847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-15960"/>
              </a:stretch>
            </a:blipFill>
            <a:ln>
              <a:noFill/>
            </a:ln>
          </p:spPr>
        </p:sp>
        <p:sp>
          <p:nvSpPr>
            <p:cNvPr id="763" name="Google Shape;763;p32"/>
            <p:cNvSpPr/>
            <p:nvPr/>
          </p:nvSpPr>
          <p:spPr>
            <a:xfrm>
              <a:off x="143183" y="615347"/>
              <a:ext cx="2283163" cy="482358"/>
            </a:xfrm>
            <a:custGeom>
              <a:rect b="b" l="l" r="r" t="t"/>
              <a:pathLst>
                <a:path extrusionOk="0" h="482358" w="2283163">
                  <a:moveTo>
                    <a:pt x="0" y="0"/>
                  </a:moveTo>
                  <a:lnTo>
                    <a:pt x="2283163" y="0"/>
                  </a:lnTo>
                  <a:lnTo>
                    <a:pt x="2283163" y="482358"/>
                  </a:lnTo>
                  <a:lnTo>
                    <a:pt x="0" y="482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764" name="Google Shape;764;p32"/>
            <p:cNvSpPr/>
            <p:nvPr/>
          </p:nvSpPr>
          <p:spPr>
            <a:xfrm>
              <a:off x="2443784" y="535606"/>
              <a:ext cx="4340657" cy="562099"/>
            </a:xfrm>
            <a:custGeom>
              <a:rect b="b" l="l" r="r" t="t"/>
              <a:pathLst>
                <a:path extrusionOk="0" h="562099" w="4340657">
                  <a:moveTo>
                    <a:pt x="0" y="0"/>
                  </a:moveTo>
                  <a:lnTo>
                    <a:pt x="4340658" y="0"/>
                  </a:lnTo>
                  <a:lnTo>
                    <a:pt x="4340658" y="562099"/>
                  </a:lnTo>
                  <a:lnTo>
                    <a:pt x="0" y="5620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765" name="Google Shape;765;p32"/>
            <p:cNvSpPr/>
            <p:nvPr/>
          </p:nvSpPr>
          <p:spPr>
            <a:xfrm>
              <a:off x="5734273" y="468994"/>
              <a:ext cx="4852433" cy="734250"/>
            </a:xfrm>
            <a:custGeom>
              <a:rect b="b" l="l" r="r" t="t"/>
              <a:pathLst>
                <a:path extrusionOk="0" h="734250" w="4852433">
                  <a:moveTo>
                    <a:pt x="0" y="0"/>
                  </a:moveTo>
                  <a:lnTo>
                    <a:pt x="4852433" y="0"/>
                  </a:lnTo>
                  <a:lnTo>
                    <a:pt x="4852433" y="734249"/>
                  </a:lnTo>
                  <a:lnTo>
                    <a:pt x="0" y="734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0" name="Google Shape;770;p33"/>
          <p:cNvGrpSpPr/>
          <p:nvPr/>
        </p:nvGrpSpPr>
        <p:grpSpPr>
          <a:xfrm>
            <a:off x="-183199" y="-180826"/>
            <a:ext cx="9144000" cy="10467826"/>
            <a:chOff x="0" y="-47625"/>
            <a:chExt cx="2408296" cy="2756958"/>
          </a:xfrm>
        </p:grpSpPr>
        <p:sp>
          <p:nvSpPr>
            <p:cNvPr id="771" name="Google Shape;771;p3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9F5F5"/>
            </a:solidFill>
            <a:ln>
              <a:noFill/>
            </a:ln>
          </p:spPr>
        </p:sp>
        <p:sp>
          <p:nvSpPr>
            <p:cNvPr id="772" name="Google Shape;772;p33"/>
            <p:cNvSpPr txBox="1"/>
            <p:nvPr/>
          </p:nvSpPr>
          <p:spPr>
            <a:xfrm>
              <a:off x="0" y="-47625"/>
              <a:ext cx="240829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2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3" name="Google Shape;773;p33"/>
          <p:cNvSpPr/>
          <p:nvPr/>
        </p:nvSpPr>
        <p:spPr>
          <a:xfrm>
            <a:off x="9978551" y="3168058"/>
            <a:ext cx="4490783" cy="2307140"/>
          </a:xfrm>
          <a:custGeom>
            <a:rect b="b" l="l" r="r" t="t"/>
            <a:pathLst>
              <a:path extrusionOk="0" h="2307140" w="4490783">
                <a:moveTo>
                  <a:pt x="0" y="0"/>
                </a:moveTo>
                <a:lnTo>
                  <a:pt x="4490782" y="0"/>
                </a:lnTo>
                <a:lnTo>
                  <a:pt x="4490782" y="2307140"/>
                </a:lnTo>
                <a:lnTo>
                  <a:pt x="0" y="2307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4" name="Google Shape;774;p33"/>
          <p:cNvSpPr/>
          <p:nvPr/>
        </p:nvSpPr>
        <p:spPr>
          <a:xfrm>
            <a:off x="13492003" y="4432811"/>
            <a:ext cx="3265996" cy="2257620"/>
          </a:xfrm>
          <a:custGeom>
            <a:rect b="b" l="l" r="r" t="t"/>
            <a:pathLst>
              <a:path extrusionOk="0" h="2257620" w="3265996">
                <a:moveTo>
                  <a:pt x="0" y="0"/>
                </a:moveTo>
                <a:lnTo>
                  <a:pt x="3265996" y="0"/>
                </a:lnTo>
                <a:lnTo>
                  <a:pt x="3265996" y="2257620"/>
                </a:lnTo>
                <a:lnTo>
                  <a:pt x="0" y="22576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5" name="Google Shape;775;p33"/>
          <p:cNvSpPr/>
          <p:nvPr/>
        </p:nvSpPr>
        <p:spPr>
          <a:xfrm>
            <a:off x="4796114" y="3116864"/>
            <a:ext cx="2343303" cy="2879635"/>
          </a:xfrm>
          <a:custGeom>
            <a:rect b="b" l="l" r="r" t="t"/>
            <a:pathLst>
              <a:path extrusionOk="0" h="2879635" w="2343303">
                <a:moveTo>
                  <a:pt x="0" y="0"/>
                </a:moveTo>
                <a:lnTo>
                  <a:pt x="2343303" y="0"/>
                </a:lnTo>
                <a:lnTo>
                  <a:pt x="2343303" y="2879636"/>
                </a:lnTo>
                <a:lnTo>
                  <a:pt x="0" y="28796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6" name="Google Shape;776;p33"/>
          <p:cNvSpPr/>
          <p:nvPr/>
        </p:nvSpPr>
        <p:spPr>
          <a:xfrm>
            <a:off x="1759172" y="3342201"/>
            <a:ext cx="2307514" cy="2428962"/>
          </a:xfrm>
          <a:custGeom>
            <a:rect b="b" l="l" r="r" t="t"/>
            <a:pathLst>
              <a:path extrusionOk="0" h="2428962" w="2307514">
                <a:moveTo>
                  <a:pt x="0" y="0"/>
                </a:moveTo>
                <a:lnTo>
                  <a:pt x="2307514" y="0"/>
                </a:lnTo>
                <a:lnTo>
                  <a:pt x="2307514" y="2428962"/>
                </a:lnTo>
                <a:lnTo>
                  <a:pt x="0" y="2428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7" name="Google Shape;777;p33"/>
          <p:cNvSpPr/>
          <p:nvPr/>
        </p:nvSpPr>
        <p:spPr>
          <a:xfrm rot="921832">
            <a:off x="13254800" y="2403375"/>
            <a:ext cx="3186990" cy="1653251"/>
          </a:xfrm>
          <a:custGeom>
            <a:rect b="b" l="l" r="r" t="t"/>
            <a:pathLst>
              <a:path extrusionOk="0" h="1653251" w="3186990">
                <a:moveTo>
                  <a:pt x="0" y="0"/>
                </a:moveTo>
                <a:lnTo>
                  <a:pt x="3186990" y="0"/>
                </a:lnTo>
                <a:lnTo>
                  <a:pt x="3186990" y="1653252"/>
                </a:lnTo>
                <a:lnTo>
                  <a:pt x="0" y="1653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8" name="Google Shape;778;p33"/>
          <p:cNvSpPr txBox="1"/>
          <p:nvPr/>
        </p:nvSpPr>
        <p:spPr>
          <a:xfrm>
            <a:off x="3131501" y="543209"/>
            <a:ext cx="2514600" cy="65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年輕族群導入</a:t>
            </a:r>
            <a:endParaRPr/>
          </a:p>
        </p:txBody>
      </p:sp>
      <p:sp>
        <p:nvSpPr>
          <p:cNvPr id="779" name="Google Shape;779;p33"/>
          <p:cNvSpPr txBox="1"/>
          <p:nvPr/>
        </p:nvSpPr>
        <p:spPr>
          <a:xfrm>
            <a:off x="12458700" y="618173"/>
            <a:ext cx="2514600" cy="65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節慶禮贈推動</a:t>
            </a:r>
            <a:endParaRPr/>
          </a:p>
        </p:txBody>
      </p:sp>
      <p:sp>
        <p:nvSpPr>
          <p:cNvPr id="780" name="Google Shape;780;p33"/>
          <p:cNvSpPr txBox="1"/>
          <p:nvPr/>
        </p:nvSpPr>
        <p:spPr>
          <a:xfrm>
            <a:off x="9343727" y="7585781"/>
            <a:ext cx="8744545" cy="1568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情人節期間推出「金飾對戒」與「刻字客製服務」</a:t>
            </a:r>
            <a:endParaRPr/>
          </a:p>
          <a:p>
            <a:pPr indent="0" lvl="0" marL="0" marR="0" rtl="0" algn="l">
              <a:lnSpc>
                <a:spcPct val="19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搭配抽獎活動，如「購金滿額抽</a:t>
            </a:r>
            <a:r>
              <a:rPr b="1" i="0" lang="en-US" sz="3130" u="none" cap="none" strike="noStrike">
                <a:solidFill>
                  <a:srgbClr val="FF4141"/>
                </a:solidFill>
                <a:latin typeface="Arial"/>
                <a:ea typeface="Arial"/>
                <a:cs typeface="Arial"/>
                <a:sym typeface="Arial"/>
              </a:rPr>
              <a:t>雙人沖繩之旅</a:t>
            </a:r>
            <a:r>
              <a:rPr b="0" i="0" lang="en-US" sz="31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」</a:t>
            </a:r>
            <a:endParaRPr/>
          </a:p>
        </p:txBody>
      </p:sp>
      <p:sp>
        <p:nvSpPr>
          <p:cNvPr id="781" name="Google Shape;781;p33"/>
          <p:cNvSpPr txBox="1"/>
          <p:nvPr/>
        </p:nvSpPr>
        <p:spPr>
          <a:xfrm>
            <a:off x="1759172" y="7595306"/>
            <a:ext cx="5980254" cy="1605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6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推出「</a:t>
            </a:r>
            <a:r>
              <a:rPr b="1" i="0" lang="en-US" sz="3332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入門款日常金飾</a:t>
            </a:r>
            <a:r>
              <a:rPr b="0" i="0" lang="en-US" sz="3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」系列</a:t>
            </a:r>
            <a:endParaRPr/>
          </a:p>
          <a:p>
            <a:pPr indent="0" lvl="0" marL="0" marR="0" rtl="0" algn="l">
              <a:lnSpc>
                <a:spcPct val="186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主打設計感與時尚穿搭</a:t>
            </a:r>
            <a:endParaRPr/>
          </a:p>
        </p:txBody>
      </p:sp>
      <p:sp>
        <p:nvSpPr>
          <p:cNvPr id="782" name="Google Shape;782;p33"/>
          <p:cNvSpPr txBox="1"/>
          <p:nvPr/>
        </p:nvSpPr>
        <p:spPr>
          <a:xfrm>
            <a:off x="11242359" y="5714065"/>
            <a:ext cx="1963166" cy="548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CUSTOMIZE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4"/>
          <p:cNvSpPr txBox="1"/>
          <p:nvPr/>
        </p:nvSpPr>
        <p:spPr>
          <a:xfrm>
            <a:off x="3747776" y="4062024"/>
            <a:ext cx="13910727" cy="1839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81" u="none" cap="none" strike="noStrike">
                <a:solidFill>
                  <a:srgbClr val="173157"/>
                </a:solidFill>
                <a:latin typeface="Arial"/>
                <a:ea typeface="Arial"/>
                <a:cs typeface="Arial"/>
                <a:sym typeface="Arial"/>
              </a:rPr>
              <a:t>總結 ＆ 預期成效 </a:t>
            </a:r>
            <a:endParaRPr/>
          </a:p>
        </p:txBody>
      </p:sp>
      <p:sp>
        <p:nvSpPr>
          <p:cNvPr id="788" name="Google Shape;788;p34"/>
          <p:cNvSpPr/>
          <p:nvPr/>
        </p:nvSpPr>
        <p:spPr>
          <a:xfrm>
            <a:off x="1430600" y="1028700"/>
            <a:ext cx="3025142" cy="2563297"/>
          </a:xfrm>
          <a:custGeom>
            <a:rect b="b" l="l" r="r" t="t"/>
            <a:pathLst>
              <a:path extrusionOk="0" h="2563297" w="3025142">
                <a:moveTo>
                  <a:pt x="0" y="0"/>
                </a:moveTo>
                <a:lnTo>
                  <a:pt x="3025142" y="0"/>
                </a:lnTo>
                <a:lnTo>
                  <a:pt x="3025142" y="2563297"/>
                </a:lnTo>
                <a:lnTo>
                  <a:pt x="0" y="2563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006" l="0" r="0" t="-9006"/>
            </a:stretch>
          </a:blipFill>
          <a:ln>
            <a:noFill/>
          </a:ln>
        </p:spPr>
      </p:sp>
      <p:grpSp>
        <p:nvGrpSpPr>
          <p:cNvPr id="789" name="Google Shape;789;p34"/>
          <p:cNvGrpSpPr/>
          <p:nvPr/>
        </p:nvGrpSpPr>
        <p:grpSpPr>
          <a:xfrm>
            <a:off x="-685800" y="8201323"/>
            <a:ext cx="20659729" cy="1757064"/>
            <a:chOff x="0" y="-482203"/>
            <a:chExt cx="27546305" cy="2342753"/>
          </a:xfrm>
        </p:grpSpPr>
        <p:grpSp>
          <p:nvGrpSpPr>
            <p:cNvPr id="790" name="Google Shape;790;p34"/>
            <p:cNvGrpSpPr/>
            <p:nvPr/>
          </p:nvGrpSpPr>
          <p:grpSpPr>
            <a:xfrm>
              <a:off x="0" y="-482203"/>
              <a:ext cx="27546305" cy="1587103"/>
              <a:chOff x="0" y="-95250"/>
              <a:chExt cx="5441245" cy="313502"/>
            </a:xfrm>
          </p:grpSpPr>
          <p:sp>
            <p:nvSpPr>
              <p:cNvPr id="791" name="Google Shape;791;p34"/>
              <p:cNvSpPr/>
              <p:nvPr/>
            </p:nvSpPr>
            <p:spPr>
              <a:xfrm>
                <a:off x="0" y="0"/>
                <a:ext cx="5441245" cy="218252"/>
              </a:xfrm>
              <a:custGeom>
                <a:rect b="b" l="l" r="r" t="t"/>
                <a:pathLst>
                  <a:path extrusionOk="0" h="218252" w="5441245">
                    <a:moveTo>
                      <a:pt x="0" y="0"/>
                    </a:moveTo>
                    <a:lnTo>
                      <a:pt x="5441245" y="0"/>
                    </a:lnTo>
                    <a:lnTo>
                      <a:pt x="5441245" y="218252"/>
                    </a:lnTo>
                    <a:lnTo>
                      <a:pt x="0" y="218252"/>
                    </a:ln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</p:sp>
          <p:sp>
            <p:nvSpPr>
              <p:cNvPr id="792" name="Google Shape;792;p34"/>
              <p:cNvSpPr txBox="1"/>
              <p:nvPr/>
            </p:nvSpPr>
            <p:spPr>
              <a:xfrm>
                <a:off x="0" y="-95250"/>
                <a:ext cx="5441244" cy="313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0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3" name="Google Shape;793;p34"/>
            <p:cNvGrpSpPr/>
            <p:nvPr/>
          </p:nvGrpSpPr>
          <p:grpSpPr>
            <a:xfrm>
              <a:off x="0" y="1035445"/>
              <a:ext cx="27546305" cy="825105"/>
              <a:chOff x="0" y="-95250"/>
              <a:chExt cx="5441245" cy="162983"/>
            </a:xfrm>
          </p:grpSpPr>
          <p:sp>
            <p:nvSpPr>
              <p:cNvPr id="794" name="Google Shape;794;p34"/>
              <p:cNvSpPr/>
              <p:nvPr/>
            </p:nvSpPr>
            <p:spPr>
              <a:xfrm>
                <a:off x="0" y="0"/>
                <a:ext cx="5441245" cy="67733"/>
              </a:xfrm>
              <a:custGeom>
                <a:rect b="b" l="l" r="r" t="t"/>
                <a:pathLst>
                  <a:path extrusionOk="0" h="67733" w="5441245">
                    <a:moveTo>
                      <a:pt x="0" y="0"/>
                    </a:moveTo>
                    <a:lnTo>
                      <a:pt x="5441245" y="0"/>
                    </a:lnTo>
                    <a:lnTo>
                      <a:pt x="5441245" y="67733"/>
                    </a:lnTo>
                    <a:lnTo>
                      <a:pt x="0" y="67733"/>
                    </a:lnTo>
                    <a:close/>
                  </a:path>
                </a:pathLst>
              </a:custGeom>
              <a:solidFill>
                <a:srgbClr val="0C63AE"/>
              </a:solidFill>
              <a:ln>
                <a:noFill/>
              </a:ln>
            </p:spPr>
          </p:sp>
          <p:sp>
            <p:nvSpPr>
              <p:cNvPr id="795" name="Google Shape;795;p34"/>
              <p:cNvSpPr txBox="1"/>
              <p:nvPr/>
            </p:nvSpPr>
            <p:spPr>
              <a:xfrm>
                <a:off x="0" y="-95250"/>
                <a:ext cx="5441244" cy="162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0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96" name="Google Shape;796;p34"/>
          <p:cNvSpPr/>
          <p:nvPr/>
        </p:nvSpPr>
        <p:spPr>
          <a:xfrm>
            <a:off x="15705314" y="6680643"/>
            <a:ext cx="1953188" cy="1704156"/>
          </a:xfrm>
          <a:custGeom>
            <a:rect b="b" l="l" r="r" t="t"/>
            <a:pathLst>
              <a:path extrusionOk="0" h="1704156" w="1953188">
                <a:moveTo>
                  <a:pt x="0" y="0"/>
                </a:moveTo>
                <a:lnTo>
                  <a:pt x="1953188" y="0"/>
                </a:lnTo>
                <a:lnTo>
                  <a:pt x="1953188" y="1704157"/>
                </a:lnTo>
                <a:lnTo>
                  <a:pt x="0" y="17041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5"/>
          <p:cNvSpPr txBox="1"/>
          <p:nvPr/>
        </p:nvSpPr>
        <p:spPr>
          <a:xfrm>
            <a:off x="1028700" y="554"/>
            <a:ext cx="12657896" cy="1606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C63AE"/>
                </a:solidFill>
                <a:latin typeface="Arial"/>
                <a:ea typeface="Arial"/>
                <a:cs typeface="Arial"/>
                <a:sym typeface="Arial"/>
              </a:rPr>
              <a:t>目標：提升營收 ＆毛利</a:t>
            </a:r>
            <a:endParaRPr/>
          </a:p>
        </p:txBody>
      </p:sp>
      <p:grpSp>
        <p:nvGrpSpPr>
          <p:cNvPr id="802" name="Google Shape;802;p35"/>
          <p:cNvGrpSpPr/>
          <p:nvPr/>
        </p:nvGrpSpPr>
        <p:grpSpPr>
          <a:xfrm>
            <a:off x="-685800" y="9339558"/>
            <a:ext cx="20659729" cy="618829"/>
            <a:chOff x="0" y="-95250"/>
            <a:chExt cx="5441245" cy="162983"/>
          </a:xfrm>
        </p:grpSpPr>
        <p:sp>
          <p:nvSpPr>
            <p:cNvPr id="803" name="Google Shape;803;p35"/>
            <p:cNvSpPr/>
            <p:nvPr/>
          </p:nvSpPr>
          <p:spPr>
            <a:xfrm>
              <a:off x="0" y="0"/>
              <a:ext cx="5441245" cy="67733"/>
            </a:xfrm>
            <a:custGeom>
              <a:rect b="b" l="l" r="r" t="t"/>
              <a:pathLst>
                <a:path extrusionOk="0" h="67733" w="5441245">
                  <a:moveTo>
                    <a:pt x="0" y="0"/>
                  </a:moveTo>
                  <a:lnTo>
                    <a:pt x="5441245" y="0"/>
                  </a:lnTo>
                  <a:lnTo>
                    <a:pt x="5441245" y="67733"/>
                  </a:lnTo>
                  <a:lnTo>
                    <a:pt x="0" y="67733"/>
                  </a:lnTo>
                  <a:close/>
                </a:path>
              </a:pathLst>
            </a:custGeom>
            <a:solidFill>
              <a:srgbClr val="FFFABE"/>
            </a:solidFill>
            <a:ln>
              <a:noFill/>
            </a:ln>
          </p:spPr>
        </p:sp>
        <p:sp>
          <p:nvSpPr>
            <p:cNvPr id="804" name="Google Shape;804;p35"/>
            <p:cNvSpPr txBox="1"/>
            <p:nvPr/>
          </p:nvSpPr>
          <p:spPr>
            <a:xfrm>
              <a:off x="0" y="-95250"/>
              <a:ext cx="5441244" cy="162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0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5" name="Google Shape;805;p35"/>
          <p:cNvGrpSpPr/>
          <p:nvPr/>
        </p:nvGrpSpPr>
        <p:grpSpPr>
          <a:xfrm>
            <a:off x="1028700" y="1721701"/>
            <a:ext cx="3309861" cy="3744105"/>
            <a:chOff x="0" y="-95250"/>
            <a:chExt cx="871733" cy="986102"/>
          </a:xfrm>
        </p:grpSpPr>
        <p:sp>
          <p:nvSpPr>
            <p:cNvPr id="806" name="Google Shape;806;p35"/>
            <p:cNvSpPr/>
            <p:nvPr/>
          </p:nvSpPr>
          <p:spPr>
            <a:xfrm>
              <a:off x="0" y="0"/>
              <a:ext cx="871733" cy="890852"/>
            </a:xfrm>
            <a:custGeom>
              <a:rect b="b" l="l" r="r" t="t"/>
              <a:pathLst>
                <a:path extrusionOk="0" h="890852" w="871733">
                  <a:moveTo>
                    <a:pt x="39764" y="0"/>
                  </a:moveTo>
                  <a:lnTo>
                    <a:pt x="831969" y="0"/>
                  </a:lnTo>
                  <a:cubicBezTo>
                    <a:pt x="853930" y="0"/>
                    <a:pt x="871733" y="17803"/>
                    <a:pt x="871733" y="39764"/>
                  </a:cubicBezTo>
                  <a:lnTo>
                    <a:pt x="871733" y="851088"/>
                  </a:lnTo>
                  <a:cubicBezTo>
                    <a:pt x="871733" y="861634"/>
                    <a:pt x="867543" y="871748"/>
                    <a:pt x="860086" y="879205"/>
                  </a:cubicBezTo>
                  <a:cubicBezTo>
                    <a:pt x="852629" y="886663"/>
                    <a:pt x="842515" y="890852"/>
                    <a:pt x="831969" y="890852"/>
                  </a:cubicBezTo>
                  <a:lnTo>
                    <a:pt x="39764" y="890852"/>
                  </a:lnTo>
                  <a:cubicBezTo>
                    <a:pt x="17803" y="890852"/>
                    <a:pt x="0" y="873049"/>
                    <a:pt x="0" y="851088"/>
                  </a:cubicBezTo>
                  <a:lnTo>
                    <a:pt x="0" y="39764"/>
                  </a:lnTo>
                  <a:cubicBezTo>
                    <a:pt x="0" y="17803"/>
                    <a:pt x="17803" y="0"/>
                    <a:pt x="39764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5"/>
            <p:cNvSpPr txBox="1"/>
            <p:nvPr/>
          </p:nvSpPr>
          <p:spPr>
            <a:xfrm>
              <a:off x="0" y="-95250"/>
              <a:ext cx="871733" cy="986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0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8" name="Google Shape;808;p35"/>
          <p:cNvGrpSpPr/>
          <p:nvPr/>
        </p:nvGrpSpPr>
        <p:grpSpPr>
          <a:xfrm>
            <a:off x="1028700" y="5580404"/>
            <a:ext cx="3309861" cy="3492788"/>
            <a:chOff x="0" y="-95250"/>
            <a:chExt cx="871733" cy="919911"/>
          </a:xfrm>
        </p:grpSpPr>
        <p:sp>
          <p:nvSpPr>
            <p:cNvPr id="809" name="Google Shape;809;p35"/>
            <p:cNvSpPr/>
            <p:nvPr/>
          </p:nvSpPr>
          <p:spPr>
            <a:xfrm>
              <a:off x="0" y="0"/>
              <a:ext cx="871733" cy="824661"/>
            </a:xfrm>
            <a:custGeom>
              <a:rect b="b" l="l" r="r" t="t"/>
              <a:pathLst>
                <a:path extrusionOk="0" h="824661" w="871733">
                  <a:moveTo>
                    <a:pt x="39764" y="0"/>
                  </a:moveTo>
                  <a:lnTo>
                    <a:pt x="831969" y="0"/>
                  </a:lnTo>
                  <a:cubicBezTo>
                    <a:pt x="853930" y="0"/>
                    <a:pt x="871733" y="17803"/>
                    <a:pt x="871733" y="39764"/>
                  </a:cubicBezTo>
                  <a:lnTo>
                    <a:pt x="871733" y="784898"/>
                  </a:lnTo>
                  <a:cubicBezTo>
                    <a:pt x="871733" y="806859"/>
                    <a:pt x="853930" y="824661"/>
                    <a:pt x="831969" y="824661"/>
                  </a:cubicBezTo>
                  <a:lnTo>
                    <a:pt x="39764" y="824661"/>
                  </a:lnTo>
                  <a:cubicBezTo>
                    <a:pt x="17803" y="824661"/>
                    <a:pt x="0" y="806859"/>
                    <a:pt x="0" y="784898"/>
                  </a:cubicBezTo>
                  <a:lnTo>
                    <a:pt x="0" y="39764"/>
                  </a:lnTo>
                  <a:cubicBezTo>
                    <a:pt x="0" y="17803"/>
                    <a:pt x="17803" y="0"/>
                    <a:pt x="39764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5"/>
            <p:cNvSpPr txBox="1"/>
            <p:nvPr/>
          </p:nvSpPr>
          <p:spPr>
            <a:xfrm>
              <a:off x="0" y="-95250"/>
              <a:ext cx="871733" cy="919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0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1" name="Google Shape;811;p35"/>
          <p:cNvGrpSpPr/>
          <p:nvPr/>
        </p:nvGrpSpPr>
        <p:grpSpPr>
          <a:xfrm>
            <a:off x="4814801" y="1721701"/>
            <a:ext cx="6880848" cy="2001325"/>
            <a:chOff x="0" y="-95250"/>
            <a:chExt cx="1812240" cy="527098"/>
          </a:xfrm>
        </p:grpSpPr>
        <p:sp>
          <p:nvSpPr>
            <p:cNvPr id="812" name="Google Shape;812;p35"/>
            <p:cNvSpPr/>
            <p:nvPr/>
          </p:nvSpPr>
          <p:spPr>
            <a:xfrm>
              <a:off x="0" y="0"/>
              <a:ext cx="1812240" cy="431848"/>
            </a:xfrm>
            <a:custGeom>
              <a:rect b="b" l="l" r="r" t="t"/>
              <a:pathLst>
                <a:path extrusionOk="0" h="431848" w="1812240">
                  <a:moveTo>
                    <a:pt x="19127" y="0"/>
                  </a:moveTo>
                  <a:lnTo>
                    <a:pt x="1793113" y="0"/>
                  </a:lnTo>
                  <a:cubicBezTo>
                    <a:pt x="1798185" y="0"/>
                    <a:pt x="1803051" y="2015"/>
                    <a:pt x="1806638" y="5602"/>
                  </a:cubicBezTo>
                  <a:cubicBezTo>
                    <a:pt x="1810225" y="9189"/>
                    <a:pt x="1812240" y="14054"/>
                    <a:pt x="1812240" y="19127"/>
                  </a:cubicBezTo>
                  <a:lnTo>
                    <a:pt x="1812240" y="412721"/>
                  </a:lnTo>
                  <a:cubicBezTo>
                    <a:pt x="1812240" y="417794"/>
                    <a:pt x="1810225" y="422659"/>
                    <a:pt x="1806638" y="426246"/>
                  </a:cubicBezTo>
                  <a:cubicBezTo>
                    <a:pt x="1803051" y="429833"/>
                    <a:pt x="1798185" y="431848"/>
                    <a:pt x="1793113" y="431848"/>
                  </a:cubicBezTo>
                  <a:lnTo>
                    <a:pt x="19127" y="431848"/>
                  </a:lnTo>
                  <a:cubicBezTo>
                    <a:pt x="14054" y="431848"/>
                    <a:pt x="9189" y="429833"/>
                    <a:pt x="5602" y="426246"/>
                  </a:cubicBezTo>
                  <a:cubicBezTo>
                    <a:pt x="2015" y="422659"/>
                    <a:pt x="0" y="417794"/>
                    <a:pt x="0" y="412721"/>
                  </a:cubicBezTo>
                  <a:lnTo>
                    <a:pt x="0" y="19127"/>
                  </a:lnTo>
                  <a:cubicBezTo>
                    <a:pt x="0" y="14054"/>
                    <a:pt x="2015" y="9189"/>
                    <a:pt x="5602" y="5602"/>
                  </a:cubicBezTo>
                  <a:cubicBezTo>
                    <a:pt x="9189" y="2015"/>
                    <a:pt x="14054" y="0"/>
                    <a:pt x="19127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5"/>
            <p:cNvSpPr txBox="1"/>
            <p:nvPr/>
          </p:nvSpPr>
          <p:spPr>
            <a:xfrm>
              <a:off x="0" y="-95250"/>
              <a:ext cx="1812240" cy="5270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0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4" name="Google Shape;814;p35"/>
          <p:cNvGrpSpPr/>
          <p:nvPr/>
        </p:nvGrpSpPr>
        <p:grpSpPr>
          <a:xfrm>
            <a:off x="4814801" y="3650280"/>
            <a:ext cx="6880848" cy="1815527"/>
            <a:chOff x="0" y="-95250"/>
            <a:chExt cx="1812240" cy="478163"/>
          </a:xfrm>
        </p:grpSpPr>
        <p:sp>
          <p:nvSpPr>
            <p:cNvPr id="815" name="Google Shape;815;p35"/>
            <p:cNvSpPr/>
            <p:nvPr/>
          </p:nvSpPr>
          <p:spPr>
            <a:xfrm>
              <a:off x="0" y="0"/>
              <a:ext cx="1812240" cy="382913"/>
            </a:xfrm>
            <a:custGeom>
              <a:rect b="b" l="l" r="r" t="t"/>
              <a:pathLst>
                <a:path extrusionOk="0" h="382913" w="1812240">
                  <a:moveTo>
                    <a:pt x="19127" y="0"/>
                  </a:moveTo>
                  <a:lnTo>
                    <a:pt x="1793113" y="0"/>
                  </a:lnTo>
                  <a:cubicBezTo>
                    <a:pt x="1798185" y="0"/>
                    <a:pt x="1803051" y="2015"/>
                    <a:pt x="1806638" y="5602"/>
                  </a:cubicBezTo>
                  <a:cubicBezTo>
                    <a:pt x="1810225" y="9189"/>
                    <a:pt x="1812240" y="14054"/>
                    <a:pt x="1812240" y="19127"/>
                  </a:cubicBezTo>
                  <a:lnTo>
                    <a:pt x="1812240" y="363786"/>
                  </a:lnTo>
                  <a:cubicBezTo>
                    <a:pt x="1812240" y="368859"/>
                    <a:pt x="1810225" y="373724"/>
                    <a:pt x="1806638" y="377311"/>
                  </a:cubicBezTo>
                  <a:cubicBezTo>
                    <a:pt x="1803051" y="380898"/>
                    <a:pt x="1798185" y="382913"/>
                    <a:pt x="1793113" y="382913"/>
                  </a:cubicBezTo>
                  <a:lnTo>
                    <a:pt x="19127" y="382913"/>
                  </a:lnTo>
                  <a:cubicBezTo>
                    <a:pt x="14054" y="382913"/>
                    <a:pt x="9189" y="380898"/>
                    <a:pt x="5602" y="377311"/>
                  </a:cubicBezTo>
                  <a:cubicBezTo>
                    <a:pt x="2015" y="373724"/>
                    <a:pt x="0" y="368859"/>
                    <a:pt x="0" y="363786"/>
                  </a:cubicBezTo>
                  <a:lnTo>
                    <a:pt x="0" y="19127"/>
                  </a:lnTo>
                  <a:cubicBezTo>
                    <a:pt x="0" y="14054"/>
                    <a:pt x="2015" y="9189"/>
                    <a:pt x="5602" y="5602"/>
                  </a:cubicBezTo>
                  <a:cubicBezTo>
                    <a:pt x="9189" y="2015"/>
                    <a:pt x="14054" y="0"/>
                    <a:pt x="19127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5"/>
            <p:cNvSpPr txBox="1"/>
            <p:nvPr/>
          </p:nvSpPr>
          <p:spPr>
            <a:xfrm>
              <a:off x="0" y="-95250"/>
              <a:ext cx="1812240" cy="478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0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7" name="Google Shape;817;p35"/>
          <p:cNvGrpSpPr/>
          <p:nvPr/>
        </p:nvGrpSpPr>
        <p:grpSpPr>
          <a:xfrm>
            <a:off x="4814801" y="7257666"/>
            <a:ext cx="6880848" cy="1815527"/>
            <a:chOff x="0" y="-95250"/>
            <a:chExt cx="1812240" cy="478163"/>
          </a:xfrm>
        </p:grpSpPr>
        <p:sp>
          <p:nvSpPr>
            <p:cNvPr id="818" name="Google Shape;818;p35"/>
            <p:cNvSpPr/>
            <p:nvPr/>
          </p:nvSpPr>
          <p:spPr>
            <a:xfrm>
              <a:off x="0" y="0"/>
              <a:ext cx="1812240" cy="382913"/>
            </a:xfrm>
            <a:custGeom>
              <a:rect b="b" l="l" r="r" t="t"/>
              <a:pathLst>
                <a:path extrusionOk="0" h="382913" w="1812240">
                  <a:moveTo>
                    <a:pt x="19127" y="0"/>
                  </a:moveTo>
                  <a:lnTo>
                    <a:pt x="1793113" y="0"/>
                  </a:lnTo>
                  <a:cubicBezTo>
                    <a:pt x="1798185" y="0"/>
                    <a:pt x="1803051" y="2015"/>
                    <a:pt x="1806638" y="5602"/>
                  </a:cubicBezTo>
                  <a:cubicBezTo>
                    <a:pt x="1810225" y="9189"/>
                    <a:pt x="1812240" y="14054"/>
                    <a:pt x="1812240" y="19127"/>
                  </a:cubicBezTo>
                  <a:lnTo>
                    <a:pt x="1812240" y="363786"/>
                  </a:lnTo>
                  <a:cubicBezTo>
                    <a:pt x="1812240" y="368859"/>
                    <a:pt x="1810225" y="373724"/>
                    <a:pt x="1806638" y="377311"/>
                  </a:cubicBezTo>
                  <a:cubicBezTo>
                    <a:pt x="1803051" y="380898"/>
                    <a:pt x="1798185" y="382913"/>
                    <a:pt x="1793113" y="382913"/>
                  </a:cubicBezTo>
                  <a:lnTo>
                    <a:pt x="19127" y="382913"/>
                  </a:lnTo>
                  <a:cubicBezTo>
                    <a:pt x="14054" y="382913"/>
                    <a:pt x="9189" y="380898"/>
                    <a:pt x="5602" y="377311"/>
                  </a:cubicBezTo>
                  <a:cubicBezTo>
                    <a:pt x="2015" y="373724"/>
                    <a:pt x="0" y="368859"/>
                    <a:pt x="0" y="363786"/>
                  </a:cubicBezTo>
                  <a:lnTo>
                    <a:pt x="0" y="19127"/>
                  </a:lnTo>
                  <a:cubicBezTo>
                    <a:pt x="0" y="14054"/>
                    <a:pt x="2015" y="9189"/>
                    <a:pt x="5602" y="5602"/>
                  </a:cubicBezTo>
                  <a:cubicBezTo>
                    <a:pt x="9189" y="2015"/>
                    <a:pt x="14054" y="0"/>
                    <a:pt x="19127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5"/>
            <p:cNvSpPr txBox="1"/>
            <p:nvPr/>
          </p:nvSpPr>
          <p:spPr>
            <a:xfrm>
              <a:off x="0" y="-95250"/>
              <a:ext cx="1812240" cy="478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0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0" name="Google Shape;820;p35"/>
          <p:cNvGrpSpPr/>
          <p:nvPr/>
        </p:nvGrpSpPr>
        <p:grpSpPr>
          <a:xfrm>
            <a:off x="4814801" y="5565584"/>
            <a:ext cx="6880848" cy="1815527"/>
            <a:chOff x="0" y="-95250"/>
            <a:chExt cx="1812240" cy="478163"/>
          </a:xfrm>
        </p:grpSpPr>
        <p:sp>
          <p:nvSpPr>
            <p:cNvPr id="821" name="Google Shape;821;p35"/>
            <p:cNvSpPr/>
            <p:nvPr/>
          </p:nvSpPr>
          <p:spPr>
            <a:xfrm>
              <a:off x="0" y="0"/>
              <a:ext cx="1812240" cy="382913"/>
            </a:xfrm>
            <a:custGeom>
              <a:rect b="b" l="l" r="r" t="t"/>
              <a:pathLst>
                <a:path extrusionOk="0" h="382913" w="1812240">
                  <a:moveTo>
                    <a:pt x="19127" y="0"/>
                  </a:moveTo>
                  <a:lnTo>
                    <a:pt x="1793113" y="0"/>
                  </a:lnTo>
                  <a:cubicBezTo>
                    <a:pt x="1798185" y="0"/>
                    <a:pt x="1803051" y="2015"/>
                    <a:pt x="1806638" y="5602"/>
                  </a:cubicBezTo>
                  <a:cubicBezTo>
                    <a:pt x="1810225" y="9189"/>
                    <a:pt x="1812240" y="14054"/>
                    <a:pt x="1812240" y="19127"/>
                  </a:cubicBezTo>
                  <a:lnTo>
                    <a:pt x="1812240" y="363786"/>
                  </a:lnTo>
                  <a:cubicBezTo>
                    <a:pt x="1812240" y="368859"/>
                    <a:pt x="1810225" y="373724"/>
                    <a:pt x="1806638" y="377311"/>
                  </a:cubicBezTo>
                  <a:cubicBezTo>
                    <a:pt x="1803051" y="380898"/>
                    <a:pt x="1798185" y="382913"/>
                    <a:pt x="1793113" y="382913"/>
                  </a:cubicBezTo>
                  <a:lnTo>
                    <a:pt x="19127" y="382913"/>
                  </a:lnTo>
                  <a:cubicBezTo>
                    <a:pt x="14054" y="382913"/>
                    <a:pt x="9189" y="380898"/>
                    <a:pt x="5602" y="377311"/>
                  </a:cubicBezTo>
                  <a:cubicBezTo>
                    <a:pt x="2015" y="373724"/>
                    <a:pt x="0" y="368859"/>
                    <a:pt x="0" y="363786"/>
                  </a:cubicBezTo>
                  <a:lnTo>
                    <a:pt x="0" y="19127"/>
                  </a:lnTo>
                  <a:cubicBezTo>
                    <a:pt x="0" y="14054"/>
                    <a:pt x="2015" y="9189"/>
                    <a:pt x="5602" y="5602"/>
                  </a:cubicBezTo>
                  <a:cubicBezTo>
                    <a:pt x="9189" y="2015"/>
                    <a:pt x="14054" y="0"/>
                    <a:pt x="19127" y="0"/>
                  </a:cubicBezTo>
                  <a:close/>
                </a:path>
              </a:pathLst>
            </a:custGeom>
            <a:solidFill>
              <a:srgbClr val="EBE3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5"/>
            <p:cNvSpPr txBox="1"/>
            <p:nvPr/>
          </p:nvSpPr>
          <p:spPr>
            <a:xfrm>
              <a:off x="0" y="-95250"/>
              <a:ext cx="1812240" cy="478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0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3" name="Google Shape;823;p35"/>
          <p:cNvSpPr txBox="1"/>
          <p:nvPr/>
        </p:nvSpPr>
        <p:spPr>
          <a:xfrm>
            <a:off x="13228649" y="1529980"/>
            <a:ext cx="5956614" cy="34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99" u="none" cap="none" strike="noStrike">
                <a:solidFill>
                  <a:srgbClr val="FF4141"/>
                </a:solidFill>
                <a:latin typeface="Arial"/>
                <a:ea typeface="Arial"/>
                <a:cs typeface="Arial"/>
                <a:sym typeface="Arial"/>
              </a:rPr>
              <a:t>3 %</a:t>
            </a:r>
            <a:endParaRPr/>
          </a:p>
        </p:txBody>
      </p:sp>
      <p:sp>
        <p:nvSpPr>
          <p:cNvPr id="824" name="Google Shape;824;p35"/>
          <p:cNvSpPr txBox="1"/>
          <p:nvPr/>
        </p:nvSpPr>
        <p:spPr>
          <a:xfrm>
            <a:off x="1915023" y="3308626"/>
            <a:ext cx="2734753" cy="970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營收</a:t>
            </a:r>
            <a:endParaRPr/>
          </a:p>
        </p:txBody>
      </p:sp>
      <p:sp>
        <p:nvSpPr>
          <p:cNvPr id="825" name="Google Shape;825;p35"/>
          <p:cNvSpPr txBox="1"/>
          <p:nvPr/>
        </p:nvSpPr>
        <p:spPr>
          <a:xfrm>
            <a:off x="1915023" y="7066322"/>
            <a:ext cx="2734753" cy="970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毛利</a:t>
            </a:r>
            <a:endParaRPr/>
          </a:p>
        </p:txBody>
      </p:sp>
      <p:sp>
        <p:nvSpPr>
          <p:cNvPr id="826" name="Google Shape;826;p35"/>
          <p:cNvSpPr txBox="1"/>
          <p:nvPr/>
        </p:nvSpPr>
        <p:spPr>
          <a:xfrm>
            <a:off x="12419549" y="5646716"/>
            <a:ext cx="6765713" cy="3266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413" u="none" cap="none" strike="noStrike">
                <a:solidFill>
                  <a:srgbClr val="FF4141"/>
                </a:solidFill>
                <a:latin typeface="Arial"/>
                <a:ea typeface="Arial"/>
                <a:cs typeface="Arial"/>
                <a:sym typeface="Arial"/>
              </a:rPr>
              <a:t>1.2 %</a:t>
            </a:r>
            <a:endParaRPr/>
          </a:p>
        </p:txBody>
      </p:sp>
      <p:sp>
        <p:nvSpPr>
          <p:cNvPr id="827" name="Google Shape;827;p35"/>
          <p:cNvSpPr txBox="1"/>
          <p:nvPr/>
        </p:nvSpPr>
        <p:spPr>
          <a:xfrm>
            <a:off x="5627973" y="2449403"/>
            <a:ext cx="4776722" cy="736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拓展零食餅乾類的品項</a:t>
            </a:r>
            <a:endParaRPr/>
          </a:p>
        </p:txBody>
      </p:sp>
      <p:sp>
        <p:nvSpPr>
          <p:cNvPr id="828" name="Google Shape;828;p35"/>
          <p:cNvSpPr txBox="1"/>
          <p:nvPr/>
        </p:nvSpPr>
        <p:spPr>
          <a:xfrm>
            <a:off x="5608923" y="4304133"/>
            <a:ext cx="5254503" cy="736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促銷電子產品、汰舊換新</a:t>
            </a:r>
            <a:endParaRPr/>
          </a:p>
        </p:txBody>
      </p:sp>
      <p:sp>
        <p:nvSpPr>
          <p:cNvPr id="829" name="Google Shape;829;p35"/>
          <p:cNvSpPr txBox="1"/>
          <p:nvPr/>
        </p:nvSpPr>
        <p:spPr>
          <a:xfrm>
            <a:off x="5372790" y="7865075"/>
            <a:ext cx="5254503" cy="736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購買金飾，搭配抽獎活動</a:t>
            </a:r>
            <a:endParaRPr/>
          </a:p>
        </p:txBody>
      </p:sp>
      <p:sp>
        <p:nvSpPr>
          <p:cNvPr id="830" name="Google Shape;830;p35"/>
          <p:cNvSpPr txBox="1"/>
          <p:nvPr/>
        </p:nvSpPr>
        <p:spPr>
          <a:xfrm>
            <a:off x="5372790" y="6200387"/>
            <a:ext cx="5254503" cy="736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推出日常用品的自有品牌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36"/>
          <p:cNvSpPr/>
          <p:nvPr/>
        </p:nvSpPr>
        <p:spPr>
          <a:xfrm>
            <a:off x="0" y="-628650"/>
            <a:ext cx="18610756" cy="10915650"/>
          </a:xfrm>
          <a:custGeom>
            <a:rect b="b" l="l" r="r" t="t"/>
            <a:pathLst>
              <a:path extrusionOk="0" h="10915650" w="18610756">
                <a:moveTo>
                  <a:pt x="0" y="0"/>
                </a:moveTo>
                <a:lnTo>
                  <a:pt x="18610756" y="0"/>
                </a:lnTo>
                <a:lnTo>
                  <a:pt x="18610756" y="10915650"/>
                </a:lnTo>
                <a:lnTo>
                  <a:pt x="0" y="10915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3592" l="0" r="0" t="0"/>
            </a:stretch>
          </a:blipFill>
          <a:ln>
            <a:noFill/>
          </a:ln>
        </p:spPr>
      </p:sp>
      <p:sp>
        <p:nvSpPr>
          <p:cNvPr id="836" name="Google Shape;836;p36"/>
          <p:cNvSpPr txBox="1"/>
          <p:nvPr/>
        </p:nvSpPr>
        <p:spPr>
          <a:xfrm>
            <a:off x="9175290" y="8578850"/>
            <a:ext cx="8498491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 Tony’sCo —Where savings flow.”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